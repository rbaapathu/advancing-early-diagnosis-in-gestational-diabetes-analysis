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Override PartName="/ppt/media/image2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ptos"/>
          <a:ea typeface="Aptos"/>
          <a:cs typeface="Apto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ptos"/>
          <a:ea typeface="Aptos"/>
          <a:cs typeface="Apto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a:ea typeface="Aptos"/>
          <a:cs typeface="Apto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a:ea typeface="Aptos"/>
          <a:cs typeface="Apto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5" name="Shape 115"/>
          <p:cNvSpPr/>
          <p:nvPr>
            <p:ph type="sldImg"/>
          </p:nvPr>
        </p:nvSpPr>
        <p:spPr>
          <a:xfrm>
            <a:off x="1143000" y="685800"/>
            <a:ext cx="4572000" cy="3429000"/>
          </a:xfrm>
          <a:prstGeom prst="rect">
            <a:avLst/>
          </a:prstGeom>
        </p:spPr>
        <p:txBody>
          <a:bodyPr/>
          <a:lstStyle/>
          <a:p>
            <a:pPr/>
          </a:p>
        </p:txBody>
      </p:sp>
      <p:sp>
        <p:nvSpPr>
          <p:cNvPr id="116" name="Shape 11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0">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sz="quarter" idx="1"/>
          </p:nvPr>
        </p:nvSpPr>
        <p:spPr>
          <a:xfrm>
            <a:off x="5416803" y="1084770"/>
            <a:ext cx="5152392" cy="143764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0">
    <p:spTree>
      <p:nvGrpSpPr>
        <p:cNvPr id="1" name=""/>
        <p:cNvGrpSpPr/>
        <p:nvPr/>
      </p:nvGrpSpPr>
      <p:grpSpPr>
        <a:xfrm>
          <a:off x="0" y="0"/>
          <a:ext cx="0" cy="0"/>
          <a:chOff x="0" y="0"/>
          <a:chExt cx="0" cy="0"/>
        </a:xfrm>
      </p:grpSpPr>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0">
    <p:spTree>
      <p:nvGrpSpPr>
        <p:cNvPr id="1" name=""/>
        <p:cNvGrpSpPr/>
        <p:nvPr/>
      </p:nvGrpSpPr>
      <p:grpSpPr>
        <a:xfrm>
          <a:off x="0" y="0"/>
          <a:ext cx="0" cy="0"/>
          <a:chOff x="0" y="0"/>
          <a:chExt cx="0" cy="0"/>
        </a:xfrm>
      </p:grpSpPr>
      <p:sp>
        <p:nvSpPr>
          <p:cNvPr id="108" name="Title Text"/>
          <p:cNvSpPr txBox="1"/>
          <p:nvPr>
            <p:ph type="title"/>
          </p:nvPr>
        </p:nvSpPr>
        <p:spPr>
          <a:prstGeom prst="rect">
            <a:avLst/>
          </a:prstGeom>
        </p:spPr>
        <p:txBody>
          <a:bodyPr/>
          <a:lstStyle/>
          <a:p>
            <a:pPr/>
            <a:r>
              <a:t>Title Text</a:t>
            </a:r>
          </a:p>
        </p:txBody>
      </p:sp>
      <p:sp>
        <p:nvSpPr>
          <p:cNvPr id="1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Aptos"/>
          <a:ea typeface="Aptos"/>
          <a:cs typeface="Apto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hyperlink" Target="https://www.kaggle.com/datasets/akshaydattatraykhare/diabetes-dataset"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image" Target="../media/image4.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jpeg"/><Relationship Id="rId3" Type="http://schemas.openxmlformats.org/officeDocument/2006/relationships/image" Target="../media/image7.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jpeg"/><Relationship Id="rId3" Type="http://schemas.openxmlformats.org/officeDocument/2006/relationships/image" Target="../media/image9.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image" Target="../media/image10.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2.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jpeg"/><Relationship Id="rId3" Type="http://schemas.openxmlformats.org/officeDocument/2006/relationships/image" Target="../media/image14.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5.jpe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jpe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7.jpeg"/><Relationship Id="rId3" Type="http://schemas.openxmlformats.org/officeDocument/2006/relationships/image" Target="../media/image18.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9.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png"/><Relationship Id="rId3" Type="http://schemas.openxmlformats.org/officeDocument/2006/relationships/image" Target="../media/image20.jpeg"/><Relationship Id="rId4" Type="http://schemas.openxmlformats.org/officeDocument/2006/relationships/image" Target="../media/image21.jpe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jpe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3.jpeg"/><Relationship Id="rId3" Type="http://schemas.openxmlformats.org/officeDocument/2006/relationships/image" Target="../media/image24.jpe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hyperlink" Target="https://www.kaggle.com/datasets/akshaydattatraykhare/diabetes-dataset" TargetMode="Externa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5.jpe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object 2"/>
          <p:cNvSpPr/>
          <p:nvPr/>
        </p:nvSpPr>
        <p:spPr>
          <a:xfrm>
            <a:off x="-25400" y="-482600"/>
            <a:ext cx="12192000" cy="6858000"/>
          </a:xfrm>
          <a:prstGeom prst="rect">
            <a:avLst/>
          </a:prstGeom>
          <a:solidFill>
            <a:srgbClr val="000000"/>
          </a:solidFill>
          <a:ln w="12700">
            <a:miter lim="400000"/>
          </a:ln>
        </p:spPr>
        <p:txBody>
          <a:bodyPr lIns="45719" rIns="45719"/>
          <a:lstStyle/>
          <a:p>
            <a:pPr/>
          </a:p>
        </p:txBody>
      </p:sp>
      <p:sp>
        <p:nvSpPr>
          <p:cNvPr id="119" name="object 3"/>
          <p:cNvSpPr/>
          <p:nvPr/>
        </p:nvSpPr>
        <p:spPr>
          <a:xfrm>
            <a:off x="762000" y="770467"/>
            <a:ext cx="10668000" cy="5334001"/>
          </a:xfrm>
          <a:prstGeom prst="rect">
            <a:avLst/>
          </a:prstGeom>
          <a:solidFill>
            <a:srgbClr val="FFFFFF"/>
          </a:solidFill>
          <a:ln w="12700">
            <a:miter lim="400000"/>
          </a:ln>
        </p:spPr>
        <p:txBody>
          <a:bodyPr lIns="45719" rIns="45719"/>
          <a:lstStyle/>
          <a:p>
            <a:pPr/>
          </a:p>
        </p:txBody>
      </p:sp>
      <p:sp>
        <p:nvSpPr>
          <p:cNvPr id="120" name="object 4"/>
          <p:cNvSpPr txBox="1"/>
          <p:nvPr>
            <p:ph type="title"/>
          </p:nvPr>
        </p:nvSpPr>
        <p:spPr>
          <a:xfrm>
            <a:off x="1446672" y="1068300"/>
            <a:ext cx="9662315" cy="3075745"/>
          </a:xfrm>
          <a:prstGeom prst="rect">
            <a:avLst/>
          </a:prstGeom>
        </p:spPr>
        <p:txBody>
          <a:bodyPr/>
          <a:lstStyle/>
          <a:p>
            <a:pPr indent="12700" algn="ctr">
              <a:spcBef>
                <a:spcPts val="100"/>
              </a:spcBef>
              <a:defRPr spc="-200" sz="4000">
                <a:latin typeface="Times New Roman"/>
                <a:ea typeface="Times New Roman"/>
                <a:cs typeface="Times New Roman"/>
                <a:sym typeface="Times New Roman"/>
              </a:defRPr>
            </a:pPr>
            <a:r>
              <a:t>Advancing</a:t>
            </a:r>
            <a:r>
              <a:rPr spc="-500"/>
              <a:t> </a:t>
            </a:r>
            <a:r>
              <a:t>Early</a:t>
            </a:r>
            <a:r>
              <a:rPr spc="-500"/>
              <a:t> </a:t>
            </a:r>
            <a:r>
              <a:t>Diagnosis</a:t>
            </a:r>
            <a:r>
              <a:rPr spc="-400"/>
              <a:t> </a:t>
            </a:r>
            <a:r>
              <a:rPr spc="-100"/>
              <a:t>of</a:t>
            </a:r>
            <a:r>
              <a:rPr spc="-400"/>
              <a:t> </a:t>
            </a:r>
            <a:r>
              <a:t>Gestational</a:t>
            </a:r>
            <a:r>
              <a:rPr spc="-300"/>
              <a:t> </a:t>
            </a:r>
            <a:r>
              <a:t>Diabetes</a:t>
            </a:r>
            <a:br/>
            <a:br/>
            <a:br/>
          </a:p>
        </p:txBody>
      </p:sp>
      <p:sp>
        <p:nvSpPr>
          <p:cNvPr id="121" name="object 6"/>
          <p:cNvSpPr txBox="1"/>
          <p:nvPr/>
        </p:nvSpPr>
        <p:spPr>
          <a:xfrm>
            <a:off x="2506131" y="4892928"/>
            <a:ext cx="7255935" cy="14751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lgn="ctr">
              <a:spcBef>
                <a:spcPts val="100"/>
              </a:spcBef>
              <a:defRPr b="1" sz="1600">
                <a:latin typeface="Times New Roman"/>
                <a:ea typeface="Times New Roman"/>
                <a:cs typeface="Times New Roman"/>
                <a:sym typeface="Times New Roman"/>
              </a:defRPr>
            </a:pPr>
            <a:r>
              <a:t>Presenting By: </a:t>
            </a:r>
            <a:r>
              <a:rPr i="1"/>
              <a:t>Surekha</a:t>
            </a:r>
            <a:r>
              <a:rPr i="1" spc="135"/>
              <a:t> </a:t>
            </a:r>
            <a:r>
              <a:rPr i="1"/>
              <a:t>Dhulipalla,</a:t>
            </a:r>
            <a:r>
              <a:rPr i="1" spc="60"/>
              <a:t> </a:t>
            </a:r>
            <a:r>
              <a:rPr i="1"/>
              <a:t>Veena</a:t>
            </a:r>
            <a:r>
              <a:rPr i="1" spc="135"/>
              <a:t> </a:t>
            </a:r>
            <a:r>
              <a:rPr i="1"/>
              <a:t>Chebrolu,</a:t>
            </a:r>
            <a:r>
              <a:rPr i="1" spc="60"/>
              <a:t> </a:t>
            </a:r>
            <a:r>
              <a:rPr i="1"/>
              <a:t>Ramya</a:t>
            </a:r>
            <a:r>
              <a:rPr i="1" spc="130"/>
              <a:t> </a:t>
            </a:r>
            <a:r>
              <a:rPr i="1"/>
              <a:t>reddy</a:t>
            </a:r>
            <a:r>
              <a:rPr i="1" spc="135"/>
              <a:t> </a:t>
            </a:r>
            <a:r>
              <a:rPr i="1"/>
              <a:t>baapathu,</a:t>
            </a:r>
            <a:r>
              <a:rPr i="1" spc="60"/>
              <a:t> </a:t>
            </a:r>
            <a:r>
              <a:rPr i="1"/>
              <a:t>Swaikshya</a:t>
            </a:r>
            <a:r>
              <a:rPr i="1" spc="130"/>
              <a:t> </a:t>
            </a:r>
            <a:r>
              <a:rPr i="1" spc="-10"/>
              <a:t>Nepal, </a:t>
            </a:r>
            <a:r>
              <a:rPr i="1"/>
              <a:t>Neha</a:t>
            </a:r>
            <a:r>
              <a:rPr i="1" spc="80"/>
              <a:t> </a:t>
            </a:r>
            <a:r>
              <a:rPr i="1"/>
              <a:t>Sri</a:t>
            </a:r>
            <a:r>
              <a:rPr i="1" spc="55"/>
              <a:t> </a:t>
            </a:r>
            <a:r>
              <a:rPr i="1" spc="-10"/>
              <a:t>Tella</a:t>
            </a:r>
            <a:endParaRPr sz="2700"/>
          </a:p>
          <a:p>
            <a:pPr indent="12700" algn="ctr">
              <a:spcBef>
                <a:spcPts val="100"/>
              </a:spcBef>
              <a:defRPr b="1" sz="2800">
                <a:latin typeface="Times New Roman"/>
                <a:ea typeface="Times New Roman"/>
                <a:cs typeface="Times New Roman"/>
                <a:sym typeface="Times New Roman"/>
              </a:defRPr>
            </a:pPr>
            <a:r>
              <a:t>Saint</a:t>
            </a:r>
            <a:r>
              <a:rPr spc="90"/>
              <a:t> </a:t>
            </a:r>
            <a:r>
              <a:t>Louis</a:t>
            </a:r>
            <a:r>
              <a:rPr spc="90"/>
              <a:t> </a:t>
            </a:r>
            <a:r>
              <a:rPr spc="-10"/>
              <a:t>University</a:t>
            </a:r>
            <a:endParaRPr spc="-10"/>
          </a:p>
          <a:p>
            <a:pPr indent="12700" algn="ctr">
              <a:spcBef>
                <a:spcPts val="100"/>
              </a:spcBef>
              <a:defRPr b="1" spc="-9" sz="2000">
                <a:latin typeface="Times New Roman"/>
                <a:ea typeface="Times New Roman"/>
                <a:cs typeface="Times New Roman"/>
                <a:sym typeface="Times New Roman"/>
              </a:defRPr>
            </a:pPr>
          </a:p>
        </p:txBody>
      </p:sp>
      <p:pic>
        <p:nvPicPr>
          <p:cNvPr id="122" name="Picture 4" descr="Picture 4"/>
          <p:cNvPicPr>
            <a:picLocks noChangeAspect="1"/>
          </p:cNvPicPr>
          <p:nvPr/>
        </p:nvPicPr>
        <p:blipFill>
          <a:blip r:embed="rId2">
            <a:extLst/>
          </a:blip>
          <a:stretch>
            <a:fillRect/>
          </a:stretch>
        </p:blipFill>
        <p:spPr>
          <a:xfrm>
            <a:off x="4809066" y="2664267"/>
            <a:ext cx="2447768" cy="2110933"/>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object 2"/>
          <p:cNvSpPr txBox="1"/>
          <p:nvPr>
            <p:ph type="title"/>
          </p:nvPr>
        </p:nvSpPr>
        <p:spPr>
          <a:xfrm>
            <a:off x="0" y="325368"/>
            <a:ext cx="5821680" cy="1036071"/>
          </a:xfrm>
          <a:prstGeom prst="rect">
            <a:avLst/>
          </a:prstGeom>
        </p:spPr>
        <p:txBody>
          <a:bodyPr anchor="b"/>
          <a:lstStyle/>
          <a:p>
            <a:pPr indent="698219">
              <a:defRPr spc="-100" sz="3200">
                <a:latin typeface="Times New Roman"/>
                <a:ea typeface="Times New Roman"/>
                <a:cs typeface="Times New Roman"/>
                <a:sym typeface="Times New Roman"/>
              </a:defRPr>
            </a:pPr>
            <a:r>
              <a:t>Table</a:t>
            </a:r>
            <a:r>
              <a:rPr spc="-200"/>
              <a:t> </a:t>
            </a:r>
            <a:r>
              <a:rPr spc="0"/>
              <a:t>of</a:t>
            </a:r>
            <a:r>
              <a:t> contents</a:t>
            </a:r>
          </a:p>
        </p:txBody>
      </p:sp>
      <p:sp>
        <p:nvSpPr>
          <p:cNvPr id="125" name="object 3"/>
          <p:cNvSpPr txBox="1"/>
          <p:nvPr/>
        </p:nvSpPr>
        <p:spPr>
          <a:xfrm>
            <a:off x="685799" y="1608666"/>
            <a:ext cx="4152151" cy="460717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29565" indent="-228600">
              <a:lnSpc>
                <a:spcPct val="90000"/>
              </a:lnSpc>
              <a:spcBef>
                <a:spcPts val="800"/>
              </a:spcBef>
              <a:buSzPct val="94230"/>
              <a:buFont typeface="Arial"/>
              <a:buChar char="•"/>
              <a:tabLst>
                <a:tab pos="317500" algn="l"/>
              </a:tabLst>
              <a:defRPr spc="-6" sz="2000">
                <a:latin typeface="Times New Roman"/>
                <a:ea typeface="Times New Roman"/>
                <a:cs typeface="Times New Roman"/>
                <a:sym typeface="Times New Roman"/>
              </a:defRPr>
            </a:pPr>
            <a:r>
              <a:t>Introduction</a:t>
            </a:r>
            <a:endParaRPr spc="-6"/>
          </a:p>
          <a:p>
            <a:pPr marL="329565" indent="-228600">
              <a:lnSpc>
                <a:spcPct val="90000"/>
              </a:lnSpc>
              <a:spcBef>
                <a:spcPts val="700"/>
              </a:spcBef>
              <a:buSzPct val="94230"/>
              <a:buFont typeface="Arial"/>
              <a:buChar char="•"/>
              <a:tabLst>
                <a:tab pos="317500" algn="l"/>
              </a:tabLst>
              <a:defRPr sz="2000">
                <a:latin typeface="Times New Roman"/>
                <a:ea typeface="Times New Roman"/>
                <a:cs typeface="Times New Roman"/>
                <a:sym typeface="Times New Roman"/>
              </a:defRPr>
            </a:pPr>
            <a:r>
              <a:t>Data</a:t>
            </a:r>
            <a:r>
              <a:rPr spc="-24"/>
              <a:t> </a:t>
            </a:r>
            <a:r>
              <a:rPr spc="-6"/>
              <a:t>Description</a:t>
            </a:r>
          </a:p>
          <a:p>
            <a:pPr marL="330199" indent="-228600">
              <a:lnSpc>
                <a:spcPct val="90000"/>
              </a:lnSpc>
              <a:spcBef>
                <a:spcPts val="700"/>
              </a:spcBef>
              <a:buSzPct val="96153"/>
              <a:buFont typeface="Arial"/>
              <a:buChar char="•"/>
              <a:tabLst>
                <a:tab pos="330200" algn="l"/>
              </a:tabLst>
              <a:defRPr spc="-6" sz="2000">
                <a:latin typeface="Times New Roman"/>
                <a:ea typeface="Times New Roman"/>
                <a:cs typeface="Times New Roman"/>
                <a:sym typeface="Times New Roman"/>
              </a:defRPr>
            </a:pPr>
            <a:r>
              <a:t>Data</a:t>
            </a:r>
            <a:r>
              <a:rPr spc="-96"/>
              <a:t> </a:t>
            </a:r>
            <a:r>
              <a:t>Attributes</a:t>
            </a:r>
            <a:endParaRPr spc="-6"/>
          </a:p>
          <a:p>
            <a:pPr marL="330199" indent="-228600">
              <a:lnSpc>
                <a:spcPct val="90000"/>
              </a:lnSpc>
              <a:spcBef>
                <a:spcPts val="700"/>
              </a:spcBef>
              <a:buSzPct val="96153"/>
              <a:buFont typeface="Arial"/>
              <a:buChar char="•"/>
              <a:tabLst>
                <a:tab pos="330200" algn="l"/>
              </a:tabLst>
              <a:defRPr spc="-6" sz="2000">
                <a:latin typeface="Times New Roman"/>
                <a:ea typeface="Times New Roman"/>
                <a:cs typeface="Times New Roman"/>
                <a:sym typeface="Times New Roman"/>
              </a:defRPr>
            </a:pPr>
            <a:r>
              <a:t>Select</a:t>
            </a:r>
            <a:r>
              <a:rPr spc="-48"/>
              <a:t> </a:t>
            </a:r>
            <a:r>
              <a:t>the</a:t>
            </a:r>
            <a:r>
              <a:rPr spc="-31"/>
              <a:t> </a:t>
            </a:r>
            <a:r>
              <a:t>features.</a:t>
            </a:r>
            <a:endParaRPr spc="-6"/>
          </a:p>
          <a:p>
            <a:pPr marL="330199" indent="-228600">
              <a:lnSpc>
                <a:spcPct val="90000"/>
              </a:lnSpc>
              <a:spcBef>
                <a:spcPts val="700"/>
              </a:spcBef>
              <a:buSzPct val="96153"/>
              <a:buFont typeface="Arial"/>
              <a:buChar char="•"/>
              <a:tabLst>
                <a:tab pos="330200" algn="l"/>
              </a:tabLst>
              <a:defRPr spc="-6" sz="2000">
                <a:latin typeface="Times New Roman"/>
                <a:ea typeface="Times New Roman"/>
                <a:cs typeface="Times New Roman"/>
                <a:sym typeface="Times New Roman"/>
              </a:defRPr>
            </a:pPr>
            <a:r>
              <a:t>Linear</a:t>
            </a:r>
            <a:r>
              <a:rPr spc="-27"/>
              <a:t> </a:t>
            </a:r>
            <a:r>
              <a:t>Regression.</a:t>
            </a:r>
            <a:endParaRPr spc="-6"/>
          </a:p>
          <a:p>
            <a:pPr marL="330199" indent="-228600">
              <a:lnSpc>
                <a:spcPct val="90000"/>
              </a:lnSpc>
              <a:spcBef>
                <a:spcPts val="700"/>
              </a:spcBef>
              <a:buSzPct val="96153"/>
              <a:buFont typeface="Arial"/>
              <a:buChar char="•"/>
              <a:tabLst>
                <a:tab pos="330200" algn="l"/>
              </a:tabLst>
              <a:defRPr spc="-6" sz="2000">
                <a:latin typeface="Times New Roman"/>
                <a:ea typeface="Times New Roman"/>
                <a:cs typeface="Times New Roman"/>
                <a:sym typeface="Times New Roman"/>
              </a:defRPr>
            </a:pPr>
            <a:r>
              <a:t>Profiling</a:t>
            </a:r>
            <a:endParaRPr spc="-6"/>
          </a:p>
          <a:p>
            <a:pPr marL="330199" indent="-228600">
              <a:lnSpc>
                <a:spcPct val="90000"/>
              </a:lnSpc>
              <a:spcBef>
                <a:spcPts val="700"/>
              </a:spcBef>
              <a:buSzPct val="96153"/>
              <a:buFont typeface="Arial"/>
              <a:buChar char="•"/>
              <a:tabLst>
                <a:tab pos="330200" algn="l"/>
              </a:tabLst>
              <a:defRPr sz="2000">
                <a:latin typeface="Times New Roman"/>
                <a:ea typeface="Times New Roman"/>
                <a:cs typeface="Times New Roman"/>
                <a:sym typeface="Times New Roman"/>
              </a:defRPr>
            </a:pPr>
            <a:r>
              <a:t>Parallelization</a:t>
            </a:r>
            <a:r>
              <a:rPr spc="-58"/>
              <a:t> </a:t>
            </a:r>
            <a:r>
              <a:t>with</a:t>
            </a:r>
            <a:r>
              <a:rPr spc="-17"/>
              <a:t> </a:t>
            </a:r>
            <a:r>
              <a:rPr spc="-13"/>
              <a:t>Dask</a:t>
            </a:r>
            <a:endParaRPr spc="-13"/>
          </a:p>
          <a:p>
            <a:pPr marL="329565" indent="-228600">
              <a:lnSpc>
                <a:spcPct val="90000"/>
              </a:lnSpc>
              <a:spcBef>
                <a:spcPts val="700"/>
              </a:spcBef>
              <a:buSzPct val="94230"/>
              <a:buFont typeface="Arial"/>
              <a:buChar char="•"/>
              <a:tabLst>
                <a:tab pos="317500" algn="l"/>
              </a:tabLst>
              <a:defRPr sz="2000">
                <a:latin typeface="Times New Roman"/>
                <a:ea typeface="Times New Roman"/>
                <a:cs typeface="Times New Roman"/>
                <a:sym typeface="Times New Roman"/>
              </a:defRPr>
            </a:pPr>
            <a:r>
              <a:t>Random</a:t>
            </a:r>
            <a:r>
              <a:rPr spc="-38"/>
              <a:t> </a:t>
            </a:r>
            <a:r>
              <a:rPr spc="-6"/>
              <a:t>Forest</a:t>
            </a:r>
          </a:p>
          <a:p>
            <a:pPr marL="329565" indent="-228600">
              <a:lnSpc>
                <a:spcPct val="90000"/>
              </a:lnSpc>
              <a:spcBef>
                <a:spcPts val="700"/>
              </a:spcBef>
              <a:buSzPct val="94230"/>
              <a:buFont typeface="Arial"/>
              <a:buChar char="•"/>
              <a:tabLst>
                <a:tab pos="317500" algn="l"/>
              </a:tabLst>
              <a:defRPr spc="-6" sz="2000">
                <a:latin typeface="Times New Roman"/>
                <a:ea typeface="Times New Roman"/>
                <a:cs typeface="Times New Roman"/>
                <a:sym typeface="Times New Roman"/>
              </a:defRPr>
            </a:pPr>
            <a:r>
              <a:t>Genetic Algorithm</a:t>
            </a:r>
          </a:p>
          <a:p>
            <a:pPr marL="329565" indent="-228600">
              <a:lnSpc>
                <a:spcPct val="90000"/>
              </a:lnSpc>
              <a:spcBef>
                <a:spcPts val="700"/>
              </a:spcBef>
              <a:buSzPct val="94230"/>
              <a:buFont typeface="Arial"/>
              <a:buChar char="•"/>
              <a:tabLst>
                <a:tab pos="317500" algn="l"/>
              </a:tabLst>
              <a:defRPr spc="-6" sz="2000">
                <a:latin typeface="Times New Roman"/>
                <a:ea typeface="Times New Roman"/>
                <a:cs typeface="Times New Roman"/>
                <a:sym typeface="Times New Roman"/>
              </a:defRPr>
            </a:pPr>
            <a:r>
              <a:t>Dask Computing</a:t>
            </a:r>
          </a:p>
          <a:p>
            <a:pPr marL="329565" indent="-228600">
              <a:lnSpc>
                <a:spcPct val="90000"/>
              </a:lnSpc>
              <a:spcBef>
                <a:spcPts val="700"/>
              </a:spcBef>
              <a:buSzPct val="94230"/>
              <a:buFont typeface="Arial"/>
              <a:buChar char="•"/>
              <a:tabLst>
                <a:tab pos="317500" algn="l"/>
              </a:tabLst>
              <a:defRPr spc="-6" sz="2000">
                <a:latin typeface="Times New Roman"/>
                <a:ea typeface="Times New Roman"/>
                <a:cs typeface="Times New Roman"/>
                <a:sym typeface="Times New Roman"/>
              </a:defRPr>
            </a:pPr>
            <a:r>
              <a:t>Conclusion</a:t>
            </a:r>
          </a:p>
          <a:p>
            <a:pPr marL="329565" indent="-228600">
              <a:lnSpc>
                <a:spcPct val="90000"/>
              </a:lnSpc>
              <a:spcBef>
                <a:spcPts val="700"/>
              </a:spcBef>
              <a:buSzPct val="94230"/>
              <a:buFont typeface="Arial"/>
              <a:buChar char="•"/>
              <a:tabLst>
                <a:tab pos="317500" algn="l"/>
              </a:tabLst>
              <a:defRPr spc="-6" sz="2000">
                <a:latin typeface="Times New Roman"/>
                <a:ea typeface="Times New Roman"/>
                <a:cs typeface="Times New Roman"/>
                <a:sym typeface="Times New Roman"/>
              </a:defRPr>
            </a:pPr>
            <a:r>
              <a:t>Reference</a:t>
            </a:r>
          </a:p>
          <a:p>
            <a:pPr marL="329565" indent="-228600">
              <a:lnSpc>
                <a:spcPct val="90000"/>
              </a:lnSpc>
              <a:spcBef>
                <a:spcPts val="700"/>
              </a:spcBef>
              <a:buSzPct val="94230"/>
              <a:buFont typeface="Arial"/>
              <a:buChar char="•"/>
              <a:tabLst>
                <a:tab pos="317500" algn="l"/>
              </a:tabLst>
              <a:defRPr spc="-6" sz="2000">
                <a:latin typeface="Times New Roman"/>
                <a:ea typeface="Times New Roman"/>
                <a:cs typeface="Times New Roman"/>
                <a:sym typeface="Times New Roman"/>
              </a:defRPr>
            </a:pPr>
            <a:r>
              <a:t>Contribution</a:t>
            </a:r>
          </a:p>
        </p:txBody>
      </p:sp>
      <p:pic>
        <p:nvPicPr>
          <p:cNvPr id="126" name="Picture 97" descr="Picture 97"/>
          <p:cNvPicPr>
            <a:picLocks noChangeAspect="1"/>
          </p:cNvPicPr>
          <p:nvPr/>
        </p:nvPicPr>
        <p:blipFill>
          <a:blip r:embed="rId2">
            <a:extLst/>
          </a:blip>
          <a:srcRect l="0" t="0" r="33048" b="0"/>
          <a:stretch>
            <a:fillRect/>
          </a:stretch>
        </p:blipFill>
        <p:spPr>
          <a:xfrm>
            <a:off x="5311735" y="10"/>
            <a:ext cx="6878605" cy="6857922"/>
          </a:xfrm>
          <a:custGeom>
            <a:avLst/>
            <a:gdLst/>
            <a:ahLst/>
            <a:cxnLst>
              <a:cxn ang="0">
                <a:pos x="wd2" y="hd2"/>
              </a:cxn>
              <a:cxn ang="5400000">
                <a:pos x="wd2" y="hd2"/>
              </a:cxn>
              <a:cxn ang="10800000">
                <a:pos x="wd2" y="hd2"/>
              </a:cxn>
              <a:cxn ang="16200000">
                <a:pos x="wd2" y="hd2"/>
              </a:cxn>
            </a:cxnLst>
            <a:rect l="0" t="0" r="r" b="b"/>
            <a:pathLst>
              <a:path w="21555" h="21600" fill="norm" stroke="1" extrusionOk="0">
                <a:moveTo>
                  <a:pt x="3456" y="0"/>
                </a:moveTo>
                <a:lnTo>
                  <a:pt x="3120" y="619"/>
                </a:lnTo>
                <a:cubicBezTo>
                  <a:pt x="2508" y="1805"/>
                  <a:pt x="1994" y="3043"/>
                  <a:pt x="1554" y="4319"/>
                </a:cubicBezTo>
                <a:cubicBezTo>
                  <a:pt x="870" y="6322"/>
                  <a:pt x="399" y="8391"/>
                  <a:pt x="147" y="10492"/>
                </a:cubicBezTo>
                <a:cubicBezTo>
                  <a:pt x="14" y="11568"/>
                  <a:pt x="-45" y="12642"/>
                  <a:pt x="38" y="13724"/>
                </a:cubicBezTo>
                <a:cubicBezTo>
                  <a:pt x="137" y="14988"/>
                  <a:pt x="285" y="16246"/>
                  <a:pt x="537" y="17490"/>
                </a:cubicBezTo>
                <a:cubicBezTo>
                  <a:pt x="815" y="18863"/>
                  <a:pt x="1193" y="20203"/>
                  <a:pt x="1691" y="21506"/>
                </a:cubicBezTo>
                <a:lnTo>
                  <a:pt x="1730" y="21600"/>
                </a:lnTo>
                <a:lnTo>
                  <a:pt x="1895" y="21600"/>
                </a:lnTo>
                <a:lnTo>
                  <a:pt x="1874" y="21549"/>
                </a:lnTo>
                <a:cubicBezTo>
                  <a:pt x="1598" y="20832"/>
                  <a:pt x="1357" y="20097"/>
                  <a:pt x="1146" y="19348"/>
                </a:cubicBezTo>
                <a:cubicBezTo>
                  <a:pt x="963" y="18694"/>
                  <a:pt x="827" y="18027"/>
                  <a:pt x="670" y="17366"/>
                </a:cubicBezTo>
                <a:cubicBezTo>
                  <a:pt x="666" y="17331"/>
                  <a:pt x="665" y="17297"/>
                  <a:pt x="665" y="17261"/>
                </a:cubicBezTo>
                <a:cubicBezTo>
                  <a:pt x="780" y="17662"/>
                  <a:pt x="871" y="18015"/>
                  <a:pt x="980" y="18364"/>
                </a:cubicBezTo>
                <a:cubicBezTo>
                  <a:pt x="1263" y="19271"/>
                  <a:pt x="1589" y="20153"/>
                  <a:pt x="1960" y="21010"/>
                </a:cubicBezTo>
                <a:lnTo>
                  <a:pt x="2236" y="21600"/>
                </a:lnTo>
                <a:lnTo>
                  <a:pt x="21555" y="21600"/>
                </a:lnTo>
                <a:lnTo>
                  <a:pt x="21555" y="0"/>
                </a:lnTo>
                <a:lnTo>
                  <a:pt x="3846" y="0"/>
                </a:lnTo>
                <a:lnTo>
                  <a:pt x="3545" y="469"/>
                </a:lnTo>
                <a:cubicBezTo>
                  <a:pt x="3133" y="1151"/>
                  <a:pt x="2757" y="1857"/>
                  <a:pt x="2415" y="2582"/>
                </a:cubicBezTo>
                <a:cubicBezTo>
                  <a:pt x="2398" y="2625"/>
                  <a:pt x="2371" y="2663"/>
                  <a:pt x="2335" y="2691"/>
                </a:cubicBezTo>
                <a:cubicBezTo>
                  <a:pt x="2381" y="2582"/>
                  <a:pt x="2427" y="2472"/>
                  <a:pt x="2473" y="2362"/>
                </a:cubicBezTo>
                <a:cubicBezTo>
                  <a:pt x="2665" y="1917"/>
                  <a:pt x="2866" y="1478"/>
                  <a:pt x="3080" y="1045"/>
                </a:cubicBezTo>
                <a:lnTo>
                  <a:pt x="3637" y="0"/>
                </a:lnTo>
                <a:lnTo>
                  <a:pt x="3456" y="0"/>
                </a:lnTo>
                <a:close/>
              </a:path>
            </a:pathLst>
          </a:cu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F7F7F7"/>
            </a:gs>
            <a:gs pos="100000">
              <a:srgbClr val="D2D2D2"/>
            </a:gs>
          </a:gsLst>
          <a:path path="circle">
            <a:fillToRect l="50000" t="50000" r="50000" b="50000"/>
          </a:path>
        </a:gradFill>
      </p:bgPr>
    </p:bg>
    <p:spTree>
      <p:nvGrpSpPr>
        <p:cNvPr id="1" name=""/>
        <p:cNvGrpSpPr/>
        <p:nvPr/>
      </p:nvGrpSpPr>
      <p:grpSpPr>
        <a:xfrm>
          <a:off x="0" y="0"/>
          <a:ext cx="0" cy="0"/>
          <a:chOff x="0" y="0"/>
          <a:chExt cx="0" cy="0"/>
        </a:xfrm>
      </p:grpSpPr>
      <p:sp>
        <p:nvSpPr>
          <p:cNvPr id="128" name="Introduction:"/>
          <p:cNvSpPr txBox="1"/>
          <p:nvPr>
            <p:ph type="ctrTitle"/>
          </p:nvPr>
        </p:nvSpPr>
        <p:spPr>
          <a:xfrm>
            <a:off x="844476" y="1600199"/>
            <a:ext cx="3539266" cy="4297680"/>
          </a:xfrm>
          <a:prstGeom prst="rect">
            <a:avLst/>
          </a:prstGeom>
        </p:spPr>
        <p:txBody>
          <a:bodyPr anchor="ctr"/>
          <a:lstStyle>
            <a:lvl1pPr>
              <a:defRPr cap="all" spc="200" sz="3000"/>
            </a:lvl1pPr>
          </a:lstStyle>
          <a:p>
            <a:pPr/>
            <a:r>
              <a:t>Introduction:</a:t>
            </a:r>
          </a:p>
        </p:txBody>
      </p:sp>
      <p:sp>
        <p:nvSpPr>
          <p:cNvPr id="129" name="Our project uses machine learning models and statistical methods to identify key features from patient health data that can help in the early prediction of gestational diabetes. This approach aims to assist healthcare professionals in making timely decis"/>
          <p:cNvSpPr txBox="1"/>
          <p:nvPr>
            <p:ph type="subTitle" sz="half" idx="1"/>
          </p:nvPr>
        </p:nvSpPr>
        <p:spPr>
          <a:xfrm>
            <a:off x="4924850" y="1600199"/>
            <a:ext cx="6130004" cy="4297680"/>
          </a:xfrm>
          <a:prstGeom prst="rect">
            <a:avLst/>
          </a:prstGeom>
        </p:spPr>
        <p:txBody>
          <a:bodyPr anchor="ctr"/>
          <a:lstStyle/>
          <a:p>
            <a:pPr indent="-228600" algn="l">
              <a:buSzPct val="100000"/>
              <a:buFont typeface="Arial"/>
              <a:buChar char="•"/>
              <a:defRPr sz="2100"/>
            </a:pPr>
          </a:p>
          <a:p>
            <a:pPr indent="-228600" algn="l">
              <a:buSzPct val="100000"/>
              <a:buFont typeface="Arial"/>
              <a:buChar char="•"/>
              <a:defRPr sz="2100"/>
            </a:pPr>
            <a:r>
              <a:t>	Our project uses machine learning models and statistical methods to identify key features from patient health data that can help in the early prediction of gestational diabetes. This approach aims to assist healthcare professionals in making timely decisions during pregnancy.      </a:t>
            </a:r>
          </a:p>
          <a:p>
            <a:pPr indent="-228600" algn="l">
              <a:buSzPct val="100000"/>
              <a:buFont typeface="Arial"/>
              <a:buChar char="•"/>
              <a:defRPr sz="2100"/>
            </a:pPr>
          </a:p>
          <a:p>
            <a:pPr indent="-228600" algn="l">
              <a:buSzPct val="100000"/>
              <a:buFont typeface="Arial"/>
              <a:buChar char="•"/>
              <a:defRPr sz="2100"/>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F7F7F7"/>
            </a:gs>
            <a:gs pos="100000">
              <a:srgbClr val="D2D2D2"/>
            </a:gs>
          </a:gsLst>
          <a:path path="circle">
            <a:fillToRect l="50000" t="50000" r="50000" b="50000"/>
          </a:path>
        </a:gradFill>
      </p:bgPr>
    </p:bg>
    <p:spTree>
      <p:nvGrpSpPr>
        <p:cNvPr id="1" name=""/>
        <p:cNvGrpSpPr/>
        <p:nvPr/>
      </p:nvGrpSpPr>
      <p:grpSpPr>
        <a:xfrm>
          <a:off x="0" y="0"/>
          <a:ext cx="0" cy="0"/>
          <a:chOff x="0" y="0"/>
          <a:chExt cx="0" cy="0"/>
        </a:xfrm>
      </p:grpSpPr>
      <p:sp>
        <p:nvSpPr>
          <p:cNvPr id="131" name="object 2"/>
          <p:cNvSpPr txBox="1"/>
          <p:nvPr>
            <p:ph type="title"/>
          </p:nvPr>
        </p:nvSpPr>
        <p:spPr>
          <a:xfrm>
            <a:off x="169334" y="1138227"/>
            <a:ext cx="4484964" cy="3858769"/>
          </a:xfrm>
          <a:prstGeom prst="rect">
            <a:avLst/>
          </a:prstGeom>
        </p:spPr>
        <p:txBody>
          <a:bodyPr/>
          <a:lstStyle/>
          <a:p>
            <a:pPr indent="12700">
              <a:tabLst>
                <a:tab pos="800100" algn="l"/>
              </a:tabLst>
              <a:defRPr cap="all" sz="3600"/>
            </a:pPr>
            <a:r>
              <a:t>Dat</a:t>
            </a:r>
            <a:r>
              <a:rPr spc="-100"/>
              <a:t>a </a:t>
            </a:r>
            <a:r>
              <a:t>Descr</a:t>
            </a:r>
            <a:r>
              <a:rPr spc="-300"/>
              <a:t>ip</a:t>
            </a:r>
            <a:r>
              <a:t>tio</a:t>
            </a:r>
            <a:r>
              <a:rPr spc="-100"/>
              <a:t>n</a:t>
            </a:r>
          </a:p>
        </p:txBody>
      </p:sp>
      <p:sp>
        <p:nvSpPr>
          <p:cNvPr id="132" name="object 3"/>
          <p:cNvSpPr txBox="1"/>
          <p:nvPr/>
        </p:nvSpPr>
        <p:spPr>
          <a:xfrm>
            <a:off x="5630203" y="1138228"/>
            <a:ext cx="5349241" cy="385876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110000"/>
              </a:lnSpc>
              <a:spcBef>
                <a:spcPts val="100"/>
              </a:spcBef>
              <a:tabLst>
                <a:tab pos="114300" algn="l"/>
              </a:tabLst>
              <a:defRPr b="1" sz="1300" u="sng">
                <a:uFill>
                  <a:solidFill>
                    <a:srgbClr val="000000"/>
                  </a:solidFill>
                </a:uFill>
                <a:latin typeface="Times New Roman"/>
                <a:ea typeface="Times New Roman"/>
                <a:cs typeface="Times New Roman"/>
                <a:sym typeface="Times New Roman"/>
              </a:defRPr>
            </a:pPr>
            <a:r>
              <a:t>Diabetes</a:t>
            </a:r>
            <a:r>
              <a:rPr spc="-100"/>
              <a:t> </a:t>
            </a:r>
            <a:r>
              <a:t>P</a:t>
            </a:r>
            <a:r>
              <a:rPr u="none">
                <a:uFillTx/>
              </a:rPr>
              <a:t>rediction </a:t>
            </a:r>
            <a:r>
              <a:rPr spc="-100" u="none">
                <a:uFillTx/>
              </a:rPr>
              <a:t>Dataset</a:t>
            </a:r>
            <a:endParaRPr spc="484" sz="1500"/>
          </a:p>
          <a:p>
            <a:pPr marL="241300" indent="-228600">
              <a:lnSpc>
                <a:spcPct val="11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Source</a:t>
            </a:r>
            <a:r>
              <a:rPr b="0"/>
              <a:t>:</a:t>
            </a:r>
            <a:r>
              <a:rPr b="0" spc="-100"/>
              <a:t> </a:t>
            </a:r>
            <a:r>
              <a:rPr b="0"/>
              <a:t>Kaggle</a:t>
            </a:r>
            <a:r>
              <a:rPr b="0" spc="-100"/>
              <a:t> </a:t>
            </a:r>
            <a:endParaRPr sz="1500"/>
          </a:p>
          <a:p>
            <a:pPr marL="241300" indent="-228600">
              <a:lnSpc>
                <a:spcPct val="11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Link:</a:t>
            </a:r>
            <a:r>
              <a:rPr spc="200"/>
              <a:t> </a:t>
            </a:r>
            <a:r>
              <a:rPr spc="-100" u="sng">
                <a:solidFill>
                  <a:srgbClr val="467886"/>
                </a:solidFill>
                <a:uFill>
                  <a:solidFill>
                    <a:srgbClr val="467886"/>
                  </a:solidFill>
                </a:uFill>
                <a:hlinkClick r:id="rId2" invalidUrl="" action="" tgtFrame="" tooltip="" history="1" highlightClick="0" endSnd="0"/>
              </a:rPr>
              <a:t>https://www.kaggle.com/datasets/akshaydattatraykhare/diabetes-dataset</a:t>
            </a:r>
            <a:endParaRPr sz="1500"/>
          </a:p>
          <a:p>
            <a:pPr marL="241300" indent="-228600">
              <a:lnSpc>
                <a:spcPct val="11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Number</a:t>
            </a:r>
            <a:r>
              <a:rPr spc="-100"/>
              <a:t> </a:t>
            </a:r>
            <a:r>
              <a:t>of</a:t>
            </a:r>
            <a:r>
              <a:rPr spc="-100"/>
              <a:t> </a:t>
            </a:r>
            <a:r>
              <a:t>Records</a:t>
            </a:r>
            <a:r>
              <a:rPr b="0"/>
              <a:t>: </a:t>
            </a:r>
            <a:r>
              <a:rPr b="0" spc="-100"/>
              <a:t>768</a:t>
            </a:r>
            <a:endParaRPr sz="1500"/>
          </a:p>
          <a:p>
            <a:pPr marL="241300" marR="182879" indent="-228600">
              <a:lnSpc>
                <a:spcPct val="110000"/>
              </a:lnSpc>
              <a:spcBef>
                <a:spcPts val="9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Description</a:t>
            </a:r>
            <a:r>
              <a:rPr b="0"/>
              <a:t>: By</a:t>
            </a:r>
            <a:r>
              <a:rPr b="0" spc="-100"/>
              <a:t> </a:t>
            </a:r>
            <a:r>
              <a:rPr b="0"/>
              <a:t>examining</a:t>
            </a:r>
            <a:r>
              <a:rPr b="0" spc="-100"/>
              <a:t> </a:t>
            </a:r>
            <a:r>
              <a:rPr b="0"/>
              <a:t>different</a:t>
            </a:r>
            <a:r>
              <a:rPr b="0" spc="-100"/>
              <a:t> </a:t>
            </a:r>
            <a:r>
              <a:rPr b="0"/>
              <a:t>health</a:t>
            </a:r>
            <a:r>
              <a:rPr b="0" spc="-100"/>
              <a:t> </a:t>
            </a:r>
            <a:r>
              <a:rPr b="0"/>
              <a:t>parameters,</a:t>
            </a:r>
            <a:r>
              <a:rPr b="0" spc="-100"/>
              <a:t> </a:t>
            </a:r>
            <a:r>
              <a:rPr b="0"/>
              <a:t>this</a:t>
            </a:r>
            <a:r>
              <a:rPr b="0" spc="-100"/>
              <a:t> </a:t>
            </a:r>
            <a:r>
              <a:rPr b="0"/>
              <a:t>dataset</a:t>
            </a:r>
            <a:r>
              <a:rPr b="0" spc="-100"/>
              <a:t> </a:t>
            </a:r>
            <a:r>
              <a:rPr b="0"/>
              <a:t>helps</a:t>
            </a:r>
            <a:r>
              <a:rPr b="0" spc="-100"/>
              <a:t> </a:t>
            </a:r>
            <a:r>
              <a:rPr b="0"/>
              <a:t>in</a:t>
            </a:r>
            <a:r>
              <a:rPr b="0" spc="-100"/>
              <a:t> </a:t>
            </a:r>
            <a:r>
              <a:rPr b="0"/>
              <a:t>determining</a:t>
            </a:r>
            <a:r>
              <a:rPr b="0" spc="-100"/>
              <a:t> </a:t>
            </a:r>
            <a:r>
              <a:rPr b="0"/>
              <a:t>if</a:t>
            </a:r>
            <a:r>
              <a:rPr b="0" spc="-100"/>
              <a:t> </a:t>
            </a:r>
            <a:r>
              <a:rPr b="0"/>
              <a:t>a</a:t>
            </a:r>
            <a:r>
              <a:rPr b="0" spc="-100"/>
              <a:t> </a:t>
            </a:r>
            <a:r>
              <a:rPr b="0"/>
              <a:t>person</a:t>
            </a:r>
            <a:r>
              <a:rPr b="0" spc="-100"/>
              <a:t> has diabetes.</a:t>
            </a:r>
            <a:endParaRPr sz="1500"/>
          </a:p>
          <a:p>
            <a:pPr marL="241300" indent="-228600">
              <a:lnSpc>
                <a:spcPct val="11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Features</a:t>
            </a:r>
            <a:r>
              <a:rPr b="0"/>
              <a:t>:</a:t>
            </a:r>
            <a:r>
              <a:rPr b="0" spc="-100"/>
              <a:t> </a:t>
            </a:r>
            <a:r>
              <a:rPr b="0"/>
              <a:t>features</a:t>
            </a:r>
            <a:r>
              <a:rPr b="0" spc="-100"/>
              <a:t> </a:t>
            </a:r>
            <a:r>
              <a:rPr b="0"/>
              <a:t>such</a:t>
            </a:r>
            <a:r>
              <a:rPr b="0" spc="-100"/>
              <a:t> </a:t>
            </a:r>
            <a:r>
              <a:rPr b="0"/>
              <a:t>as</a:t>
            </a:r>
            <a:r>
              <a:rPr b="0" spc="-100"/>
              <a:t> </a:t>
            </a:r>
            <a:r>
              <a:rPr b="0"/>
              <a:t>glucose</a:t>
            </a:r>
            <a:r>
              <a:rPr b="0" spc="-100"/>
              <a:t> </a:t>
            </a:r>
            <a:r>
              <a:rPr b="0"/>
              <a:t>levels,</a:t>
            </a:r>
            <a:r>
              <a:rPr b="0" spc="-100"/>
              <a:t> </a:t>
            </a:r>
            <a:r>
              <a:rPr b="0"/>
              <a:t>blood</a:t>
            </a:r>
            <a:r>
              <a:rPr b="0" spc="-100"/>
              <a:t> </a:t>
            </a:r>
            <a:r>
              <a:rPr b="0"/>
              <a:t>pressure,</a:t>
            </a:r>
            <a:r>
              <a:rPr b="0" spc="-100"/>
              <a:t> </a:t>
            </a:r>
            <a:r>
              <a:rPr b="0"/>
              <a:t>skin</a:t>
            </a:r>
            <a:r>
              <a:rPr b="0" spc="-100"/>
              <a:t> </a:t>
            </a:r>
            <a:r>
              <a:rPr b="0"/>
              <a:t>thickness,</a:t>
            </a:r>
            <a:r>
              <a:rPr b="0" spc="-100"/>
              <a:t> </a:t>
            </a:r>
            <a:r>
              <a:rPr b="0"/>
              <a:t>insulin,</a:t>
            </a:r>
            <a:r>
              <a:rPr b="0" spc="-100"/>
              <a:t> </a:t>
            </a:r>
            <a:r>
              <a:rPr b="0"/>
              <a:t>BMI,</a:t>
            </a:r>
            <a:r>
              <a:rPr b="0" spc="-100"/>
              <a:t> </a:t>
            </a:r>
            <a:r>
              <a:rPr b="0"/>
              <a:t>age,</a:t>
            </a:r>
            <a:r>
              <a:rPr b="0" spc="-100"/>
              <a:t> </a:t>
            </a:r>
            <a:r>
              <a:rPr b="0"/>
              <a:t>and</a:t>
            </a:r>
            <a:r>
              <a:rPr b="0" spc="-100"/>
              <a:t> Outcome.</a:t>
            </a:r>
            <a:endParaRPr sz="1500"/>
          </a:p>
          <a:p>
            <a:pPr marL="241300" marR="740409" indent="-228600">
              <a:lnSpc>
                <a:spcPct val="110000"/>
              </a:lnSpc>
              <a:spcBef>
                <a:spcPts val="9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Objective</a:t>
            </a:r>
            <a:r>
              <a:rPr b="0"/>
              <a:t>:</a:t>
            </a:r>
            <a:r>
              <a:rPr b="0" spc="-100"/>
              <a:t> </a:t>
            </a:r>
            <a:r>
              <a:rPr b="0"/>
              <a:t>The</a:t>
            </a:r>
            <a:r>
              <a:rPr b="0" spc="-100"/>
              <a:t> </a:t>
            </a:r>
            <a:r>
              <a:rPr b="0"/>
              <a:t>primary</a:t>
            </a:r>
            <a:r>
              <a:rPr b="0" spc="-100"/>
              <a:t> </a:t>
            </a:r>
            <a:r>
              <a:rPr b="0"/>
              <a:t>goal is</a:t>
            </a:r>
            <a:r>
              <a:rPr b="0" spc="-100"/>
              <a:t> </a:t>
            </a:r>
            <a:r>
              <a:rPr b="0"/>
              <a:t>to</a:t>
            </a:r>
            <a:r>
              <a:rPr b="0" spc="-100"/>
              <a:t> </a:t>
            </a:r>
            <a:r>
              <a:rPr b="0"/>
              <a:t>use</a:t>
            </a:r>
            <a:r>
              <a:rPr b="0" spc="-100"/>
              <a:t> </a:t>
            </a:r>
            <a:r>
              <a:rPr b="0"/>
              <a:t>these</a:t>
            </a:r>
            <a:r>
              <a:rPr b="0" spc="-100"/>
              <a:t> </a:t>
            </a:r>
            <a:r>
              <a:rPr b="0"/>
              <a:t>medical</a:t>
            </a:r>
            <a:r>
              <a:rPr b="0" spc="-100"/>
              <a:t> </a:t>
            </a:r>
            <a:r>
              <a:rPr b="0"/>
              <a:t>characteristics</a:t>
            </a:r>
            <a:r>
              <a:rPr b="0" spc="-100"/>
              <a:t> </a:t>
            </a:r>
            <a:r>
              <a:rPr b="0"/>
              <a:t>to</a:t>
            </a:r>
            <a:r>
              <a:rPr b="0" spc="-100"/>
              <a:t> </a:t>
            </a:r>
            <a:r>
              <a:rPr b="0"/>
              <a:t>advance early</a:t>
            </a:r>
            <a:r>
              <a:rPr b="0" spc="-100"/>
              <a:t> </a:t>
            </a:r>
            <a:r>
              <a:rPr b="0"/>
              <a:t>diagnosis</a:t>
            </a:r>
            <a:r>
              <a:rPr b="0" spc="-100"/>
              <a:t> of </a:t>
            </a:r>
            <a:r>
              <a:rPr b="0"/>
              <a:t>gestational</a:t>
            </a:r>
            <a:r>
              <a:rPr b="0" spc="-100"/>
              <a:t> </a:t>
            </a:r>
            <a:r>
              <a:rPr b="0"/>
              <a:t>diabetes</a:t>
            </a:r>
            <a:r>
              <a:rPr b="0" spc="-100"/>
              <a:t> </a:t>
            </a:r>
            <a:r>
              <a:rPr b="0"/>
              <a:t>in</a:t>
            </a:r>
            <a:r>
              <a:rPr b="0" spc="-100"/>
              <a:t> patients.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F7F7F7"/>
            </a:gs>
            <a:gs pos="100000">
              <a:srgbClr val="D2D2D2"/>
            </a:gs>
          </a:gsLst>
          <a:path path="circle">
            <a:fillToRect l="50000" t="50000" r="50000" b="50000"/>
          </a:path>
        </a:gradFill>
      </p:bgPr>
    </p:bg>
    <p:spTree>
      <p:nvGrpSpPr>
        <p:cNvPr id="1" name=""/>
        <p:cNvGrpSpPr/>
        <p:nvPr/>
      </p:nvGrpSpPr>
      <p:grpSpPr>
        <a:xfrm>
          <a:off x="0" y="0"/>
          <a:ext cx="0" cy="0"/>
          <a:chOff x="0" y="0"/>
          <a:chExt cx="0" cy="0"/>
        </a:xfrm>
      </p:grpSpPr>
      <p:sp>
        <p:nvSpPr>
          <p:cNvPr id="134" name="object 2"/>
          <p:cNvSpPr txBox="1"/>
          <p:nvPr>
            <p:ph type="title"/>
          </p:nvPr>
        </p:nvSpPr>
        <p:spPr>
          <a:xfrm>
            <a:off x="844476" y="1600199"/>
            <a:ext cx="3539266" cy="4297680"/>
          </a:xfrm>
          <a:prstGeom prst="rect">
            <a:avLst/>
          </a:prstGeom>
        </p:spPr>
        <p:txBody>
          <a:bodyPr/>
          <a:lstStyle/>
          <a:p>
            <a:pPr indent="12700">
              <a:tabLst>
                <a:tab pos="812800" algn="l"/>
                <a:tab pos="2336800" algn="l"/>
                <a:tab pos="2628900" algn="l"/>
                <a:tab pos="3505200" algn="l"/>
                <a:tab pos="3924300" algn="l"/>
              </a:tabLst>
              <a:defRPr cap="all" spc="100" sz="2300"/>
            </a:pPr>
            <a:r>
              <a:t>Data A</a:t>
            </a:r>
            <a:r>
              <a:rPr spc="200"/>
              <a:t>ttributes</a:t>
            </a:r>
            <a:r>
              <a:t> </a:t>
            </a:r>
            <a:r>
              <a:rPr spc="-100"/>
              <a:t>–</a:t>
            </a:r>
            <a:r>
              <a:t> Name of C</a:t>
            </a:r>
            <a:r>
              <a:rPr spc="200"/>
              <a:t>olumns</a:t>
            </a:r>
          </a:p>
        </p:txBody>
      </p:sp>
      <p:sp>
        <p:nvSpPr>
          <p:cNvPr id="135" name="object 3"/>
          <p:cNvSpPr txBox="1"/>
          <p:nvPr/>
        </p:nvSpPr>
        <p:spPr>
          <a:xfrm>
            <a:off x="4970570" y="1600199"/>
            <a:ext cx="6038564" cy="4297680"/>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marL="12700" indent="-228600">
              <a:lnSpc>
                <a:spcPct val="120000"/>
              </a:lnSpc>
              <a:spcBef>
                <a:spcPts val="100"/>
              </a:spcBef>
              <a:buClr>
                <a:schemeClr val="accent1"/>
              </a:buClr>
              <a:buSzPct val="100000"/>
              <a:buFont typeface="Arial"/>
              <a:buChar char="•"/>
              <a:tabLst>
                <a:tab pos="241300" algn="l"/>
              </a:tabLst>
              <a:defRPr b="1" sz="1300" u="sng">
                <a:uFill>
                  <a:solidFill>
                    <a:srgbClr val="000000"/>
                  </a:solidFill>
                </a:uFill>
                <a:latin typeface="Times New Roman"/>
                <a:ea typeface="Times New Roman"/>
                <a:cs typeface="Times New Roman"/>
                <a:sym typeface="Times New Roman"/>
              </a:defRPr>
            </a:pPr>
            <a:r>
              <a:t>Diabetes</a:t>
            </a:r>
            <a:r>
              <a:rPr spc="-100"/>
              <a:t> P</a:t>
            </a:r>
            <a:r>
              <a:rPr spc="-100" u="none">
                <a:uFillTx/>
              </a:rPr>
              <a:t>rediction Dataset</a:t>
            </a:r>
            <a:endParaRPr sz="1400"/>
          </a:p>
          <a:p>
            <a:pPr marL="240665" indent="-228600">
              <a:lnSpc>
                <a:spcPct val="120000"/>
              </a:lnSpc>
              <a:spcBef>
                <a:spcPts val="1300"/>
              </a:spcBef>
              <a:buClr>
                <a:schemeClr val="accent1"/>
              </a:buClr>
              <a:buSzPct val="100000"/>
              <a:buFont typeface="Arial"/>
              <a:buChar char="•"/>
              <a:tabLst>
                <a:tab pos="228600" algn="l"/>
              </a:tabLst>
              <a:defRPr b="1" sz="1300">
                <a:latin typeface="Times New Roman"/>
                <a:ea typeface="Times New Roman"/>
                <a:cs typeface="Times New Roman"/>
                <a:sym typeface="Times New Roman"/>
              </a:defRPr>
            </a:pPr>
            <a:r>
              <a:t>Pregnancies</a:t>
            </a:r>
            <a:r>
              <a:rPr b="0"/>
              <a:t>:</a:t>
            </a:r>
            <a:r>
              <a:rPr b="0" spc="-100"/>
              <a:t> </a:t>
            </a:r>
            <a:r>
              <a:rPr b="0"/>
              <a:t>Number</a:t>
            </a:r>
            <a:r>
              <a:rPr b="0" spc="-100"/>
              <a:t> </a:t>
            </a:r>
            <a:r>
              <a:rPr b="0"/>
              <a:t>of</a:t>
            </a:r>
            <a:r>
              <a:rPr b="0" spc="-100"/>
              <a:t> </a:t>
            </a:r>
            <a:r>
              <a:rPr b="0"/>
              <a:t>times</a:t>
            </a:r>
            <a:r>
              <a:rPr b="0" spc="-100"/>
              <a:t> </a:t>
            </a:r>
            <a:r>
              <a:rPr b="0"/>
              <a:t>the</a:t>
            </a:r>
            <a:r>
              <a:rPr b="0" spc="-100"/>
              <a:t> </a:t>
            </a:r>
            <a:r>
              <a:rPr b="0"/>
              <a:t>patient</a:t>
            </a:r>
            <a:r>
              <a:rPr b="0" spc="-100"/>
              <a:t> </a:t>
            </a:r>
            <a:r>
              <a:rPr b="0"/>
              <a:t>has</a:t>
            </a:r>
            <a:r>
              <a:rPr b="0" spc="-100"/>
              <a:t> </a:t>
            </a:r>
            <a:r>
              <a:rPr b="0"/>
              <a:t>been</a:t>
            </a:r>
            <a:r>
              <a:rPr b="0" spc="-100"/>
              <a:t> pregnant.</a:t>
            </a:r>
            <a:endParaRPr sz="1400"/>
          </a:p>
          <a:p>
            <a:pPr marL="241300" indent="-228600">
              <a:lnSpc>
                <a:spcPct val="120000"/>
              </a:lnSpc>
              <a:spcBef>
                <a:spcPts val="14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Glucose</a:t>
            </a:r>
            <a:r>
              <a:rPr b="0"/>
              <a:t>:</a:t>
            </a:r>
            <a:r>
              <a:rPr b="0" spc="-100"/>
              <a:t> </a:t>
            </a:r>
            <a:r>
              <a:rPr b="0"/>
              <a:t>Plasma</a:t>
            </a:r>
            <a:r>
              <a:rPr b="0" spc="-100"/>
              <a:t> glucose </a:t>
            </a:r>
            <a:r>
              <a:rPr b="0"/>
              <a:t>concentration</a:t>
            </a:r>
            <a:r>
              <a:rPr b="0" spc="-100"/>
              <a:t> </a:t>
            </a:r>
            <a:r>
              <a:rPr b="0"/>
              <a:t>a</a:t>
            </a:r>
            <a:r>
              <a:rPr b="0" spc="-100"/>
              <a:t> </a:t>
            </a:r>
            <a:r>
              <a:rPr b="0"/>
              <a:t>2</a:t>
            </a:r>
            <a:r>
              <a:rPr b="0" spc="-100"/>
              <a:t> </a:t>
            </a:r>
            <a:r>
              <a:rPr b="0"/>
              <a:t>hours</a:t>
            </a:r>
            <a:r>
              <a:rPr b="0" spc="-100"/>
              <a:t> </a:t>
            </a:r>
            <a:r>
              <a:rPr b="0"/>
              <a:t>in</a:t>
            </a:r>
            <a:r>
              <a:rPr b="0" spc="-100"/>
              <a:t> </a:t>
            </a:r>
            <a:r>
              <a:rPr b="0"/>
              <a:t>an</a:t>
            </a:r>
            <a:r>
              <a:rPr b="0" spc="-100"/>
              <a:t> </a:t>
            </a:r>
            <a:r>
              <a:rPr b="0"/>
              <a:t>oral</a:t>
            </a:r>
            <a:r>
              <a:rPr b="0" spc="-100"/>
              <a:t> </a:t>
            </a:r>
            <a:r>
              <a:rPr b="0"/>
              <a:t>glucose</a:t>
            </a:r>
            <a:r>
              <a:rPr b="0" spc="-100"/>
              <a:t> </a:t>
            </a:r>
            <a:r>
              <a:rPr b="0"/>
              <a:t>tolerance</a:t>
            </a:r>
            <a:r>
              <a:rPr b="0" spc="-100"/>
              <a:t> test.</a:t>
            </a:r>
            <a:endParaRPr sz="1400"/>
          </a:p>
          <a:p>
            <a:pPr marL="241300" indent="-228600">
              <a:lnSpc>
                <a:spcPct val="120000"/>
              </a:lnSpc>
              <a:spcBef>
                <a:spcPts val="1300"/>
              </a:spcBef>
              <a:buClr>
                <a:schemeClr val="accent1"/>
              </a:buClr>
              <a:buSzPct val="100000"/>
              <a:buFont typeface="Arial"/>
              <a:buChar char="•"/>
              <a:tabLst>
                <a:tab pos="241300" algn="l"/>
              </a:tabLst>
              <a:defRPr b="1" spc="-100" sz="1300">
                <a:latin typeface="Times New Roman"/>
                <a:ea typeface="Times New Roman"/>
                <a:cs typeface="Times New Roman"/>
                <a:sym typeface="Times New Roman"/>
              </a:defRPr>
            </a:pPr>
            <a:r>
              <a:t>BloodPressure</a:t>
            </a:r>
            <a:r>
              <a:rPr b="0"/>
              <a:t>: </a:t>
            </a:r>
            <a:r>
              <a:rPr b="0" spc="0"/>
              <a:t>Diastolic</a:t>
            </a:r>
            <a:r>
              <a:rPr b="0"/>
              <a:t> </a:t>
            </a:r>
            <a:r>
              <a:rPr b="0" spc="0"/>
              <a:t>blood</a:t>
            </a:r>
            <a:r>
              <a:rPr b="0"/>
              <a:t> </a:t>
            </a:r>
            <a:r>
              <a:rPr b="0" spc="0"/>
              <a:t>pressure</a:t>
            </a:r>
            <a:r>
              <a:rPr b="0"/>
              <a:t> </a:t>
            </a:r>
            <a:r>
              <a:rPr b="0" spc="0"/>
              <a:t>(mm</a:t>
            </a:r>
            <a:r>
              <a:rPr b="0"/>
              <a:t> Hg).</a:t>
            </a:r>
            <a:endParaRPr spc="-10" sz="1400"/>
          </a:p>
          <a:p>
            <a:pPr marL="240665" indent="-228600">
              <a:lnSpc>
                <a:spcPct val="120000"/>
              </a:lnSpc>
              <a:spcBef>
                <a:spcPts val="1300"/>
              </a:spcBef>
              <a:buClr>
                <a:schemeClr val="accent1"/>
              </a:buClr>
              <a:buSzPct val="100000"/>
              <a:buFont typeface="Arial"/>
              <a:buChar char="•"/>
              <a:tabLst>
                <a:tab pos="228600" algn="l"/>
              </a:tabLst>
              <a:defRPr b="1" spc="-100" sz="1300">
                <a:latin typeface="Times New Roman"/>
                <a:ea typeface="Times New Roman"/>
                <a:cs typeface="Times New Roman"/>
                <a:sym typeface="Times New Roman"/>
              </a:defRPr>
            </a:pPr>
            <a:r>
              <a:t>SkinThickness</a:t>
            </a:r>
            <a:r>
              <a:rPr b="0"/>
              <a:t>: </a:t>
            </a:r>
            <a:r>
              <a:rPr b="0" spc="0"/>
              <a:t>Triceps </a:t>
            </a:r>
            <a:r>
              <a:rPr b="0"/>
              <a:t>skinfold</a:t>
            </a:r>
            <a:r>
              <a:rPr b="0" spc="0"/>
              <a:t> thickness </a:t>
            </a:r>
            <a:r>
              <a:rPr b="0"/>
              <a:t>(mm).</a:t>
            </a:r>
            <a:endParaRPr spc="-10" sz="1400"/>
          </a:p>
          <a:p>
            <a:pPr marL="241300" indent="-228600">
              <a:lnSpc>
                <a:spcPct val="12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Insulin</a:t>
            </a:r>
            <a:r>
              <a:rPr b="0"/>
              <a:t>:</a:t>
            </a:r>
            <a:r>
              <a:rPr b="0" spc="-100"/>
              <a:t> 2-</a:t>
            </a:r>
            <a:r>
              <a:rPr b="0"/>
              <a:t>Hour</a:t>
            </a:r>
            <a:r>
              <a:rPr b="0" spc="-100"/>
              <a:t> </a:t>
            </a:r>
            <a:r>
              <a:rPr b="0"/>
              <a:t>serum</a:t>
            </a:r>
            <a:r>
              <a:rPr b="0" spc="-100"/>
              <a:t> </a:t>
            </a:r>
            <a:r>
              <a:rPr b="0"/>
              <a:t>insulin</a:t>
            </a:r>
            <a:r>
              <a:rPr b="0" spc="-100"/>
              <a:t> </a:t>
            </a:r>
            <a:r>
              <a:rPr b="0"/>
              <a:t>(mu</a:t>
            </a:r>
            <a:r>
              <a:rPr b="0" spc="-100"/>
              <a:t> U/ml).</a:t>
            </a:r>
            <a:endParaRPr sz="1400"/>
          </a:p>
          <a:p>
            <a:pPr marL="241300" indent="-228600">
              <a:lnSpc>
                <a:spcPct val="12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BMI</a:t>
            </a:r>
            <a:r>
              <a:rPr b="0"/>
              <a:t>:</a:t>
            </a:r>
            <a:r>
              <a:rPr b="0" spc="-100"/>
              <a:t> </a:t>
            </a:r>
            <a:r>
              <a:rPr b="0"/>
              <a:t>Body</a:t>
            </a:r>
            <a:r>
              <a:rPr b="0" spc="-100"/>
              <a:t> </a:t>
            </a:r>
            <a:r>
              <a:rPr b="0"/>
              <a:t>mass</a:t>
            </a:r>
            <a:r>
              <a:rPr b="0" spc="-100"/>
              <a:t> </a:t>
            </a:r>
            <a:r>
              <a:rPr b="0"/>
              <a:t>index</a:t>
            </a:r>
            <a:r>
              <a:rPr b="0" spc="-100"/>
              <a:t> </a:t>
            </a:r>
            <a:r>
              <a:rPr b="0"/>
              <a:t>(weight</a:t>
            </a:r>
            <a:r>
              <a:rPr b="0" spc="-100"/>
              <a:t> </a:t>
            </a:r>
            <a:r>
              <a:rPr b="0"/>
              <a:t>in</a:t>
            </a:r>
            <a:r>
              <a:rPr b="0" spc="-100"/>
              <a:t> </a:t>
            </a:r>
            <a:r>
              <a:rPr b="0"/>
              <a:t>kg/(height</a:t>
            </a:r>
            <a:r>
              <a:rPr b="0" spc="-100"/>
              <a:t> </a:t>
            </a:r>
            <a:r>
              <a:rPr b="0"/>
              <a:t>in</a:t>
            </a:r>
            <a:r>
              <a:rPr b="0" spc="-100"/>
              <a:t> m)^2).</a:t>
            </a:r>
            <a:endParaRPr sz="1400"/>
          </a:p>
          <a:p>
            <a:pPr marL="240665" indent="-228600">
              <a:lnSpc>
                <a:spcPct val="120000"/>
              </a:lnSpc>
              <a:spcBef>
                <a:spcPts val="1400"/>
              </a:spcBef>
              <a:buClr>
                <a:schemeClr val="accent1"/>
              </a:buClr>
              <a:buSzPct val="100000"/>
              <a:buFont typeface="Arial"/>
              <a:buChar char="•"/>
              <a:tabLst>
                <a:tab pos="228600" algn="l"/>
              </a:tabLst>
              <a:defRPr b="1" spc="-100" sz="1300">
                <a:latin typeface="Times New Roman"/>
                <a:ea typeface="Times New Roman"/>
                <a:cs typeface="Times New Roman"/>
                <a:sym typeface="Times New Roman"/>
              </a:defRPr>
            </a:pPr>
            <a:r>
              <a:t>DiabetesPedigreeFunction</a:t>
            </a:r>
            <a:r>
              <a:rPr b="0"/>
              <a:t>: </a:t>
            </a:r>
            <a:r>
              <a:rPr b="0" spc="0"/>
              <a:t>A</a:t>
            </a:r>
            <a:r>
              <a:rPr b="0"/>
              <a:t> </a:t>
            </a:r>
            <a:r>
              <a:rPr b="0" spc="0"/>
              <a:t>function that</a:t>
            </a:r>
            <a:r>
              <a:rPr b="0"/>
              <a:t> </a:t>
            </a:r>
            <a:r>
              <a:rPr b="0" spc="0"/>
              <a:t>scores the</a:t>
            </a:r>
            <a:r>
              <a:rPr b="0"/>
              <a:t> </a:t>
            </a:r>
            <a:r>
              <a:rPr b="0" spc="0"/>
              <a:t>likelihood of diabetes based on family</a:t>
            </a:r>
            <a:r>
              <a:rPr b="0"/>
              <a:t> history.</a:t>
            </a:r>
            <a:endParaRPr spc="-10" sz="1400"/>
          </a:p>
          <a:p>
            <a:pPr marL="241300" indent="-228600">
              <a:lnSpc>
                <a:spcPct val="120000"/>
              </a:lnSpc>
              <a:spcBef>
                <a:spcPts val="1300"/>
              </a:spcBef>
              <a:buClr>
                <a:schemeClr val="accent1"/>
              </a:buClr>
              <a:buSzPct val="100000"/>
              <a:buFont typeface="Arial"/>
              <a:buChar char="•"/>
              <a:tabLst>
                <a:tab pos="241300" algn="l"/>
              </a:tabLst>
              <a:defRPr b="1" spc="-100" sz="1300">
                <a:latin typeface="Times New Roman"/>
                <a:ea typeface="Times New Roman"/>
                <a:cs typeface="Times New Roman"/>
                <a:sym typeface="Times New Roman"/>
              </a:defRPr>
            </a:pPr>
            <a:r>
              <a:t>Age</a:t>
            </a:r>
            <a:r>
              <a:rPr b="0"/>
              <a:t>: </a:t>
            </a:r>
            <a:r>
              <a:rPr b="0" spc="0"/>
              <a:t>Age</a:t>
            </a:r>
            <a:r>
              <a:rPr b="0"/>
              <a:t> </a:t>
            </a:r>
            <a:r>
              <a:rPr b="0" spc="0"/>
              <a:t>of</a:t>
            </a:r>
            <a:r>
              <a:rPr b="0"/>
              <a:t> </a:t>
            </a:r>
            <a:r>
              <a:rPr b="0" spc="0"/>
              <a:t>the</a:t>
            </a:r>
            <a:r>
              <a:rPr b="0"/>
              <a:t> </a:t>
            </a:r>
            <a:r>
              <a:rPr b="0" spc="0"/>
              <a:t>patient</a:t>
            </a:r>
            <a:r>
              <a:rPr b="0"/>
              <a:t> </a:t>
            </a:r>
            <a:r>
              <a:rPr b="0" spc="0"/>
              <a:t>in</a:t>
            </a:r>
            <a:r>
              <a:rPr b="0"/>
              <a:t> years.</a:t>
            </a:r>
            <a:endParaRPr spc="-10" sz="1400"/>
          </a:p>
          <a:p>
            <a:pPr marL="241300" indent="-228600">
              <a:lnSpc>
                <a:spcPct val="120000"/>
              </a:lnSpc>
              <a:spcBef>
                <a:spcPts val="1300"/>
              </a:spcBef>
              <a:buClr>
                <a:schemeClr val="accent1"/>
              </a:buClr>
              <a:buSzPct val="100000"/>
              <a:buFont typeface="Arial"/>
              <a:buChar char="•"/>
              <a:tabLst>
                <a:tab pos="241300" algn="l"/>
              </a:tabLst>
              <a:defRPr b="1" sz="1300">
                <a:latin typeface="Times New Roman"/>
                <a:ea typeface="Times New Roman"/>
                <a:cs typeface="Times New Roman"/>
                <a:sym typeface="Times New Roman"/>
              </a:defRPr>
            </a:pPr>
            <a:r>
              <a:t>Outcome</a:t>
            </a:r>
            <a:r>
              <a:rPr b="0"/>
              <a:t>:</a:t>
            </a:r>
            <a:r>
              <a:rPr b="0" spc="-100"/>
              <a:t> </a:t>
            </a:r>
            <a:r>
              <a:rPr b="0"/>
              <a:t>Binary</a:t>
            </a:r>
            <a:r>
              <a:rPr b="0" spc="-100"/>
              <a:t> </a:t>
            </a:r>
            <a:r>
              <a:rPr b="0"/>
              <a:t>variable</a:t>
            </a:r>
            <a:r>
              <a:rPr b="0" spc="-100"/>
              <a:t> </a:t>
            </a:r>
            <a:r>
              <a:rPr b="0"/>
              <a:t>(0</a:t>
            </a:r>
            <a:r>
              <a:rPr b="0" spc="-100"/>
              <a:t> </a:t>
            </a:r>
            <a:r>
              <a:rPr b="0"/>
              <a:t>or</a:t>
            </a:r>
            <a:r>
              <a:rPr b="0" spc="-100"/>
              <a:t> </a:t>
            </a:r>
            <a:r>
              <a:rPr b="0"/>
              <a:t>1)</a:t>
            </a:r>
            <a:r>
              <a:rPr b="0" spc="-100"/>
              <a:t> indicating </a:t>
            </a:r>
            <a:r>
              <a:rPr b="0"/>
              <a:t>whether</a:t>
            </a:r>
            <a:r>
              <a:rPr b="0" spc="-100"/>
              <a:t> </a:t>
            </a:r>
            <a:r>
              <a:rPr b="0"/>
              <a:t>the</a:t>
            </a:r>
            <a:r>
              <a:rPr b="0" spc="-100"/>
              <a:t> </a:t>
            </a:r>
            <a:r>
              <a:rPr b="0"/>
              <a:t>patient</a:t>
            </a:r>
            <a:r>
              <a:rPr b="0" spc="-100"/>
              <a:t> </a:t>
            </a:r>
            <a:r>
              <a:rPr b="0"/>
              <a:t>has</a:t>
            </a:r>
            <a:r>
              <a:rPr b="0" spc="-100"/>
              <a:t> diabetes.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F7F7F7"/>
            </a:gs>
            <a:gs pos="100000">
              <a:srgbClr val="D2D2D2"/>
            </a:gs>
          </a:gsLst>
          <a:path path="circle">
            <a:fillToRect l="50000" t="50000" r="50000" b="50000"/>
          </a:path>
        </a:gradFill>
      </p:bgPr>
    </p:bg>
    <p:spTree>
      <p:nvGrpSpPr>
        <p:cNvPr id="1" name=""/>
        <p:cNvGrpSpPr/>
        <p:nvPr/>
      </p:nvGrpSpPr>
      <p:grpSpPr>
        <a:xfrm>
          <a:off x="0" y="0"/>
          <a:ext cx="0" cy="0"/>
          <a:chOff x="0" y="0"/>
          <a:chExt cx="0" cy="0"/>
        </a:xfrm>
      </p:grpSpPr>
      <p:sp>
        <p:nvSpPr>
          <p:cNvPr id="137" name="Title 1"/>
          <p:cNvSpPr txBox="1"/>
          <p:nvPr>
            <p:ph type="ctrTitle"/>
          </p:nvPr>
        </p:nvSpPr>
        <p:spPr>
          <a:xfrm>
            <a:off x="4976636" y="992221"/>
            <a:ext cx="6247309" cy="4873558"/>
          </a:xfrm>
          <a:prstGeom prst="rect">
            <a:avLst/>
          </a:prstGeom>
        </p:spPr>
        <p:txBody>
          <a:bodyPr anchor="ctr"/>
          <a:lstStyle/>
          <a:p>
            <a:pPr>
              <a:defRPr sz="4800">
                <a:latin typeface="Times New Roman"/>
                <a:ea typeface="Times New Roman"/>
                <a:cs typeface="Times New Roman"/>
                <a:sym typeface="Times New Roman"/>
              </a:defRPr>
            </a:pPr>
            <a:r>
              <a:t>Features selection</a:t>
            </a:r>
            <a:br/>
          </a:p>
        </p:txBody>
      </p:sp>
      <p:sp>
        <p:nvSpPr>
          <p:cNvPr id="138" name="Subtitle 2"/>
          <p:cNvSpPr txBox="1"/>
          <p:nvPr>
            <p:ph type="subTitle" sz="quarter" idx="1"/>
          </p:nvPr>
        </p:nvSpPr>
        <p:spPr>
          <a:xfrm>
            <a:off x="968055" y="996609"/>
            <a:ext cx="3363902" cy="4864782"/>
          </a:xfrm>
          <a:prstGeom prst="rect">
            <a:avLst/>
          </a:prstGeom>
        </p:spPr>
        <p:txBody>
          <a:bodyPr anchor="ctr"/>
          <a:lstStyle/>
          <a:p>
            <a:pPr marR="5080" indent="12700" algn="r">
              <a:lnSpc>
                <a:spcPct val="110000"/>
              </a:lnSpc>
              <a:tabLst>
                <a:tab pos="355600" algn="l"/>
              </a:tabLst>
              <a:defRPr sz="2000">
                <a:solidFill>
                  <a:srgbClr val="0E2841"/>
                </a:solidFill>
                <a:latin typeface="Times New Roman"/>
                <a:ea typeface="Times New Roman"/>
                <a:cs typeface="Times New Roman"/>
                <a:sym typeface="Times New Roman"/>
              </a:defRPr>
            </a:pPr>
            <a:r>
              <a:t>Based on the dataset attributes, </a:t>
            </a:r>
            <a:r>
              <a:rPr spc="-100"/>
              <a:t>we </a:t>
            </a:r>
            <a:r>
              <a:t>selected</a:t>
            </a:r>
            <a:r>
              <a:rPr spc="100"/>
              <a:t> </a:t>
            </a:r>
            <a:r>
              <a:t>three</a:t>
            </a:r>
            <a:r>
              <a:rPr spc="100"/>
              <a:t> </a:t>
            </a:r>
            <a:r>
              <a:t>important features</a:t>
            </a:r>
            <a:r>
              <a:rPr spc="100"/>
              <a:t> </a:t>
            </a:r>
            <a:r>
              <a:rPr spc="-100"/>
              <a:t>for </a:t>
            </a:r>
            <a:r>
              <a:t>regression</a:t>
            </a:r>
            <a:r>
              <a:rPr spc="100"/>
              <a:t> </a:t>
            </a:r>
            <a:r>
              <a:rPr spc="-100"/>
              <a:t>analysis:  </a:t>
            </a:r>
            <a:r>
              <a:t>Glucose</a:t>
            </a:r>
            <a:r>
              <a:rPr spc="100"/>
              <a:t> </a:t>
            </a:r>
            <a:r>
              <a:t>–</a:t>
            </a:r>
            <a:r>
              <a:rPr spc="100"/>
              <a:t> </a:t>
            </a:r>
            <a:r>
              <a:t>Strongly</a:t>
            </a:r>
            <a:r>
              <a:rPr spc="100"/>
              <a:t> </a:t>
            </a:r>
            <a:r>
              <a:t>related </a:t>
            </a:r>
            <a:r>
              <a:rPr spc="-100"/>
              <a:t>to diabetes. </a:t>
            </a:r>
            <a:r>
              <a:t>BMI –</a:t>
            </a:r>
            <a:r>
              <a:rPr spc="-200"/>
              <a:t> </a:t>
            </a:r>
            <a:r>
              <a:t>A</a:t>
            </a:r>
            <a:r>
              <a:rPr spc="-200"/>
              <a:t> </a:t>
            </a:r>
            <a:r>
              <a:t>major factor </a:t>
            </a:r>
            <a:r>
              <a:rPr spc="-100"/>
              <a:t>influencing </a:t>
            </a:r>
            <a:r>
              <a:t>diabetes </a:t>
            </a:r>
            <a:r>
              <a:rPr spc="-100"/>
              <a:t>risk. </a:t>
            </a:r>
            <a:r>
              <a:t>Age</a:t>
            </a:r>
            <a:r>
              <a:rPr spc="100"/>
              <a:t> </a:t>
            </a:r>
            <a:r>
              <a:t>–</a:t>
            </a:r>
            <a:r>
              <a:rPr spc="100"/>
              <a:t> </a:t>
            </a:r>
            <a:r>
              <a:t>Older individuals are</a:t>
            </a:r>
            <a:r>
              <a:rPr spc="100"/>
              <a:t> </a:t>
            </a:r>
            <a:r>
              <a:rPr spc="-100"/>
              <a:t>more </a:t>
            </a:r>
            <a:r>
              <a:t>prone to</a:t>
            </a:r>
            <a:r>
              <a:rPr spc="100"/>
              <a:t> </a:t>
            </a:r>
            <a:r>
              <a:rPr spc="-100"/>
              <a:t>diabetes.</a:t>
            </a:r>
            <a:endParaRPr sz="2700"/>
          </a:p>
          <a:p>
            <a:pPr algn="r">
              <a:lnSpc>
                <a:spcPct val="110000"/>
              </a:lnSpc>
              <a:defRPr spc="-100" sz="2000">
                <a:solidFill>
                  <a:srgbClr val="0E2841"/>
                </a:solidFill>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F7F7F7"/>
            </a:gs>
            <a:gs pos="100000">
              <a:srgbClr val="D2D2D2"/>
            </a:gs>
          </a:gsLst>
          <a:path path="circle">
            <a:fillToRect l="50000" t="50000" r="50000" b="50000"/>
          </a:path>
        </a:gradFill>
      </p:bgPr>
    </p:bg>
    <p:spTree>
      <p:nvGrpSpPr>
        <p:cNvPr id="1" name=""/>
        <p:cNvGrpSpPr/>
        <p:nvPr/>
      </p:nvGrpSpPr>
      <p:grpSpPr>
        <a:xfrm>
          <a:off x="0" y="0"/>
          <a:ext cx="0" cy="0"/>
          <a:chOff x="0" y="0"/>
          <a:chExt cx="0" cy="0"/>
        </a:xfrm>
      </p:grpSpPr>
      <p:sp>
        <p:nvSpPr>
          <p:cNvPr id="140" name="Title 1"/>
          <p:cNvSpPr txBox="1"/>
          <p:nvPr>
            <p:ph type="title"/>
          </p:nvPr>
        </p:nvSpPr>
        <p:spPr>
          <a:xfrm>
            <a:off x="127000" y="365125"/>
            <a:ext cx="11226801" cy="1325563"/>
          </a:xfrm>
          <a:prstGeom prst="rect">
            <a:avLst/>
          </a:prstGeom>
        </p:spPr>
        <p:txBody>
          <a:bodyPr/>
          <a:lstStyle/>
          <a:p>
            <a:pPr>
              <a:defRPr cap="all" sz="2000">
                <a:solidFill>
                  <a:srgbClr val="0D0D0D"/>
                </a:solidFill>
                <a:latin typeface="Times New Roman"/>
                <a:ea typeface="Times New Roman"/>
                <a:cs typeface="Times New Roman"/>
                <a:sym typeface="Times New Roman"/>
              </a:defRPr>
            </a:pPr>
            <a:r>
              <a:t>Step</a:t>
            </a:r>
            <a:r>
              <a:rPr spc="-100"/>
              <a:t> </a:t>
            </a:r>
            <a:r>
              <a:t>2: Find</a:t>
            </a:r>
            <a:r>
              <a:rPr spc="-100"/>
              <a:t> </a:t>
            </a:r>
            <a:r>
              <a:t>Feature</a:t>
            </a:r>
            <a:r>
              <a:rPr spc="-100"/>
              <a:t> Importance </a:t>
            </a:r>
            <a:r>
              <a:t>Using</a:t>
            </a:r>
            <a:r>
              <a:rPr spc="-100"/>
              <a:t> </a:t>
            </a:r>
            <a:r>
              <a:t>Linear</a:t>
            </a:r>
            <a:r>
              <a:rPr spc="-100"/>
              <a:t> Regression </a:t>
            </a:r>
            <a:r>
              <a:t>With</a:t>
            </a:r>
            <a:r>
              <a:rPr spc="-100"/>
              <a:t> `read.csv()` </a:t>
            </a:r>
            <a:r>
              <a:t>and</a:t>
            </a:r>
            <a:r>
              <a:rPr spc="-100"/>
              <a:t> `fread()`.</a:t>
            </a:r>
            <a:br>
              <a:rPr spc="-100"/>
            </a:br>
          </a:p>
        </p:txBody>
      </p:sp>
      <p:sp>
        <p:nvSpPr>
          <p:cNvPr id="141" name="Content Placeholder 2"/>
          <p:cNvSpPr txBox="1"/>
          <p:nvPr>
            <p:ph type="body" sz="half" idx="1"/>
          </p:nvPr>
        </p:nvSpPr>
        <p:spPr>
          <a:xfrm>
            <a:off x="812451" y="1360469"/>
            <a:ext cx="5181601" cy="5613401"/>
          </a:xfrm>
          <a:prstGeom prst="rect">
            <a:avLst/>
          </a:prstGeom>
        </p:spPr>
        <p:txBody>
          <a:bodyPr/>
          <a:lstStyle/>
          <a:p>
            <a:pPr>
              <a:defRPr cap="all" sz="2000">
                <a:latin typeface="Times New Roman"/>
                <a:ea typeface="Times New Roman"/>
                <a:cs typeface="Times New Roman"/>
                <a:sym typeface="Times New Roman"/>
              </a:defRPr>
            </a:pPr>
            <a:r>
              <a:t>Interpretation</a:t>
            </a:r>
            <a:r>
              <a:rPr spc="-100"/>
              <a:t> : </a:t>
            </a:r>
            <a:endParaRPr spc="-100"/>
          </a:p>
          <a:p>
            <a:pPr marL="0" indent="0">
              <a:buSzTx/>
              <a:buNone/>
              <a:defRPr cap="all" spc="-100" sz="2000">
                <a:latin typeface="Times New Roman"/>
                <a:ea typeface="Times New Roman"/>
                <a:cs typeface="Times New Roman"/>
                <a:sym typeface="Times New Roman"/>
              </a:defRPr>
            </a:pPr>
            <a:r>
              <a:t>	</a:t>
            </a:r>
            <a:r>
              <a:rPr cap="none" spc="0"/>
              <a:t>The</a:t>
            </a:r>
            <a:r>
              <a:rPr cap="none" spc="200"/>
              <a:t> </a:t>
            </a:r>
            <a:r>
              <a:rPr cap="none" spc="0"/>
              <a:t>statistical</a:t>
            </a:r>
            <a:r>
              <a:rPr cap="none" spc="200"/>
              <a:t> </a:t>
            </a:r>
            <a:r>
              <a:rPr cap="none" spc="0"/>
              <a:t>analysis</a:t>
            </a:r>
            <a:r>
              <a:rPr cap="none" spc="200"/>
              <a:t> </a:t>
            </a:r>
            <a:r>
              <a:rPr cap="none" spc="0"/>
              <a:t>shows</a:t>
            </a:r>
            <a:r>
              <a:rPr cap="none" spc="200"/>
              <a:t> </a:t>
            </a:r>
            <a:r>
              <a:rPr cap="none" spc="0"/>
              <a:t>Glucose,</a:t>
            </a:r>
            <a:r>
              <a:rPr cap="none" spc="200"/>
              <a:t> </a:t>
            </a:r>
            <a:r>
              <a:rPr cap="none" spc="0"/>
              <a:t>BMI</a:t>
            </a:r>
            <a:r>
              <a:rPr cap="none" spc="200"/>
              <a:t> </a:t>
            </a:r>
            <a:r>
              <a:rPr cap="none" spc="0"/>
              <a:t>and</a:t>
            </a:r>
            <a:r>
              <a:rPr cap="none" spc="200"/>
              <a:t> </a:t>
            </a:r>
            <a:r>
              <a:rPr cap="none" spc="0"/>
              <a:t>Age</a:t>
            </a:r>
            <a:r>
              <a:rPr cap="none" spc="200"/>
              <a:t> </a:t>
            </a:r>
            <a:r>
              <a:rPr cap="none" spc="0"/>
              <a:t>as</a:t>
            </a:r>
            <a:r>
              <a:rPr cap="none" spc="200"/>
              <a:t> </a:t>
            </a:r>
            <a:r>
              <a:rPr cap="none" spc="0"/>
              <a:t>important</a:t>
            </a:r>
            <a:r>
              <a:rPr cap="none" spc="200"/>
              <a:t> </a:t>
            </a:r>
            <a:r>
              <a:rPr cap="none" spc="0"/>
              <a:t>predictors</a:t>
            </a:r>
            <a:r>
              <a:rPr cap="none" spc="200"/>
              <a:t> </a:t>
            </a:r>
            <a:r>
              <a:rPr cap="none" spc="0"/>
              <a:t>of</a:t>
            </a:r>
            <a:r>
              <a:rPr cap="none" spc="200"/>
              <a:t> </a:t>
            </a:r>
            <a:r>
              <a:rPr cap="none" spc="0"/>
              <a:t>the</a:t>
            </a:r>
            <a:r>
              <a:rPr cap="none" spc="200"/>
              <a:t> </a:t>
            </a:r>
            <a:r>
              <a:rPr cap="none" spc="0"/>
              <a:t>outcome</a:t>
            </a:r>
            <a:r>
              <a:rPr cap="none" spc="200"/>
              <a:t> </a:t>
            </a:r>
            <a:r>
              <a:rPr cap="none"/>
              <a:t>which </a:t>
            </a:r>
            <a:r>
              <a:rPr cap="none" spc="0"/>
              <a:t>leads</a:t>
            </a:r>
            <a:r>
              <a:rPr cap="none" spc="300"/>
              <a:t> </a:t>
            </a:r>
            <a:r>
              <a:rPr cap="none" spc="0"/>
              <a:t>to</a:t>
            </a:r>
            <a:r>
              <a:rPr cap="none" spc="300"/>
              <a:t> </a:t>
            </a:r>
            <a:r>
              <a:rPr cap="none" spc="0"/>
              <a:t>higher</a:t>
            </a:r>
            <a:r>
              <a:rPr cap="none" spc="300"/>
              <a:t> </a:t>
            </a:r>
            <a:r>
              <a:rPr cap="none" spc="0"/>
              <a:t>outcome</a:t>
            </a:r>
            <a:r>
              <a:rPr cap="none" spc="300"/>
              <a:t> </a:t>
            </a:r>
            <a:r>
              <a:rPr cap="none" spc="0"/>
              <a:t>values</a:t>
            </a:r>
            <a:r>
              <a:rPr cap="none" spc="300"/>
              <a:t> </a:t>
            </a:r>
            <a:r>
              <a:rPr cap="none" spc="0"/>
              <a:t>(p</a:t>
            </a:r>
            <a:r>
              <a:rPr cap="none" spc="300"/>
              <a:t> </a:t>
            </a:r>
            <a:r>
              <a:rPr cap="none" spc="0"/>
              <a:t>&lt;</a:t>
            </a:r>
            <a:r>
              <a:rPr cap="none" spc="300"/>
              <a:t> </a:t>
            </a:r>
            <a:r>
              <a:rPr cap="none" spc="0"/>
              <a:t>0.001).</a:t>
            </a:r>
            <a:r>
              <a:rPr cap="none" spc="300"/>
              <a:t> </a:t>
            </a:r>
            <a:r>
              <a:rPr cap="none" spc="0"/>
              <a:t>Glucose</a:t>
            </a:r>
            <a:r>
              <a:rPr cap="none" spc="300"/>
              <a:t> </a:t>
            </a:r>
            <a:r>
              <a:rPr cap="none" spc="0"/>
              <a:t>demonstrates</a:t>
            </a:r>
            <a:r>
              <a:rPr cap="none" spc="300"/>
              <a:t> </a:t>
            </a:r>
            <a:r>
              <a:rPr cap="none" spc="0"/>
              <a:t>the</a:t>
            </a:r>
            <a:r>
              <a:rPr cap="none" spc="300"/>
              <a:t> </a:t>
            </a:r>
            <a:r>
              <a:rPr cap="none" spc="0"/>
              <a:t>strongest</a:t>
            </a:r>
            <a:r>
              <a:rPr cap="none" spc="300"/>
              <a:t> </a:t>
            </a:r>
            <a:r>
              <a:rPr cap="none" spc="0"/>
              <a:t>connection</a:t>
            </a:r>
            <a:r>
              <a:rPr cap="none" spc="300"/>
              <a:t> </a:t>
            </a:r>
            <a:r>
              <a:rPr cap="none" spc="0"/>
              <a:t>to</a:t>
            </a:r>
            <a:r>
              <a:rPr cap="none" spc="300"/>
              <a:t> </a:t>
            </a:r>
            <a:r>
              <a:rPr cap="none"/>
              <a:t>the </a:t>
            </a:r>
            <a:r>
              <a:rPr cap="none" spc="0"/>
              <a:t>outcome</a:t>
            </a:r>
            <a:r>
              <a:rPr cap="none"/>
              <a:t> </a:t>
            </a:r>
            <a:r>
              <a:rPr cap="none" spc="0"/>
              <a:t>than</a:t>
            </a:r>
            <a:r>
              <a:rPr cap="none"/>
              <a:t> </a:t>
            </a:r>
            <a:r>
              <a:rPr cap="none" spc="0"/>
              <a:t>BMI</a:t>
            </a:r>
            <a:r>
              <a:rPr cap="none"/>
              <a:t> </a:t>
            </a:r>
            <a:r>
              <a:rPr cap="none" spc="0"/>
              <a:t>with</a:t>
            </a:r>
            <a:r>
              <a:rPr cap="none"/>
              <a:t> </a:t>
            </a:r>
            <a:r>
              <a:rPr cap="none" spc="0"/>
              <a:t>Age</a:t>
            </a:r>
            <a:r>
              <a:rPr cap="none"/>
              <a:t> </a:t>
            </a:r>
            <a:r>
              <a:rPr cap="none" spc="0"/>
              <a:t>operating</a:t>
            </a:r>
            <a:r>
              <a:rPr cap="none"/>
              <a:t> </a:t>
            </a:r>
            <a:r>
              <a:rPr cap="none" spc="0"/>
              <a:t>through</a:t>
            </a:r>
            <a:r>
              <a:rPr cap="none"/>
              <a:t> </a:t>
            </a:r>
            <a:r>
              <a:rPr cap="none" spc="0"/>
              <a:t>a</a:t>
            </a:r>
            <a:r>
              <a:rPr cap="none"/>
              <a:t> </a:t>
            </a:r>
            <a:r>
              <a:rPr cap="none" spc="0"/>
              <a:t>lesser</a:t>
            </a:r>
            <a:r>
              <a:rPr cap="none"/>
              <a:t> </a:t>
            </a:r>
            <a:r>
              <a:rPr cap="none" spc="0"/>
              <a:t>degree.</a:t>
            </a:r>
            <a:r>
              <a:rPr cap="none"/>
              <a:t> </a:t>
            </a:r>
            <a:r>
              <a:rPr cap="none" spc="0"/>
              <a:t>Other</a:t>
            </a:r>
            <a:r>
              <a:rPr cap="none"/>
              <a:t> </a:t>
            </a:r>
            <a:r>
              <a:rPr cap="none" spc="0"/>
              <a:t>factors</a:t>
            </a:r>
            <a:r>
              <a:rPr cap="none"/>
              <a:t> </a:t>
            </a:r>
            <a:r>
              <a:rPr cap="none" spc="0"/>
              <a:t>besides</a:t>
            </a:r>
            <a:r>
              <a:rPr cap="none"/>
              <a:t> </a:t>
            </a:r>
            <a:r>
              <a:rPr cap="none" spc="0"/>
              <a:t>the</a:t>
            </a:r>
            <a:r>
              <a:rPr cap="none"/>
              <a:t> </a:t>
            </a:r>
            <a:r>
              <a:rPr cap="none" spc="0"/>
              <a:t>model </a:t>
            </a:r>
            <a:r>
              <a:rPr cap="none"/>
              <a:t>variables </a:t>
            </a:r>
            <a:r>
              <a:rPr cap="none" spc="0"/>
              <a:t>account for 73% of the outcome variation (R² = 0.2709). The research model</a:t>
            </a:r>
            <a:r>
              <a:rPr cap="none" spc="100"/>
              <a:t> </a:t>
            </a:r>
            <a:r>
              <a:rPr cap="none" spc="0"/>
              <a:t>demonstrates </a:t>
            </a:r>
            <a:r>
              <a:rPr cap="none"/>
              <a:t>outstanding </a:t>
            </a:r>
            <a:r>
              <a:rPr cap="none" spc="0"/>
              <a:t>importance</a:t>
            </a:r>
            <a:r>
              <a:rPr cap="none"/>
              <a:t> </a:t>
            </a:r>
            <a:r>
              <a:rPr cap="none" spc="0"/>
              <a:t>(p</a:t>
            </a:r>
            <a:r>
              <a:rPr cap="none"/>
              <a:t> </a:t>
            </a:r>
            <a:r>
              <a:rPr cap="none" spc="0"/>
              <a:t>&lt; 0.001) since</a:t>
            </a:r>
            <a:r>
              <a:rPr cap="none"/>
              <a:t> </a:t>
            </a:r>
            <a:r>
              <a:rPr cap="none" spc="0"/>
              <a:t>it confirms that these</a:t>
            </a:r>
            <a:r>
              <a:rPr cap="none"/>
              <a:t> </a:t>
            </a:r>
            <a:r>
              <a:rPr cap="none" spc="0"/>
              <a:t>variables represent</a:t>
            </a:r>
            <a:r>
              <a:rPr cap="none"/>
              <a:t> </a:t>
            </a:r>
            <a:r>
              <a:rPr cap="none" spc="0"/>
              <a:t>key factors. The results show</a:t>
            </a:r>
            <a:r>
              <a:rPr cap="none"/>
              <a:t> that </a:t>
            </a:r>
            <a:r>
              <a:rPr cap="none" spc="0"/>
              <a:t>Glucose,</a:t>
            </a:r>
            <a:r>
              <a:rPr cap="none"/>
              <a:t> </a:t>
            </a:r>
            <a:r>
              <a:rPr cap="none" spc="0"/>
              <a:t>BMI and Age</a:t>
            </a:r>
            <a:r>
              <a:rPr cap="none"/>
              <a:t> </a:t>
            </a:r>
            <a:r>
              <a:rPr cap="none" spc="0"/>
              <a:t>variables</a:t>
            </a:r>
            <a:r>
              <a:rPr cap="none"/>
              <a:t> </a:t>
            </a:r>
            <a:r>
              <a:rPr cap="none" spc="0"/>
              <a:t>together</a:t>
            </a:r>
            <a:r>
              <a:rPr cap="none"/>
              <a:t> </a:t>
            </a:r>
            <a:r>
              <a:rPr cap="none" spc="0"/>
              <a:t>influence</a:t>
            </a:r>
            <a:r>
              <a:rPr cap="none"/>
              <a:t> </a:t>
            </a:r>
            <a:r>
              <a:rPr cap="none" spc="0"/>
              <a:t>the</a:t>
            </a:r>
            <a:r>
              <a:rPr cap="none"/>
              <a:t> </a:t>
            </a:r>
            <a:r>
              <a:rPr cap="none" spc="0"/>
              <a:t>outcome</a:t>
            </a:r>
            <a:r>
              <a:rPr cap="none"/>
              <a:t> </a:t>
            </a:r>
            <a:r>
              <a:rPr cap="none" spc="0"/>
              <a:t>to</a:t>
            </a:r>
            <a:r>
              <a:rPr cap="none"/>
              <a:t> </a:t>
            </a:r>
            <a:r>
              <a:rPr cap="none" spc="0"/>
              <a:t>increase</a:t>
            </a:r>
            <a:r>
              <a:rPr cap="none"/>
              <a:t> </a:t>
            </a:r>
            <a:r>
              <a:rPr cap="none" spc="0"/>
              <a:t>when</a:t>
            </a:r>
            <a:r>
              <a:rPr cap="none"/>
              <a:t> </a:t>
            </a:r>
            <a:r>
              <a:rPr cap="none" spc="0"/>
              <a:t>their</a:t>
            </a:r>
            <a:r>
              <a:rPr cap="none"/>
              <a:t> </a:t>
            </a:r>
            <a:r>
              <a:rPr cap="none" spc="0"/>
              <a:t>individual</a:t>
            </a:r>
            <a:r>
              <a:rPr cap="none"/>
              <a:t> values </a:t>
            </a:r>
            <a:r>
              <a:rPr cap="none" spc="0"/>
              <a:t>are elevated.</a:t>
            </a:r>
            <a:r>
              <a:rPr cap="none" spc="100"/>
              <a:t> </a:t>
            </a:r>
            <a:r>
              <a:rPr cap="none" spc="0"/>
              <a:t>Both read.csv() and</a:t>
            </a:r>
            <a:r>
              <a:rPr cap="none" spc="100"/>
              <a:t> </a:t>
            </a:r>
            <a:r>
              <a:rPr cap="none" spc="0"/>
              <a:t>fread() yielded</a:t>
            </a:r>
            <a:r>
              <a:rPr cap="none" spc="100"/>
              <a:t> </a:t>
            </a:r>
            <a:r>
              <a:rPr cap="none" spc="0"/>
              <a:t>identical results</a:t>
            </a:r>
            <a:r>
              <a:rPr cap="none" spc="100"/>
              <a:t> </a:t>
            </a:r>
            <a:r>
              <a:rPr cap="none" spc="0"/>
              <a:t>when handling this</a:t>
            </a:r>
            <a:r>
              <a:rPr cap="none" spc="100"/>
              <a:t> </a:t>
            </a:r>
            <a:r>
              <a:rPr cap="none" spc="0"/>
              <a:t>dataset.</a:t>
            </a:r>
          </a:p>
        </p:txBody>
      </p:sp>
      <p:grpSp>
        <p:nvGrpSpPr>
          <p:cNvPr id="145" name="object 3"/>
          <p:cNvGrpSpPr/>
          <p:nvPr/>
        </p:nvGrpSpPr>
        <p:grpSpPr>
          <a:xfrm>
            <a:off x="6510866" y="1092200"/>
            <a:ext cx="5427134" cy="5251133"/>
            <a:chOff x="0" y="0"/>
            <a:chExt cx="5427133" cy="5251132"/>
          </a:xfrm>
        </p:grpSpPr>
        <p:sp>
          <p:nvSpPr>
            <p:cNvPr id="142" name="object 4"/>
            <p:cNvSpPr/>
            <p:nvPr/>
          </p:nvSpPr>
          <p:spPr>
            <a:xfrm>
              <a:off x="542299" y="1123272"/>
              <a:ext cx="451524" cy="1"/>
            </a:xfrm>
            <a:prstGeom prst="line">
              <a:avLst/>
            </a:prstGeom>
            <a:noFill/>
            <a:ln w="31750" cap="flat">
              <a:solidFill>
                <a:srgbClr val="000000"/>
              </a:solidFill>
              <a:prstDash val="solid"/>
              <a:round/>
            </a:ln>
            <a:effectLst/>
          </p:spPr>
          <p:txBody>
            <a:bodyPr wrap="square" lIns="45719" tIns="45719" rIns="45719" bIns="45719" numCol="1" anchor="t">
              <a:noAutofit/>
            </a:bodyPr>
            <a:lstStyle/>
            <a:p>
              <a:pPr/>
            </a:p>
          </p:txBody>
        </p:sp>
        <p:pic>
          <p:nvPicPr>
            <p:cNvPr id="143" name="object 5" descr="object 5"/>
            <p:cNvPicPr>
              <a:picLocks noChangeAspect="1"/>
            </p:cNvPicPr>
            <p:nvPr/>
          </p:nvPicPr>
          <p:blipFill>
            <a:blip r:embed="rId2">
              <a:extLst/>
            </a:blip>
            <a:stretch>
              <a:fillRect/>
            </a:stretch>
          </p:blipFill>
          <p:spPr>
            <a:xfrm>
              <a:off x="-1" y="56871"/>
              <a:ext cx="2664875" cy="5184783"/>
            </a:xfrm>
            <a:prstGeom prst="rect">
              <a:avLst/>
            </a:prstGeom>
            <a:ln w="12700" cap="flat">
              <a:noFill/>
              <a:miter lim="400000"/>
            </a:ln>
            <a:effectLst/>
          </p:spPr>
        </p:pic>
        <p:pic>
          <p:nvPicPr>
            <p:cNvPr id="144" name="object 6" descr="object 6"/>
            <p:cNvPicPr>
              <a:picLocks noChangeAspect="1"/>
            </p:cNvPicPr>
            <p:nvPr/>
          </p:nvPicPr>
          <p:blipFill>
            <a:blip r:embed="rId3">
              <a:extLst/>
            </a:blip>
            <a:stretch>
              <a:fillRect/>
            </a:stretch>
          </p:blipFill>
          <p:spPr>
            <a:xfrm>
              <a:off x="2049562" y="0"/>
              <a:ext cx="3377572" cy="5251133"/>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itle 1"/>
          <p:cNvSpPr txBox="1"/>
          <p:nvPr>
            <p:ph type="title"/>
          </p:nvPr>
        </p:nvSpPr>
        <p:spPr>
          <a:xfrm>
            <a:off x="0" y="-2"/>
            <a:ext cx="10701867" cy="1825626"/>
          </a:xfrm>
          <a:prstGeom prst="rect">
            <a:avLst/>
          </a:prstGeom>
        </p:spPr>
        <p:txBody>
          <a:bodyPr/>
          <a:lstStyle/>
          <a:p>
            <a:pPr indent="128904">
              <a:lnSpc>
                <a:spcPts val="1500"/>
              </a:lnSpc>
              <a:spcBef>
                <a:spcPts val="100"/>
              </a:spcBef>
              <a:defRPr sz="2400">
                <a:solidFill>
                  <a:srgbClr val="0D0D0D"/>
                </a:solidFill>
                <a:latin typeface="Times New Roman"/>
                <a:ea typeface="Times New Roman"/>
                <a:cs typeface="Times New Roman"/>
                <a:sym typeface="Times New Roman"/>
              </a:defRPr>
            </a:pPr>
            <a:r>
              <a:t>Step</a:t>
            </a:r>
            <a:r>
              <a:rPr spc="-100"/>
              <a:t> </a:t>
            </a:r>
            <a:r>
              <a:t>3:</a:t>
            </a:r>
            <a:r>
              <a:rPr spc="-100"/>
              <a:t> </a:t>
            </a:r>
            <a:r>
              <a:t>Profiling</a:t>
            </a:r>
            <a:r>
              <a:rPr spc="-100"/>
              <a:t> </a:t>
            </a:r>
            <a:r>
              <a:t>for</a:t>
            </a:r>
            <a:r>
              <a:rPr spc="-100"/>
              <a:t> </a:t>
            </a:r>
            <a:r>
              <a:t>Performance</a:t>
            </a:r>
            <a:r>
              <a:rPr spc="-100"/>
              <a:t> Optimization </a:t>
            </a:r>
            <a:r>
              <a:t>Profiling</a:t>
            </a:r>
            <a:r>
              <a:rPr spc="-100"/>
              <a:t> </a:t>
            </a:r>
            <a:r>
              <a:t>helps</a:t>
            </a:r>
            <a:r>
              <a:rPr spc="-100"/>
              <a:t> </a:t>
            </a:r>
            <a:r>
              <a:t>identify</a:t>
            </a:r>
            <a:br/>
            <a:br/>
            <a:r>
              <a:rPr spc="-100"/>
              <a:t> </a:t>
            </a:r>
            <a:r>
              <a:t>bottlenecks</a:t>
            </a:r>
            <a:r>
              <a:rPr spc="-100"/>
              <a:t> </a:t>
            </a:r>
            <a:r>
              <a:t>in</a:t>
            </a:r>
            <a:r>
              <a:rPr spc="-100"/>
              <a:t> </a:t>
            </a:r>
            <a:r>
              <a:t>execution</a:t>
            </a:r>
            <a:r>
              <a:rPr spc="-100"/>
              <a:t> </a:t>
            </a:r>
            <a:r>
              <a:t>time.</a:t>
            </a:r>
            <a:r>
              <a:rPr spc="-100"/>
              <a:t>We </a:t>
            </a:r>
            <a:r>
              <a:t>use</a:t>
            </a:r>
            <a:r>
              <a:rPr spc="-100"/>
              <a:t> </a:t>
            </a:r>
            <a:r>
              <a:t>`system.time()`</a:t>
            </a:r>
            <a:r>
              <a:rPr spc="-100"/>
              <a:t> </a:t>
            </a:r>
            <a:r>
              <a:t>to</a:t>
            </a:r>
            <a:r>
              <a:rPr spc="-100"/>
              <a:t> </a:t>
            </a:r>
            <a:r>
              <a:t>compare</a:t>
            </a:r>
            <a:r>
              <a:rPr spc="-100"/>
              <a:t> </a:t>
            </a:r>
            <a:r>
              <a:t>the</a:t>
            </a:r>
            <a:r>
              <a:rPr spc="-100"/>
              <a:t> </a:t>
            </a:r>
            <a:r>
              <a:t>two</a:t>
            </a:r>
            <a:r>
              <a:rPr spc="-100"/>
              <a:t> methods.</a:t>
            </a:r>
            <a:br>
              <a:rPr spc="-100"/>
            </a:br>
            <a:br>
              <a:rPr spc="-100"/>
            </a:br>
          </a:p>
        </p:txBody>
      </p:sp>
      <p:grpSp>
        <p:nvGrpSpPr>
          <p:cNvPr id="150" name="Content Placeholder 3"/>
          <p:cNvGrpSpPr/>
          <p:nvPr/>
        </p:nvGrpSpPr>
        <p:grpSpPr>
          <a:xfrm>
            <a:off x="491066" y="2010878"/>
            <a:ext cx="5601418" cy="2652142"/>
            <a:chOff x="0" y="0"/>
            <a:chExt cx="5601416" cy="2652141"/>
          </a:xfrm>
        </p:grpSpPr>
        <p:sp>
          <p:nvSpPr>
            <p:cNvPr id="148" name="Line"/>
            <p:cNvSpPr/>
            <p:nvPr/>
          </p:nvSpPr>
          <p:spPr>
            <a:xfrm>
              <a:off x="0" y="0"/>
              <a:ext cx="5601417" cy="0"/>
            </a:xfrm>
            <a:prstGeom prst="line">
              <a:avLst/>
            </a:prstGeom>
            <a:solidFill>
              <a:schemeClr val="accent1"/>
            </a:solidFill>
            <a:ln w="19050" cap="flat">
              <a:solidFill>
                <a:schemeClr val="accent1"/>
              </a:solidFill>
              <a:prstDash val="solid"/>
              <a:miter lim="800000"/>
            </a:ln>
            <a:effectLst/>
          </p:spPr>
          <p:txBody>
            <a:bodyPr wrap="square" lIns="45719" tIns="45719" rIns="45719" bIns="45719" numCol="1" anchor="t">
              <a:noAutofit/>
            </a:bodyPr>
            <a:lstStyle/>
            <a:p>
              <a:pPr/>
            </a:p>
          </p:txBody>
        </p:sp>
        <p:sp>
          <p:nvSpPr>
            <p:cNvPr id="149" name="Interpretation:…"/>
            <p:cNvSpPr txBox="1"/>
            <p:nvPr/>
          </p:nvSpPr>
          <p:spPr>
            <a:xfrm>
              <a:off x="0" y="0"/>
              <a:ext cx="5601416" cy="26521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t">
              <a:spAutoFit/>
            </a:bodyPr>
            <a:lstStyle/>
            <a:p>
              <a:pPr defTabSz="889000">
                <a:lnSpc>
                  <a:spcPct val="90000"/>
                </a:lnSpc>
                <a:spcBef>
                  <a:spcPts val="800"/>
                </a:spcBef>
                <a:defRPr sz="2000">
                  <a:latin typeface="Times New Roman"/>
                  <a:ea typeface="Times New Roman"/>
                  <a:cs typeface="Times New Roman"/>
                  <a:sym typeface="Times New Roman"/>
                </a:defRPr>
              </a:pPr>
              <a:r>
                <a:t>Interpretation: </a:t>
              </a:r>
              <a:endParaRPr sz="2800"/>
            </a:p>
            <a:p>
              <a:pPr defTabSz="889000">
                <a:lnSpc>
                  <a:spcPct val="90000"/>
                </a:lnSpc>
                <a:spcBef>
                  <a:spcPts val="800"/>
                </a:spcBef>
                <a:defRPr sz="2000">
                  <a:latin typeface="Times New Roman"/>
                  <a:ea typeface="Times New Roman"/>
                  <a:cs typeface="Times New Roman"/>
                  <a:sym typeface="Times New Roman"/>
                </a:defRPr>
              </a:pPr>
              <a:r>
                <a:t>Looking	 </a:t>
              </a:r>
              <a:r>
                <a:rPr spc="-25"/>
                <a:t>at the </a:t>
              </a:r>
              <a:r>
                <a:t>system.time() measurements: fread() </a:t>
              </a:r>
              <a:r>
                <a:rPr spc="-19"/>
                <a:t>shows </a:t>
              </a:r>
              <a:r>
                <a:t>slightly faster data reading</a:t>
              </a:r>
              <a:r>
                <a:rPr spc="-39"/>
                <a:t> </a:t>
              </a:r>
              <a:r>
                <a:rPr spc="-9"/>
                <a:t>times. </a:t>
              </a:r>
              <a:r>
                <a:t>Reads data</a:t>
              </a:r>
              <a:r>
                <a:rPr spc="159"/>
                <a:t> </a:t>
              </a:r>
              <a:r>
                <a:t>in</a:t>
              </a:r>
              <a:r>
                <a:rPr spc="208"/>
                <a:t> </a:t>
              </a:r>
              <a:r>
                <a:t>0.001</a:t>
              </a:r>
              <a:r>
                <a:rPr spc="164"/>
                <a:t> </a:t>
              </a:r>
              <a:r>
                <a:t>seconds</a:t>
              </a:r>
              <a:r>
                <a:rPr spc="180"/>
                <a:t> </a:t>
              </a:r>
              <a:r>
                <a:rPr spc="-25"/>
                <a:t>vs </a:t>
              </a:r>
              <a:r>
                <a:t>0.002</a:t>
              </a:r>
              <a:r>
                <a:rPr spc="-39"/>
                <a:t> </a:t>
              </a:r>
              <a:r>
                <a:t>seconds</a:t>
              </a:r>
              <a:r>
                <a:rPr spc="-25"/>
                <a:t> </a:t>
              </a:r>
              <a:r>
                <a:t>for </a:t>
              </a:r>
              <a:r>
                <a:rPr spc="-9"/>
                <a:t>read.csv(). </a:t>
              </a:r>
              <a:r>
                <a:t>Both</a:t>
              </a:r>
              <a:r>
                <a:rPr spc="145"/>
                <a:t>  </a:t>
              </a:r>
              <a:r>
                <a:t>methods</a:t>
              </a:r>
              <a:r>
                <a:rPr spc="159"/>
                <a:t>  </a:t>
              </a:r>
              <a:r>
                <a:t>take</a:t>
              </a:r>
              <a:r>
                <a:rPr spc="139"/>
                <a:t>  </a:t>
              </a:r>
              <a:r>
                <a:t>the</a:t>
              </a:r>
              <a:r>
                <a:rPr spc="139"/>
                <a:t>  </a:t>
              </a:r>
              <a:r>
                <a:rPr spc="-19"/>
                <a:t>same  </a:t>
              </a:r>
              <a:r>
                <a:t>time</a:t>
              </a:r>
              <a:r>
                <a:rPr spc="215"/>
                <a:t> </a:t>
              </a:r>
              <a:r>
                <a:t>(0.001</a:t>
              </a:r>
              <a:r>
                <a:rPr spc="164"/>
                <a:t> </a:t>
              </a:r>
              <a:r>
                <a:t>seconds)</a:t>
              </a:r>
              <a:r>
                <a:rPr spc="180"/>
                <a:t> </a:t>
              </a:r>
              <a:r>
                <a:t>for</a:t>
              </a:r>
              <a:r>
                <a:rPr spc="185"/>
                <a:t> </a:t>
              </a:r>
              <a:r>
                <a:rPr spc="-19"/>
                <a:t>model </a:t>
              </a:r>
              <a:r>
                <a:rPr spc="-9"/>
                <a:t>fitting. </a:t>
              </a:r>
              <a:r>
                <a:t>While</a:t>
              </a:r>
              <a:r>
                <a:rPr spc="250"/>
                <a:t> </a:t>
              </a:r>
              <a:r>
                <a:t>the</a:t>
              </a:r>
              <a:r>
                <a:rPr spc="195"/>
                <a:t> </a:t>
              </a:r>
              <a:r>
                <a:t>difference</a:t>
              </a:r>
              <a:r>
                <a:rPr spc="240"/>
                <a:t> </a:t>
              </a:r>
              <a:r>
                <a:t>is</a:t>
              </a:r>
              <a:r>
                <a:rPr spc="250"/>
                <a:t> </a:t>
              </a:r>
              <a:r>
                <a:t>small</a:t>
              </a:r>
              <a:r>
                <a:rPr spc="220"/>
                <a:t> </a:t>
              </a:r>
              <a:r>
                <a:t>due</a:t>
              </a:r>
              <a:r>
                <a:rPr spc="200"/>
                <a:t> </a:t>
              </a:r>
              <a:r>
                <a:rPr spc="-25"/>
                <a:t>to </a:t>
              </a:r>
              <a:r>
                <a:t>the</a:t>
              </a:r>
              <a:r>
                <a:rPr spc="110"/>
                <a:t> </a:t>
              </a:r>
              <a:r>
                <a:t>dataset</a:t>
              </a:r>
              <a:r>
                <a:rPr spc="120"/>
                <a:t> </a:t>
              </a:r>
              <a:r>
                <a:t>size,</a:t>
              </a:r>
              <a:r>
                <a:rPr spc="164"/>
                <a:t> </a:t>
              </a:r>
              <a:r>
                <a:t>fread()</a:t>
              </a:r>
              <a:r>
                <a:rPr spc="130"/>
                <a:t> </a:t>
              </a:r>
              <a:r>
                <a:rPr spc="-9"/>
                <a:t>demonstrates </a:t>
              </a:r>
              <a:r>
                <a:t>better</a:t>
              </a:r>
              <a:r>
                <a:rPr spc="164"/>
                <a:t>  </a:t>
              </a:r>
              <a:r>
                <a:t>performance</a:t>
              </a:r>
              <a:r>
                <a:rPr spc="170"/>
                <a:t>  </a:t>
              </a:r>
              <a:r>
                <a:t>in</a:t>
              </a:r>
              <a:r>
                <a:rPr spc="170"/>
                <a:t>  </a:t>
              </a:r>
              <a:r>
                <a:t>reading</a:t>
              </a:r>
              <a:r>
                <a:rPr spc="139"/>
                <a:t>  </a:t>
              </a:r>
              <a:r>
                <a:rPr spc="-25"/>
                <a:t>the </a:t>
              </a:r>
              <a:r>
                <a:t>data.</a:t>
              </a:r>
              <a:r>
                <a:rPr spc="175"/>
                <a:t> </a:t>
              </a:r>
              <a:r>
                <a:t>The</a:t>
              </a:r>
              <a:r>
                <a:rPr spc="175"/>
                <a:t> </a:t>
              </a:r>
              <a:r>
                <a:t>model</a:t>
              </a:r>
              <a:r>
                <a:rPr spc="195"/>
                <a:t> </a:t>
              </a:r>
              <a:r>
                <a:t>fitting</a:t>
              </a:r>
              <a:r>
                <a:rPr spc="170"/>
                <a:t> </a:t>
              </a:r>
              <a:r>
                <a:t>time</a:t>
              </a:r>
              <a:r>
                <a:rPr spc="190"/>
                <a:t> </a:t>
              </a:r>
              <a:r>
                <a:t>is</a:t>
              </a:r>
              <a:r>
                <a:rPr spc="195"/>
                <a:t> </a:t>
              </a:r>
              <a:r>
                <a:rPr spc="-19"/>
                <a:t>same </a:t>
              </a:r>
              <a:r>
                <a:t>for</a:t>
              </a:r>
              <a:r>
                <a:rPr spc="-25"/>
                <a:t> </a:t>
              </a:r>
              <a:r>
                <a:t>both</a:t>
              </a:r>
              <a:r>
                <a:rPr spc="-15"/>
                <a:t> </a:t>
              </a:r>
              <a:r>
                <a:rPr spc="-9"/>
                <a:t>methods.</a:t>
              </a:r>
            </a:p>
          </p:txBody>
        </p:sp>
      </p:grpSp>
      <p:sp>
        <p:nvSpPr>
          <p:cNvPr id="151" name="Content Placeholder 4"/>
          <p:cNvSpPr txBox="1"/>
          <p:nvPr>
            <p:ph type="body" sz="half" idx="1"/>
          </p:nvPr>
        </p:nvSpPr>
        <p:spPr>
          <a:xfrm>
            <a:off x="6172200" y="1825625"/>
            <a:ext cx="5181600" cy="4351338"/>
          </a:xfrm>
          <a:prstGeom prst="rect">
            <a:avLst/>
          </a:prstGeom>
        </p:spPr>
        <p:txBody>
          <a:bodyPr/>
          <a:lstStyle/>
          <a:p>
            <a:pPr/>
          </a:p>
        </p:txBody>
      </p:sp>
      <p:pic>
        <p:nvPicPr>
          <p:cNvPr id="152" name="object 6" descr="object 6"/>
          <p:cNvPicPr>
            <a:picLocks noChangeAspect="1"/>
          </p:cNvPicPr>
          <p:nvPr/>
        </p:nvPicPr>
        <p:blipFill>
          <a:blip r:embed="rId2">
            <a:extLst/>
          </a:blip>
          <a:stretch>
            <a:fillRect/>
          </a:stretch>
        </p:blipFill>
        <p:spPr>
          <a:xfrm>
            <a:off x="6172200" y="1825624"/>
            <a:ext cx="4774413" cy="3889376"/>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object 2"/>
          <p:cNvSpPr txBox="1"/>
          <p:nvPr/>
        </p:nvSpPr>
        <p:spPr>
          <a:xfrm>
            <a:off x="189653" y="454992"/>
            <a:ext cx="7858761" cy="544076"/>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p>
            <a:pPr indent="92075">
              <a:lnSpc>
                <a:spcPct val="90000"/>
              </a:lnSpc>
              <a:spcBef>
                <a:spcPts val="600"/>
              </a:spcBef>
              <a:defRPr sz="3200">
                <a:solidFill>
                  <a:srgbClr val="0D0D0D"/>
                </a:solidFill>
                <a:latin typeface="Times New Roman"/>
                <a:ea typeface="Times New Roman"/>
                <a:cs typeface="Times New Roman"/>
                <a:sym typeface="Times New Roman"/>
              </a:defRPr>
            </a:pPr>
            <a:r>
              <a:t>S</a:t>
            </a:r>
            <a:r>
              <a:rPr spc="65"/>
              <a:t>te</a:t>
            </a:r>
            <a:r>
              <a:t>p</a:t>
            </a:r>
            <a:r>
              <a:rPr spc="60"/>
              <a:t>4:</a:t>
            </a:r>
            <a:r>
              <a:rPr spc="385"/>
              <a:t> </a:t>
            </a:r>
            <a:r>
              <a:rPr spc="60"/>
              <a:t>Pe</a:t>
            </a:r>
            <a:r>
              <a:t>r</a:t>
            </a:r>
            <a:r>
              <a:rPr spc="65"/>
              <a:t>fo</a:t>
            </a:r>
            <a:r>
              <a:rPr spc="100"/>
              <a:t>rma</a:t>
            </a:r>
            <a:r>
              <a:rPr spc="60"/>
              <a:t>nc</a:t>
            </a:r>
            <a:r>
              <a:t>e</a:t>
            </a:r>
            <a:r>
              <a:rPr spc="375"/>
              <a:t> </a:t>
            </a:r>
            <a:r>
              <a:rPr spc="60"/>
              <a:t>Pr</a:t>
            </a:r>
            <a:r>
              <a:t>o</a:t>
            </a:r>
            <a:r>
              <a:rPr spc="65"/>
              <a:t>fi</a:t>
            </a:r>
            <a:r>
              <a:rPr spc="70"/>
              <a:t>li</a:t>
            </a:r>
            <a:r>
              <a:rPr spc="60"/>
              <a:t>ng</a:t>
            </a:r>
            <a:r>
              <a:rPr spc="370"/>
              <a:t> </a:t>
            </a:r>
            <a:r>
              <a:t>a</a:t>
            </a:r>
            <a:r>
              <a:rPr spc="60"/>
              <a:t>nd</a:t>
            </a:r>
            <a:r>
              <a:rPr spc="370"/>
              <a:t> </a:t>
            </a:r>
            <a:r>
              <a:rPr spc="100"/>
              <a:t>Dat</a:t>
            </a:r>
            <a:r>
              <a:t>a</a:t>
            </a:r>
            <a:r>
              <a:rPr spc="295"/>
              <a:t> </a:t>
            </a:r>
            <a:r>
              <a:rPr spc="55"/>
              <a:t>Tab</a:t>
            </a:r>
          </a:p>
        </p:txBody>
      </p:sp>
      <p:sp>
        <p:nvSpPr>
          <p:cNvPr id="155" name="object 3"/>
          <p:cNvSpPr txBox="1"/>
          <p:nvPr/>
        </p:nvSpPr>
        <p:spPr>
          <a:xfrm>
            <a:off x="922413" y="2533475"/>
            <a:ext cx="2741885" cy="344783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40029" marR="5080" indent="-228600">
              <a:lnSpc>
                <a:spcPct val="90000"/>
              </a:lnSpc>
              <a:spcBef>
                <a:spcPts val="600"/>
              </a:spcBef>
              <a:buSzPct val="100000"/>
              <a:buFont typeface="Arial"/>
              <a:buChar char="•"/>
              <a:tabLst>
                <a:tab pos="241300" algn="l"/>
              </a:tabLst>
              <a:defRPr sz="2000">
                <a:latin typeface="Times New Roman"/>
                <a:ea typeface="Times New Roman"/>
                <a:cs typeface="Times New Roman"/>
                <a:sym typeface="Times New Roman"/>
              </a:defRPr>
            </a:pPr>
            <a:r>
              <a:t>fread()</a:t>
            </a:r>
            <a:r>
              <a:rPr spc="100"/>
              <a:t> </a:t>
            </a:r>
            <a:r>
              <a:t>shows</a:t>
            </a:r>
            <a:r>
              <a:rPr spc="100"/>
              <a:t> </a:t>
            </a:r>
            <a:r>
              <a:t>better</a:t>
            </a:r>
            <a:r>
              <a:rPr spc="100"/>
              <a:t> </a:t>
            </a:r>
            <a:r>
              <a:t>performance</a:t>
            </a:r>
            <a:r>
              <a:rPr spc="100"/>
              <a:t> </a:t>
            </a:r>
            <a:r>
              <a:t>with</a:t>
            </a:r>
            <a:r>
              <a:rPr spc="100"/>
              <a:t> </a:t>
            </a:r>
            <a:r>
              <a:t>a</a:t>
            </a:r>
            <a:r>
              <a:rPr spc="100"/>
              <a:t> </a:t>
            </a:r>
            <a:r>
              <a:t>shorter</a:t>
            </a:r>
            <a:r>
              <a:rPr spc="100"/>
              <a:t> </a:t>
            </a:r>
            <a:r>
              <a:rPr spc="-100"/>
              <a:t>sampling 	</a:t>
            </a:r>
            <a:r>
              <a:t>time</a:t>
            </a:r>
            <a:r>
              <a:rPr spc="400"/>
              <a:t> </a:t>
            </a:r>
            <a:r>
              <a:t>(0.08</a:t>
            </a:r>
            <a:r>
              <a:rPr spc="400"/>
              <a:t> </a:t>
            </a:r>
            <a:r>
              <a:t>vs</a:t>
            </a:r>
            <a:r>
              <a:rPr spc="300"/>
              <a:t> </a:t>
            </a:r>
            <a:r>
              <a:t>0.14),</a:t>
            </a:r>
            <a:r>
              <a:rPr spc="400"/>
              <a:t> </a:t>
            </a:r>
            <a:r>
              <a:t>while</a:t>
            </a:r>
            <a:r>
              <a:rPr spc="400"/>
              <a:t> </a:t>
            </a:r>
            <a:r>
              <a:t>using</a:t>
            </a:r>
            <a:r>
              <a:rPr spc="400"/>
              <a:t> </a:t>
            </a:r>
            <a:r>
              <a:t>slightly</a:t>
            </a:r>
            <a:r>
              <a:rPr spc="400"/>
              <a:t> </a:t>
            </a:r>
            <a:r>
              <a:t>less</a:t>
            </a:r>
            <a:r>
              <a:rPr spc="400"/>
              <a:t> </a:t>
            </a:r>
            <a:r>
              <a:rPr spc="-100"/>
              <a:t>memory. 	</a:t>
            </a:r>
            <a:r>
              <a:t>Both</a:t>
            </a:r>
            <a:r>
              <a:rPr spc="100"/>
              <a:t> </a:t>
            </a:r>
            <a:r>
              <a:t>methods</a:t>
            </a:r>
            <a:r>
              <a:rPr spc="100"/>
              <a:t> </a:t>
            </a:r>
            <a:r>
              <a:t>maintain</a:t>
            </a:r>
            <a:r>
              <a:rPr spc="100"/>
              <a:t> </a:t>
            </a:r>
            <a:r>
              <a:t>the</a:t>
            </a:r>
            <a:r>
              <a:rPr spc="100"/>
              <a:t> </a:t>
            </a:r>
            <a:r>
              <a:t>same</a:t>
            </a:r>
            <a:r>
              <a:rPr spc="100"/>
              <a:t> </a:t>
            </a:r>
            <a:r>
              <a:t>sample</a:t>
            </a:r>
            <a:r>
              <a:rPr spc="100"/>
              <a:t> </a:t>
            </a:r>
            <a:r>
              <a:t>interval</a:t>
            </a:r>
            <a:r>
              <a:rPr spc="100"/>
              <a:t> </a:t>
            </a:r>
            <a:r>
              <a:rPr spc="-100"/>
              <a:t>(0.02).</a:t>
            </a:r>
          </a:p>
        </p:txBody>
      </p:sp>
      <p:pic>
        <p:nvPicPr>
          <p:cNvPr id="156" name="object 4" descr="object 4"/>
          <p:cNvPicPr>
            <a:picLocks noChangeAspect="1"/>
          </p:cNvPicPr>
          <p:nvPr/>
        </p:nvPicPr>
        <p:blipFill>
          <a:blip r:embed="rId2">
            <a:extLst/>
          </a:blip>
          <a:stretch>
            <a:fillRect/>
          </a:stretch>
        </p:blipFill>
        <p:spPr>
          <a:xfrm>
            <a:off x="4522470" y="1334834"/>
            <a:ext cx="3287841" cy="4188332"/>
          </a:xfrm>
          <a:prstGeom prst="rect">
            <a:avLst/>
          </a:prstGeom>
          <a:ln w="12700">
            <a:miter lim="400000"/>
          </a:ln>
        </p:spPr>
      </p:pic>
      <p:pic>
        <p:nvPicPr>
          <p:cNvPr id="157" name="object 5" descr="object 5"/>
          <p:cNvPicPr>
            <a:picLocks noChangeAspect="1"/>
          </p:cNvPicPr>
          <p:nvPr/>
        </p:nvPicPr>
        <p:blipFill>
          <a:blip r:embed="rId3">
            <a:extLst/>
          </a:blip>
          <a:stretch>
            <a:fillRect/>
          </a:stretch>
        </p:blipFill>
        <p:spPr>
          <a:xfrm>
            <a:off x="7983780" y="2071403"/>
            <a:ext cx="3331527" cy="2715194"/>
          </a:xfrm>
          <a:prstGeom prst="rect">
            <a:avLst/>
          </a:prstGeom>
          <a:ln w="12700">
            <a:miter lim="400000"/>
          </a:ln>
        </p:spPr>
      </p:pic>
      <p:grpSp>
        <p:nvGrpSpPr>
          <p:cNvPr id="160" name="Group 134"/>
          <p:cNvGrpSpPr/>
          <p:nvPr/>
        </p:nvGrpSpPr>
        <p:grpSpPr>
          <a:xfrm>
            <a:off x="1" y="6737460"/>
            <a:ext cx="12192001" cy="123365"/>
            <a:chOff x="0" y="0"/>
            <a:chExt cx="12192000" cy="123364"/>
          </a:xfrm>
        </p:grpSpPr>
        <p:sp>
          <p:nvSpPr>
            <p:cNvPr id="158" name="Rectangle 135"/>
            <p:cNvSpPr/>
            <p:nvPr/>
          </p:nvSpPr>
          <p:spPr>
            <a:xfrm rot="16200000">
              <a:off x="6034318" y="-6034319"/>
              <a:ext cx="123364" cy="12192001"/>
            </a:xfrm>
            <a:prstGeom prst="rect">
              <a:avLst/>
            </a:prstGeom>
            <a:gradFill flip="none" rotWithShape="1">
              <a:gsLst>
                <a:gs pos="0">
                  <a:schemeClr val="accent2"/>
                </a:gs>
                <a:gs pos="100000">
                  <a:schemeClr val="accent5"/>
                </a:gs>
              </a:gsLst>
              <a:lin ang="18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59" name="Rectangle 136"/>
            <p:cNvSpPr/>
            <p:nvPr/>
          </p:nvSpPr>
          <p:spPr>
            <a:xfrm rot="16200000">
              <a:off x="10240558" y="-1828078"/>
              <a:ext cx="123363" cy="3779522"/>
            </a:xfrm>
            <a:prstGeom prst="rect">
              <a:avLst/>
            </a:prstGeom>
            <a:gradFill flip="none" rotWithShape="1">
              <a:gsLst>
                <a:gs pos="19000">
                  <a:schemeClr val="accent5">
                    <a:alpha val="0"/>
                  </a:schemeClr>
                </a:gs>
                <a:gs pos="100000">
                  <a:srgbClr val="D86ECC"/>
                </a:gs>
              </a:gsLst>
              <a:lin ang="6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object 2"/>
          <p:cNvSpPr txBox="1"/>
          <p:nvPr/>
        </p:nvSpPr>
        <p:spPr>
          <a:xfrm>
            <a:off x="288607" y="419733"/>
            <a:ext cx="6747193" cy="281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000">
                <a:latin typeface="Times New Roman"/>
                <a:ea typeface="Times New Roman"/>
                <a:cs typeface="Times New Roman"/>
                <a:sym typeface="Times New Roman"/>
              </a:defRPr>
            </a:pPr>
            <a:r>
              <a:t>F</a:t>
            </a:r>
            <a:r>
              <a:rPr spc="-100"/>
              <a:t>l</a:t>
            </a:r>
            <a:r>
              <a:t>ame</a:t>
            </a:r>
            <a:r>
              <a:rPr spc="125"/>
              <a:t> </a:t>
            </a:r>
            <a:r>
              <a:t>Graph</a:t>
            </a:r>
            <a:r>
              <a:rPr spc="120"/>
              <a:t> A</a:t>
            </a:r>
            <a:r>
              <a:t>fter</a:t>
            </a:r>
            <a:r>
              <a:rPr spc="130"/>
              <a:t>  </a:t>
            </a:r>
            <a:r>
              <a:rPr spc="130"/>
              <a:t>P</a:t>
            </a:r>
            <a:r>
              <a:t>rofiling</a:t>
            </a:r>
            <a:r>
              <a:rPr spc="125"/>
              <a:t> F</a:t>
            </a:r>
            <a:r>
              <a:t>or</a:t>
            </a:r>
            <a:r>
              <a:rPr spc="130"/>
              <a:t> </a:t>
            </a:r>
            <a:r>
              <a:t>read</a:t>
            </a:r>
            <a:r>
              <a:rPr spc="-85"/>
              <a:t>.</a:t>
            </a:r>
            <a:r>
              <a:t>c</a:t>
            </a:r>
            <a:r>
              <a:rPr spc="-79"/>
              <a:t>s</a:t>
            </a:r>
            <a:r>
              <a:t>v(</a:t>
            </a:r>
            <a:r>
              <a:rPr spc="-70"/>
              <a:t> </a:t>
            </a:r>
            <a:r>
              <a:rPr spc="-50"/>
              <a:t>)</a:t>
            </a:r>
          </a:p>
        </p:txBody>
      </p:sp>
      <p:sp>
        <p:nvSpPr>
          <p:cNvPr id="163" name="object 3"/>
          <p:cNvSpPr txBox="1"/>
          <p:nvPr/>
        </p:nvSpPr>
        <p:spPr>
          <a:xfrm>
            <a:off x="67732" y="4752275"/>
            <a:ext cx="3877735" cy="7107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41300" marR="5080" indent="-228600">
              <a:lnSpc>
                <a:spcPct val="111500"/>
              </a:lnSpc>
              <a:buSzPct val="100000"/>
              <a:buFont typeface="Arial"/>
              <a:buChar char="•"/>
              <a:tabLst>
                <a:tab pos="241300" algn="l"/>
              </a:tabLst>
              <a:defRPr sz="2400">
                <a:latin typeface="Times New Roman"/>
                <a:ea typeface="Times New Roman"/>
                <a:cs typeface="Times New Roman"/>
                <a:sym typeface="Times New Roman"/>
              </a:defRPr>
            </a:pPr>
            <a:r>
              <a:t>Total</a:t>
            </a:r>
            <a:r>
              <a:rPr spc="-30"/>
              <a:t> </a:t>
            </a:r>
            <a:r>
              <a:t>Execution</a:t>
            </a:r>
            <a:r>
              <a:rPr spc="45"/>
              <a:t> </a:t>
            </a:r>
            <a:r>
              <a:rPr spc="-20"/>
              <a:t>time </a:t>
            </a:r>
            <a:r>
              <a:t>is </a:t>
            </a:r>
            <a:r>
              <a:rPr spc="-10"/>
              <a:t>130ms</a:t>
            </a:r>
          </a:p>
        </p:txBody>
      </p:sp>
      <p:grpSp>
        <p:nvGrpSpPr>
          <p:cNvPr id="166" name="object 4"/>
          <p:cNvGrpSpPr/>
          <p:nvPr/>
        </p:nvGrpSpPr>
        <p:grpSpPr>
          <a:xfrm>
            <a:off x="285747" y="1000123"/>
            <a:ext cx="11430004" cy="4895853"/>
            <a:chOff x="-1" y="0"/>
            <a:chExt cx="11430002" cy="4895851"/>
          </a:xfrm>
        </p:grpSpPr>
        <p:pic>
          <p:nvPicPr>
            <p:cNvPr id="164" name="object 5" descr="object 5"/>
            <p:cNvPicPr>
              <a:picLocks noChangeAspect="1"/>
            </p:cNvPicPr>
            <p:nvPr/>
          </p:nvPicPr>
          <p:blipFill>
            <a:blip r:embed="rId2">
              <a:extLst/>
            </a:blip>
            <a:stretch>
              <a:fillRect/>
            </a:stretch>
          </p:blipFill>
          <p:spPr>
            <a:xfrm>
              <a:off x="3838575" y="66675"/>
              <a:ext cx="7591426" cy="4829176"/>
            </a:xfrm>
            <a:prstGeom prst="rect">
              <a:avLst/>
            </a:prstGeom>
            <a:ln w="12700" cap="flat">
              <a:noFill/>
              <a:miter lim="400000"/>
            </a:ln>
            <a:effectLst/>
          </p:spPr>
        </p:pic>
        <p:pic>
          <p:nvPicPr>
            <p:cNvPr id="165" name="object 6" descr="object 6"/>
            <p:cNvPicPr>
              <a:picLocks noChangeAspect="1"/>
            </p:cNvPicPr>
            <p:nvPr/>
          </p:nvPicPr>
          <p:blipFill>
            <a:blip r:embed="rId3">
              <a:extLst/>
            </a:blip>
            <a:stretch>
              <a:fillRect/>
            </a:stretch>
          </p:blipFill>
          <p:spPr>
            <a:xfrm>
              <a:off x="-2" y="-1"/>
              <a:ext cx="3962403" cy="1914527"/>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object 2"/>
          <p:cNvSpPr txBox="1"/>
          <p:nvPr/>
        </p:nvSpPr>
        <p:spPr>
          <a:xfrm>
            <a:off x="255268" y="407922"/>
            <a:ext cx="8058999" cy="281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000">
                <a:latin typeface="Times New Roman"/>
                <a:ea typeface="Times New Roman"/>
                <a:cs typeface="Times New Roman"/>
                <a:sym typeface="Times New Roman"/>
              </a:defRPr>
            </a:pPr>
            <a:r>
              <a:t>F</a:t>
            </a:r>
            <a:r>
              <a:rPr spc="-100"/>
              <a:t>l</a:t>
            </a:r>
            <a:r>
              <a:t>ame</a:t>
            </a:r>
            <a:r>
              <a:rPr spc="125"/>
              <a:t> </a:t>
            </a:r>
            <a:r>
              <a:t>Graph</a:t>
            </a:r>
            <a:r>
              <a:rPr spc="120"/>
              <a:t> A</a:t>
            </a:r>
            <a:r>
              <a:t>fter</a:t>
            </a:r>
            <a:r>
              <a:rPr spc="130"/>
              <a:t>  P</a:t>
            </a:r>
            <a:r>
              <a:t>rofiling</a:t>
            </a:r>
            <a:r>
              <a:rPr spc="125"/>
              <a:t> With fread</a:t>
            </a:r>
            <a:r>
              <a:t>(</a:t>
            </a:r>
            <a:r>
              <a:rPr spc="-70"/>
              <a:t> </a:t>
            </a:r>
            <a:r>
              <a:rPr spc="-50"/>
              <a:t>)</a:t>
            </a:r>
          </a:p>
        </p:txBody>
      </p:sp>
      <p:sp>
        <p:nvSpPr>
          <p:cNvPr id="169" name="object 3"/>
          <p:cNvSpPr txBox="1"/>
          <p:nvPr/>
        </p:nvSpPr>
        <p:spPr>
          <a:xfrm>
            <a:off x="262890" y="4697855"/>
            <a:ext cx="3228340" cy="816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41300" marR="5080" indent="-229233">
              <a:lnSpc>
                <a:spcPct val="111500"/>
              </a:lnSpc>
              <a:buSzPct val="100000"/>
              <a:buFont typeface="Arial"/>
              <a:buChar char="•"/>
              <a:tabLst>
                <a:tab pos="241300" algn="l"/>
              </a:tabLst>
              <a:defRPr sz="2700">
                <a:latin typeface="Times New Roman"/>
                <a:ea typeface="Times New Roman"/>
                <a:cs typeface="Times New Roman"/>
                <a:sym typeface="Times New Roman"/>
              </a:defRPr>
            </a:pPr>
            <a:r>
              <a:t>Total</a:t>
            </a:r>
            <a:r>
              <a:rPr spc="-30"/>
              <a:t> </a:t>
            </a:r>
            <a:r>
              <a:t>Execution</a:t>
            </a:r>
            <a:r>
              <a:rPr spc="45"/>
              <a:t> </a:t>
            </a:r>
            <a:r>
              <a:rPr spc="-20"/>
              <a:t>time </a:t>
            </a:r>
            <a:r>
              <a:t>is </a:t>
            </a:r>
            <a:r>
              <a:rPr spc="-20"/>
              <a:t>70ms</a:t>
            </a:r>
          </a:p>
        </p:txBody>
      </p:sp>
      <p:pic>
        <p:nvPicPr>
          <p:cNvPr id="170" name="object 4" descr="object 4"/>
          <p:cNvPicPr>
            <a:picLocks noChangeAspect="1"/>
          </p:cNvPicPr>
          <p:nvPr/>
        </p:nvPicPr>
        <p:blipFill>
          <a:blip r:embed="rId2">
            <a:extLst/>
          </a:blip>
          <a:stretch>
            <a:fillRect/>
          </a:stretch>
        </p:blipFill>
        <p:spPr>
          <a:xfrm>
            <a:off x="4143375" y="1019175"/>
            <a:ext cx="7429500" cy="4819650"/>
          </a:xfrm>
          <a:prstGeom prst="rect">
            <a:avLst/>
          </a:prstGeom>
          <a:ln w="12700">
            <a:miter lim="400000"/>
          </a:ln>
        </p:spPr>
      </p:pic>
      <p:pic>
        <p:nvPicPr>
          <p:cNvPr id="171" name="object 5" descr="object 5"/>
          <p:cNvPicPr>
            <a:picLocks noChangeAspect="1"/>
          </p:cNvPicPr>
          <p:nvPr/>
        </p:nvPicPr>
        <p:blipFill>
          <a:blip r:embed="rId3">
            <a:extLst/>
          </a:blip>
          <a:stretch>
            <a:fillRect/>
          </a:stretch>
        </p:blipFill>
        <p:spPr>
          <a:xfrm>
            <a:off x="190500" y="1071041"/>
            <a:ext cx="3886200" cy="222106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Rectangle 144"/>
          <p:cNvSpPr/>
          <p:nvPr/>
        </p:nvSpPr>
        <p:spPr>
          <a:xfrm>
            <a:off x="10" y="-5705"/>
            <a:ext cx="12191990" cy="1694346"/>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174" name="Rectangle 145"/>
          <p:cNvSpPr/>
          <p:nvPr/>
        </p:nvSpPr>
        <p:spPr>
          <a:xfrm>
            <a:off x="0" y="1688640"/>
            <a:ext cx="12191990" cy="5169360"/>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175" name="Rectangle 146"/>
          <p:cNvSpPr/>
          <p:nvPr/>
        </p:nvSpPr>
        <p:spPr>
          <a:xfrm>
            <a:off x="1156850" y="2010758"/>
            <a:ext cx="45719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176" name="object 2"/>
          <p:cNvSpPr txBox="1"/>
          <p:nvPr/>
        </p:nvSpPr>
        <p:spPr>
          <a:xfrm>
            <a:off x="1201267" y="2217342"/>
            <a:ext cx="9789454" cy="39596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300"/>
              </a:spcBef>
              <a:defRPr sz="2000">
                <a:solidFill>
                  <a:srgbClr val="0D0D0D"/>
                </a:solidFill>
                <a:latin typeface="Times New Roman"/>
                <a:ea typeface="Times New Roman"/>
                <a:cs typeface="Times New Roman"/>
                <a:sym typeface="Times New Roman"/>
              </a:defRPr>
            </a:pPr>
            <a:r>
              <a:t>WHICH</a:t>
            </a:r>
            <a:r>
              <a:rPr spc="100"/>
              <a:t> </a:t>
            </a:r>
            <a:r>
              <a:t>METHOD</a:t>
            </a:r>
            <a:r>
              <a:rPr spc="100"/>
              <a:t> </a:t>
            </a:r>
            <a:r>
              <a:t>IS</a:t>
            </a:r>
            <a:r>
              <a:rPr spc="100"/>
              <a:t> </a:t>
            </a:r>
            <a:r>
              <a:rPr spc="-100"/>
              <a:t>FASTER?</a:t>
            </a:r>
            <a:endParaRPr sz="1500">
              <a:solidFill>
                <a:srgbClr val="824F8B"/>
              </a:solidFill>
            </a:endParaRPr>
          </a:p>
          <a:p>
            <a:pPr>
              <a:spcBef>
                <a:spcPts val="300"/>
              </a:spcBef>
              <a:defRPr sz="2000">
                <a:solidFill>
                  <a:srgbClr val="0D0D0D"/>
                </a:solidFill>
                <a:latin typeface="Times New Roman"/>
                <a:ea typeface="Times New Roman"/>
                <a:cs typeface="Times New Roman"/>
                <a:sym typeface="Times New Roman"/>
              </a:defRPr>
            </a:pPr>
          </a:p>
          <a:p>
            <a:pPr>
              <a:spcBef>
                <a:spcPts val="300"/>
              </a:spcBef>
              <a:defRPr sz="2000">
                <a:solidFill>
                  <a:srgbClr val="0D0D0D"/>
                </a:solidFill>
                <a:latin typeface="Times New Roman"/>
                <a:ea typeface="Times New Roman"/>
                <a:cs typeface="Times New Roman"/>
                <a:sym typeface="Times New Roman"/>
              </a:defRPr>
            </a:pPr>
            <a:r>
              <a:t>	fread()</a:t>
            </a:r>
            <a:r>
              <a:rPr spc="300"/>
              <a:t> </a:t>
            </a:r>
            <a:r>
              <a:t>executes</a:t>
            </a:r>
            <a:r>
              <a:rPr spc="300"/>
              <a:t> </a:t>
            </a:r>
            <a:r>
              <a:t>data</a:t>
            </a:r>
            <a:r>
              <a:rPr spc="300"/>
              <a:t> </a:t>
            </a:r>
            <a:r>
              <a:t>input</a:t>
            </a:r>
            <a:r>
              <a:rPr spc="300"/>
              <a:t> </a:t>
            </a:r>
            <a:r>
              <a:t>and</a:t>
            </a:r>
            <a:r>
              <a:rPr spc="300"/>
              <a:t> </a:t>
            </a:r>
            <a:r>
              <a:t>model</a:t>
            </a:r>
            <a:r>
              <a:rPr spc="300"/>
              <a:t> </a:t>
            </a:r>
            <a:r>
              <a:t>execution</a:t>
            </a:r>
            <a:r>
              <a:rPr spc="300"/>
              <a:t> </a:t>
            </a:r>
            <a:r>
              <a:t>tasks</a:t>
            </a:r>
            <a:r>
              <a:rPr spc="300"/>
              <a:t> </a:t>
            </a:r>
            <a:r>
              <a:t>faster</a:t>
            </a:r>
            <a:r>
              <a:rPr spc="300"/>
              <a:t> </a:t>
            </a:r>
            <a:r>
              <a:t>than</a:t>
            </a:r>
            <a:r>
              <a:rPr spc="300"/>
              <a:t> </a:t>
            </a:r>
            <a:r>
              <a:rPr spc="-100"/>
              <a:t>the </a:t>
            </a:r>
            <a:r>
              <a:t>read.csv() method. The total execution time using fread() requires </a:t>
            </a:r>
            <a:r>
              <a:rPr spc="-100"/>
              <a:t>70ms 	</a:t>
            </a:r>
            <a:r>
              <a:t>compared</a:t>
            </a:r>
            <a:r>
              <a:rPr spc="200"/>
              <a:t> </a:t>
            </a:r>
            <a:r>
              <a:t>to</a:t>
            </a:r>
            <a:r>
              <a:rPr spc="200"/>
              <a:t> </a:t>
            </a:r>
            <a:r>
              <a:t>130ms</a:t>
            </a:r>
            <a:r>
              <a:rPr spc="200"/>
              <a:t> </a:t>
            </a:r>
            <a:r>
              <a:t>for</a:t>
            </a:r>
            <a:r>
              <a:rPr spc="200"/>
              <a:t> </a:t>
            </a:r>
            <a:r>
              <a:t>read.csv().</a:t>
            </a:r>
            <a:r>
              <a:rPr spc="200"/>
              <a:t> </a:t>
            </a:r>
            <a:r>
              <a:t>The</a:t>
            </a:r>
            <a:r>
              <a:rPr spc="200"/>
              <a:t> </a:t>
            </a:r>
            <a:r>
              <a:t>flame</a:t>
            </a:r>
            <a:r>
              <a:rPr spc="200"/>
              <a:t> </a:t>
            </a:r>
            <a:r>
              <a:t>graphs</a:t>
            </a:r>
            <a:r>
              <a:rPr spc="200"/>
              <a:t> </a:t>
            </a:r>
            <a:r>
              <a:t>demonstrate</a:t>
            </a:r>
            <a:r>
              <a:rPr spc="200"/>
              <a:t> </a:t>
            </a:r>
            <a:r>
              <a:rPr spc="-100"/>
              <a:t>that  </a:t>
            </a:r>
            <a:r>
              <a:t>fread()</a:t>
            </a:r>
            <a:r>
              <a:rPr spc="200"/>
              <a:t> </a:t>
            </a:r>
            <a:r>
              <a:t>has</a:t>
            </a:r>
            <a:r>
              <a:rPr spc="200"/>
              <a:t> </a:t>
            </a:r>
            <a:r>
              <a:t>a</a:t>
            </a:r>
            <a:r>
              <a:rPr spc="200"/>
              <a:t> </a:t>
            </a:r>
            <a:r>
              <a:t>more</a:t>
            </a:r>
            <a:r>
              <a:rPr spc="100"/>
              <a:t> </a:t>
            </a:r>
            <a:r>
              <a:t>streamlined</a:t>
            </a:r>
            <a:r>
              <a:rPr spc="200"/>
              <a:t> </a:t>
            </a:r>
            <a:r>
              <a:t>execution</a:t>
            </a:r>
            <a:r>
              <a:rPr spc="200"/>
              <a:t> </a:t>
            </a:r>
            <a:r>
              <a:t>path</a:t>
            </a:r>
            <a:r>
              <a:rPr spc="200"/>
              <a:t> </a:t>
            </a:r>
            <a:r>
              <a:t>with</a:t>
            </a:r>
            <a:r>
              <a:rPr spc="100"/>
              <a:t> </a:t>
            </a:r>
            <a:r>
              <a:t>fewer</a:t>
            </a:r>
            <a:r>
              <a:rPr spc="200"/>
              <a:t> </a:t>
            </a:r>
            <a:r>
              <a:rPr spc="-100"/>
              <a:t>intermediate </a:t>
            </a:r>
            <a:r>
              <a:t>function</a:t>
            </a:r>
            <a:r>
              <a:rPr spc="300"/>
              <a:t> </a:t>
            </a:r>
            <a:r>
              <a:t>calls</a:t>
            </a:r>
            <a:r>
              <a:rPr spc="400"/>
              <a:t> </a:t>
            </a:r>
            <a:r>
              <a:t>compared</a:t>
            </a:r>
            <a:r>
              <a:rPr spc="400"/>
              <a:t> </a:t>
            </a:r>
            <a:r>
              <a:t>to</a:t>
            </a:r>
            <a:r>
              <a:rPr spc="300"/>
              <a:t> </a:t>
            </a:r>
            <a:r>
              <a:t>read.csv()</a:t>
            </a:r>
            <a:r>
              <a:rPr spc="400"/>
              <a:t> </a:t>
            </a:r>
            <a:r>
              <a:t>which</a:t>
            </a:r>
            <a:r>
              <a:rPr spc="400"/>
              <a:t> </a:t>
            </a:r>
            <a:r>
              <a:t>requires</a:t>
            </a:r>
            <a:r>
              <a:rPr spc="300"/>
              <a:t> </a:t>
            </a:r>
            <a:r>
              <a:t>additional</a:t>
            </a:r>
            <a:r>
              <a:rPr spc="400"/>
              <a:t> </a:t>
            </a:r>
            <a:r>
              <a:rPr spc="-100"/>
              <a:t>steps </a:t>
            </a:r>
            <a:r>
              <a:t>through</a:t>
            </a:r>
            <a:r>
              <a:rPr spc="100"/>
              <a:t> </a:t>
            </a:r>
            <a:r>
              <a:t>match.arg,</a:t>
            </a:r>
            <a:r>
              <a:rPr spc="200"/>
              <a:t> </a:t>
            </a:r>
            <a:r>
              <a:t>scan,</a:t>
            </a:r>
            <a:r>
              <a:rPr spc="100"/>
              <a:t> </a:t>
            </a:r>
            <a:r>
              <a:t>and</a:t>
            </a:r>
            <a:r>
              <a:rPr spc="200"/>
              <a:t> </a:t>
            </a:r>
            <a:r>
              <a:t>read.table</a:t>
            </a:r>
            <a:r>
              <a:rPr spc="100"/>
              <a:t> </a:t>
            </a:r>
            <a:r>
              <a:t>functions.</a:t>
            </a:r>
            <a:r>
              <a:rPr spc="100"/>
              <a:t> </a:t>
            </a:r>
            <a:r>
              <a:t>While</a:t>
            </a:r>
            <a:r>
              <a:rPr spc="100"/>
              <a:t> </a:t>
            </a:r>
            <a:r>
              <a:t>both</a:t>
            </a:r>
            <a:r>
              <a:rPr spc="100"/>
              <a:t> </a:t>
            </a:r>
            <a:r>
              <a:rPr spc="-100"/>
              <a:t>methods </a:t>
            </a:r>
            <a:r>
              <a:t>successfully perform the linear regression analysis with the same </a:t>
            </a:r>
            <a:r>
              <a:rPr spc="-100"/>
              <a:t>model  </a:t>
            </a:r>
            <a:r>
              <a:t>specification</a:t>
            </a:r>
            <a:r>
              <a:rPr spc="100"/>
              <a:t> </a:t>
            </a:r>
            <a:r>
              <a:t>(Outcome ~ Glucose + BMI + Age), fread()</a:t>
            </a:r>
            <a:r>
              <a:rPr spc="100"/>
              <a:t> </a:t>
            </a:r>
            <a:r>
              <a:rPr spc="-100"/>
              <a:t>accomplishes </a:t>
            </a:r>
            <a:r>
              <a:t>this</a:t>
            </a:r>
            <a:r>
              <a:rPr spc="300"/>
              <a:t> </a:t>
            </a:r>
            <a:r>
              <a:t>more</a:t>
            </a:r>
            <a:r>
              <a:rPr spc="300"/>
              <a:t> </a:t>
            </a:r>
            <a:r>
              <a:t>efficiently,</a:t>
            </a:r>
            <a:r>
              <a:rPr spc="300"/>
              <a:t> </a:t>
            </a:r>
            <a:r>
              <a:t>making</a:t>
            </a:r>
            <a:r>
              <a:rPr spc="300"/>
              <a:t> </a:t>
            </a:r>
            <a:r>
              <a:t>it</a:t>
            </a:r>
            <a:r>
              <a:rPr spc="300"/>
              <a:t> </a:t>
            </a:r>
            <a:r>
              <a:t>the</a:t>
            </a:r>
            <a:r>
              <a:rPr spc="300"/>
              <a:t> </a:t>
            </a:r>
            <a:r>
              <a:t>optimal</a:t>
            </a:r>
            <a:r>
              <a:rPr spc="300"/>
              <a:t> </a:t>
            </a:r>
            <a:r>
              <a:t>choice</a:t>
            </a:r>
            <a:r>
              <a:rPr spc="300"/>
              <a:t> </a:t>
            </a:r>
            <a:r>
              <a:t>for</a:t>
            </a:r>
            <a:r>
              <a:rPr spc="300"/>
              <a:t> </a:t>
            </a:r>
            <a:r>
              <a:t>processing</a:t>
            </a:r>
            <a:r>
              <a:rPr spc="300"/>
              <a:t> </a:t>
            </a:r>
            <a:r>
              <a:rPr spc="-100"/>
              <a:t>the </a:t>
            </a:r>
            <a:r>
              <a:t>diabetes</a:t>
            </a:r>
            <a:r>
              <a:rPr spc="200"/>
              <a:t> </a:t>
            </a:r>
            <a:r>
              <a:t>dataset.</a:t>
            </a:r>
            <a:r>
              <a:rPr spc="200"/>
              <a:t> </a:t>
            </a:r>
            <a:r>
              <a:t>The</a:t>
            </a:r>
            <a:r>
              <a:rPr spc="100"/>
              <a:t> </a:t>
            </a:r>
            <a:r>
              <a:t>memory</a:t>
            </a:r>
            <a:r>
              <a:rPr spc="100"/>
              <a:t> </a:t>
            </a:r>
            <a:r>
              <a:t>usage</a:t>
            </a:r>
            <a:r>
              <a:rPr spc="100"/>
              <a:t> </a:t>
            </a:r>
            <a:r>
              <a:t>is</a:t>
            </a:r>
            <a:r>
              <a:rPr spc="100"/>
              <a:t> </a:t>
            </a:r>
            <a:r>
              <a:t>also</a:t>
            </a:r>
            <a:r>
              <a:rPr spc="100"/>
              <a:t> </a:t>
            </a:r>
            <a:r>
              <a:t>more</a:t>
            </a:r>
            <a:r>
              <a:rPr spc="100"/>
              <a:t> </a:t>
            </a:r>
            <a:r>
              <a:t>efficient</a:t>
            </a:r>
            <a:r>
              <a:rPr spc="100"/>
              <a:t> </a:t>
            </a:r>
            <a:r>
              <a:t>with</a:t>
            </a:r>
            <a:r>
              <a:rPr spc="100"/>
              <a:t> </a:t>
            </a:r>
            <a:r>
              <a:rPr spc="-100"/>
              <a:t>fread() (4.2-</a:t>
            </a:r>
            <a:r>
              <a:t>7.2</a:t>
            </a:r>
            <a:r>
              <a:rPr spc="300"/>
              <a:t> </a:t>
            </a:r>
            <a:r>
              <a:t>Mb)</a:t>
            </a:r>
            <a:r>
              <a:rPr spc="300"/>
              <a:t> </a:t>
            </a:r>
            <a:r>
              <a:t>compared</a:t>
            </a:r>
            <a:r>
              <a:rPr spc="300"/>
              <a:t> </a:t>
            </a:r>
            <a:r>
              <a:t>to</a:t>
            </a:r>
            <a:r>
              <a:rPr spc="300"/>
              <a:t> </a:t>
            </a:r>
            <a:r>
              <a:t>read.csv()</a:t>
            </a:r>
            <a:r>
              <a:rPr spc="300"/>
              <a:t> </a:t>
            </a:r>
            <a:r>
              <a:rPr spc="-100"/>
              <a:t>(6.7-</a:t>
            </a:r>
            <a:r>
              <a:t>9.4</a:t>
            </a:r>
            <a:r>
              <a:rPr spc="300"/>
              <a:t> </a:t>
            </a:r>
            <a:r>
              <a:t>Mb),</a:t>
            </a:r>
            <a:r>
              <a:rPr spc="300"/>
              <a:t> </a:t>
            </a:r>
            <a:r>
              <a:t>further</a:t>
            </a:r>
            <a:r>
              <a:rPr spc="300"/>
              <a:t> </a:t>
            </a:r>
            <a:r>
              <a:rPr spc="-100"/>
              <a:t>supporting </a:t>
            </a:r>
            <a:r>
              <a:t>fread() as</a:t>
            </a:r>
            <a:r>
              <a:rPr spc="-100"/>
              <a:t> </a:t>
            </a:r>
            <a:r>
              <a:t>the</a:t>
            </a:r>
            <a:r>
              <a:rPr spc="-100"/>
              <a:t> </a:t>
            </a:r>
            <a:r>
              <a:t>preferred method</a:t>
            </a:r>
            <a:r>
              <a:rPr spc="-100"/>
              <a:t> </a:t>
            </a:r>
            <a:r>
              <a:t>for</a:t>
            </a:r>
            <a:r>
              <a:rPr spc="-100"/>
              <a:t> </a:t>
            </a:r>
            <a:r>
              <a:t>the</a:t>
            </a:r>
            <a:r>
              <a:rPr spc="-100"/>
              <a:t> analysis.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object 2"/>
          <p:cNvSpPr txBox="1"/>
          <p:nvPr>
            <p:ph type="title"/>
          </p:nvPr>
        </p:nvSpPr>
        <p:spPr>
          <a:xfrm>
            <a:off x="699713" y="248038"/>
            <a:ext cx="7063721" cy="1159200"/>
          </a:xfrm>
          <a:prstGeom prst="rect">
            <a:avLst/>
          </a:prstGeom>
        </p:spPr>
        <p:txBody>
          <a:bodyPr/>
          <a:lstStyle/>
          <a:p>
            <a:pPr indent="1016526" defTabSz="905255">
              <a:defRPr sz="1881">
                <a:solidFill>
                  <a:srgbClr val="FFFFFF"/>
                </a:solidFill>
              </a:defRPr>
            </a:pPr>
            <a:r>
              <a:t>Select</a:t>
            </a:r>
            <a:r>
              <a:rPr spc="-98"/>
              <a:t> 2-</a:t>
            </a:r>
            <a:r>
              <a:t>3</a:t>
            </a:r>
            <a:r>
              <a:rPr spc="-98"/>
              <a:t> </a:t>
            </a:r>
            <a:r>
              <a:t>features</a:t>
            </a:r>
            <a:r>
              <a:rPr spc="-98"/>
              <a:t> </a:t>
            </a:r>
            <a:r>
              <a:t>as</a:t>
            </a:r>
            <a:r>
              <a:rPr spc="-98"/>
              <a:t> </a:t>
            </a:r>
            <a:r>
              <a:t>X</a:t>
            </a:r>
            <a:r>
              <a:rPr spc="-98"/>
              <a:t> </a:t>
            </a:r>
            <a:r>
              <a:t>and</a:t>
            </a:r>
            <a:r>
              <a:rPr spc="-98"/>
              <a:t> </a:t>
            </a:r>
            <a:r>
              <a:t>one</a:t>
            </a:r>
            <a:r>
              <a:rPr spc="-98"/>
              <a:t> </a:t>
            </a:r>
            <a:r>
              <a:t>categorial</a:t>
            </a:r>
            <a:r>
              <a:rPr spc="-98"/>
              <a:t> </a:t>
            </a:r>
            <a:r>
              <a:t>feature</a:t>
            </a:r>
            <a:r>
              <a:rPr spc="-98"/>
              <a:t> </a:t>
            </a:r>
            <a:r>
              <a:t>for </a:t>
            </a:r>
            <a:r>
              <a:rPr spc="-98"/>
              <a:t>target</a:t>
            </a:r>
            <a:endParaRPr spc="-98"/>
          </a:p>
          <a:p>
            <a:pPr indent="1002067" defTabSz="905255">
              <a:defRPr sz="1881">
                <a:solidFill>
                  <a:srgbClr val="FFFFFF"/>
                </a:solidFill>
              </a:defRPr>
            </a:pPr>
            <a:r>
              <a:t>We</a:t>
            </a:r>
            <a:r>
              <a:rPr spc="-98"/>
              <a:t> </a:t>
            </a:r>
            <a:r>
              <a:t>selected</a:t>
            </a:r>
            <a:r>
              <a:rPr spc="-98"/>
              <a:t> </a:t>
            </a:r>
            <a:r>
              <a:t>pregnancies,</a:t>
            </a:r>
            <a:r>
              <a:rPr spc="-98"/>
              <a:t> </a:t>
            </a:r>
            <a:r>
              <a:t>age, glucose</a:t>
            </a:r>
            <a:r>
              <a:rPr spc="-98"/>
              <a:t> </a:t>
            </a:r>
            <a:r>
              <a:t>as</a:t>
            </a:r>
            <a:r>
              <a:rPr spc="-98"/>
              <a:t> </a:t>
            </a:r>
            <a:r>
              <a:t>x</a:t>
            </a:r>
            <a:r>
              <a:rPr spc="-98"/>
              <a:t> </a:t>
            </a:r>
            <a:r>
              <a:t>feature</a:t>
            </a:r>
            <a:r>
              <a:rPr spc="-98"/>
              <a:t> </a:t>
            </a:r>
            <a:r>
              <a:t>and</a:t>
            </a:r>
            <a:r>
              <a:rPr spc="-98"/>
              <a:t> </a:t>
            </a:r>
            <a:r>
              <a:t>outcome</a:t>
            </a:r>
            <a:r>
              <a:rPr spc="-98"/>
              <a:t> </a:t>
            </a:r>
            <a:r>
              <a:t>as</a:t>
            </a:r>
            <a:r>
              <a:rPr spc="-98"/>
              <a:t> </a:t>
            </a:r>
            <a:r>
              <a:t>categorical</a:t>
            </a:r>
            <a:r>
              <a:rPr spc="-98"/>
              <a:t> feature</a:t>
            </a:r>
          </a:p>
        </p:txBody>
      </p:sp>
      <p:pic>
        <p:nvPicPr>
          <p:cNvPr id="179" name="object 3" descr="object 3"/>
          <p:cNvPicPr>
            <a:picLocks noChangeAspect="1"/>
          </p:cNvPicPr>
          <p:nvPr/>
        </p:nvPicPr>
        <p:blipFill>
          <a:blip r:embed="rId2">
            <a:extLst/>
          </a:blip>
          <a:stretch>
            <a:fillRect/>
          </a:stretch>
        </p:blipFill>
        <p:spPr>
          <a:xfrm>
            <a:off x="888794" y="465667"/>
            <a:ext cx="10414411" cy="47752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object 2"/>
          <p:cNvSpPr txBox="1"/>
          <p:nvPr>
            <p:ph type="title"/>
          </p:nvPr>
        </p:nvSpPr>
        <p:spPr>
          <a:xfrm>
            <a:off x="572492" y="238538"/>
            <a:ext cx="11018522" cy="1434417"/>
          </a:xfrm>
          <a:prstGeom prst="rect">
            <a:avLst/>
          </a:prstGeom>
        </p:spPr>
        <p:txBody>
          <a:bodyPr anchor="b"/>
          <a:lstStyle/>
          <a:p>
            <a:pPr indent="12700">
              <a:defRPr sz="3200">
                <a:latin typeface="Times New Roman"/>
                <a:ea typeface="Times New Roman"/>
                <a:cs typeface="Times New Roman"/>
                <a:sym typeface="Times New Roman"/>
              </a:defRPr>
            </a:pPr>
            <a:r>
              <a:t>Accuracy</a:t>
            </a:r>
            <a:r>
              <a:rPr spc="100"/>
              <a:t> </a:t>
            </a:r>
            <a:r>
              <a:t>of model before</a:t>
            </a:r>
            <a:r>
              <a:rPr spc="100"/>
              <a:t> </a:t>
            </a:r>
            <a:r>
              <a:rPr spc="-100"/>
              <a:t>Dask</a:t>
            </a:r>
          </a:p>
        </p:txBody>
      </p:sp>
      <p:sp>
        <p:nvSpPr>
          <p:cNvPr id="182" name="object 3"/>
          <p:cNvSpPr txBox="1"/>
          <p:nvPr/>
        </p:nvSpPr>
        <p:spPr>
          <a:xfrm>
            <a:off x="618212" y="2071315"/>
            <a:ext cx="6622114" cy="411917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900"/>
              </a:spcBef>
              <a:defRPr spc="-100" sz="2000">
                <a:latin typeface="Times New Roman"/>
                <a:ea typeface="Times New Roman"/>
                <a:cs typeface="Times New Roman"/>
                <a:sym typeface="Times New Roman"/>
              </a:defRPr>
            </a:pPr>
            <a:r>
              <a:t>Interpretation:</a:t>
            </a:r>
            <a:endParaRPr spc="-10" sz="2600"/>
          </a:p>
          <a:p>
            <a:pPr marR="5080">
              <a:lnSpc>
                <a:spcPct val="90000"/>
              </a:lnSpc>
              <a:spcBef>
                <a:spcPts val="1000"/>
              </a:spcBef>
              <a:defRPr sz="2000">
                <a:latin typeface="Times New Roman"/>
                <a:ea typeface="Times New Roman"/>
                <a:cs typeface="Times New Roman"/>
                <a:sym typeface="Times New Roman"/>
              </a:defRPr>
            </a:pPr>
            <a:r>
              <a:t>	The</a:t>
            </a:r>
            <a:r>
              <a:rPr spc="100"/>
              <a:t> </a:t>
            </a:r>
            <a:r>
              <a:t>model's</a:t>
            </a:r>
            <a:r>
              <a:rPr spc="200"/>
              <a:t> </a:t>
            </a:r>
            <a:r>
              <a:t>accuracy</a:t>
            </a:r>
            <a:r>
              <a:rPr spc="200"/>
              <a:t> </a:t>
            </a:r>
            <a:r>
              <a:t>is</a:t>
            </a:r>
            <a:r>
              <a:rPr spc="200"/>
              <a:t> </a:t>
            </a:r>
            <a:r>
              <a:t>71.86%,</a:t>
            </a:r>
            <a:r>
              <a:rPr spc="100"/>
              <a:t> </a:t>
            </a:r>
            <a:r>
              <a:t>or</a:t>
            </a:r>
            <a:r>
              <a:rPr spc="100"/>
              <a:t> </a:t>
            </a:r>
            <a:r>
              <a:t>almost</a:t>
            </a:r>
            <a:r>
              <a:rPr spc="200"/>
              <a:t> </a:t>
            </a:r>
            <a:r>
              <a:rPr spc="-100"/>
              <a:t>72% </a:t>
            </a:r>
            <a:r>
              <a:t>of the time,</a:t>
            </a:r>
            <a:r>
              <a:rPr spc="-100"/>
              <a:t> </a:t>
            </a:r>
            <a:r>
              <a:t>which is respectable but not </a:t>
            </a:r>
            <a:r>
              <a:rPr spc="-100"/>
              <a:t>flawless. </a:t>
            </a:r>
            <a:r>
              <a:t>With</a:t>
            </a:r>
            <a:r>
              <a:rPr spc="100"/>
              <a:t> </a:t>
            </a:r>
            <a:r>
              <a:t>Class</a:t>
            </a:r>
            <a:r>
              <a:rPr spc="100"/>
              <a:t> </a:t>
            </a:r>
            <a:r>
              <a:t>0</a:t>
            </a:r>
            <a:r>
              <a:rPr spc="100"/>
              <a:t> </a:t>
            </a:r>
            <a:r>
              <a:t>(negative cases),</a:t>
            </a:r>
            <a:r>
              <a:rPr spc="100"/>
              <a:t> </a:t>
            </a:r>
            <a:r>
              <a:t>it</a:t>
            </a:r>
            <a:r>
              <a:rPr spc="100"/>
              <a:t> </a:t>
            </a:r>
            <a:r>
              <a:t>performs</a:t>
            </a:r>
            <a:r>
              <a:rPr spc="100"/>
              <a:t> </a:t>
            </a:r>
            <a:r>
              <a:rPr spc="-100"/>
              <a:t>better, </a:t>
            </a:r>
            <a:r>
              <a:t>catching</a:t>
            </a:r>
            <a:r>
              <a:rPr spc="400"/>
              <a:t> </a:t>
            </a:r>
            <a:r>
              <a:t>81%  of  the  actual  negatives  </a:t>
            </a:r>
            <a:r>
              <a:rPr spc="-100"/>
              <a:t>(Recall: 81%)</a:t>
            </a:r>
            <a:r>
              <a:t> and accurately</a:t>
            </a:r>
            <a:r>
              <a:rPr spc="100"/>
              <a:t> </a:t>
            </a:r>
            <a:r>
              <a:t>identifying 77% of the ones it predicts as negative</a:t>
            </a:r>
            <a:r>
              <a:rPr spc="100"/>
              <a:t> </a:t>
            </a:r>
            <a:r>
              <a:t>(Precision: </a:t>
            </a:r>
            <a:r>
              <a:rPr spc="-100"/>
              <a:t>77%).</a:t>
            </a:r>
            <a:r>
              <a:t> With </a:t>
            </a:r>
            <a:r>
              <a:rPr spc="-100"/>
              <a:t>only </a:t>
            </a:r>
            <a:r>
              <a:t>60%</a:t>
            </a:r>
            <a:r>
              <a:rPr spc="100"/>
              <a:t>  </a:t>
            </a:r>
            <a:r>
              <a:t>of</a:t>
            </a:r>
            <a:r>
              <a:rPr spc="100"/>
              <a:t>  </a:t>
            </a:r>
            <a:r>
              <a:t>its  positive</a:t>
            </a:r>
            <a:r>
              <a:rPr spc="100"/>
              <a:t>  </a:t>
            </a:r>
            <a:r>
              <a:t>predictions</a:t>
            </a:r>
            <a:r>
              <a:rPr spc="100"/>
              <a:t>  </a:t>
            </a:r>
            <a:r>
              <a:t>coming</a:t>
            </a:r>
            <a:r>
              <a:rPr spc="100"/>
              <a:t>  </a:t>
            </a:r>
            <a:r>
              <a:rPr spc="-100"/>
              <a:t>true </a:t>
            </a:r>
            <a:r>
              <a:t>(Precision: </a:t>
            </a:r>
            <a:r>
              <a:rPr spc="-100"/>
              <a:t>60%)</a:t>
            </a:r>
            <a:r>
              <a:t> and only 55% of all real </a:t>
            </a:r>
            <a:r>
              <a:rPr spc="-100"/>
              <a:t>positives </a:t>
            </a:r>
            <a:r>
              <a:t>(Recall:</a:t>
            </a:r>
            <a:r>
              <a:rPr spc="100"/>
              <a:t>  </a:t>
            </a:r>
            <a:r>
              <a:t>55%),</a:t>
            </a:r>
            <a:r>
              <a:rPr spc="100"/>
              <a:t>  </a:t>
            </a:r>
            <a:r>
              <a:t>it</a:t>
            </a:r>
            <a:r>
              <a:rPr spc="100"/>
              <a:t>  </a:t>
            </a:r>
            <a:r>
              <a:t>performs</a:t>
            </a:r>
            <a:r>
              <a:rPr spc="100"/>
              <a:t>  </a:t>
            </a:r>
            <a:r>
              <a:t>worse</a:t>
            </a:r>
            <a:r>
              <a:rPr spc="100"/>
              <a:t>  </a:t>
            </a:r>
            <a:r>
              <a:t>in</a:t>
            </a:r>
            <a:r>
              <a:rPr spc="100"/>
              <a:t>  </a:t>
            </a:r>
            <a:r>
              <a:t>Class</a:t>
            </a:r>
            <a:r>
              <a:rPr spc="100"/>
              <a:t>  </a:t>
            </a:r>
            <a:r>
              <a:rPr spc="-100"/>
              <a:t>1 </a:t>
            </a:r>
            <a:r>
              <a:t>(positive cases), suggesting</a:t>
            </a:r>
            <a:r>
              <a:rPr spc="100"/>
              <a:t> </a:t>
            </a:r>
            <a:r>
              <a:t>it</a:t>
            </a:r>
            <a:r>
              <a:rPr spc="100"/>
              <a:t> </a:t>
            </a:r>
            <a:r>
              <a:t>misses a </a:t>
            </a:r>
            <a:r>
              <a:rPr spc="-100"/>
              <a:t>significant </a:t>
            </a:r>
            <a:r>
              <a:t>number</a:t>
            </a:r>
            <a:r>
              <a:rPr spc="100"/>
              <a:t> </a:t>
            </a:r>
            <a:r>
              <a:t>of</a:t>
            </a:r>
            <a:r>
              <a:rPr spc="100"/>
              <a:t> </a:t>
            </a:r>
            <a:r>
              <a:t>them. Overall, the</a:t>
            </a:r>
            <a:r>
              <a:rPr spc="100"/>
              <a:t> </a:t>
            </a:r>
            <a:r>
              <a:t>model</a:t>
            </a:r>
            <a:r>
              <a:rPr spc="100"/>
              <a:t> </a:t>
            </a:r>
            <a:r>
              <a:t>tends</a:t>
            </a:r>
            <a:r>
              <a:rPr spc="100"/>
              <a:t> </a:t>
            </a:r>
            <a:r>
              <a:t>to</a:t>
            </a:r>
            <a:r>
              <a:rPr spc="100"/>
              <a:t> </a:t>
            </a:r>
            <a:r>
              <a:t>be </a:t>
            </a:r>
            <a:r>
              <a:rPr spc="100"/>
              <a:t>good</a:t>
            </a:r>
            <a:r>
              <a:rPr spc="-100"/>
              <a:t> </a:t>
            </a:r>
            <a:r>
              <a:t>at</a:t>
            </a:r>
            <a:r>
              <a:rPr spc="-100"/>
              <a:t> </a:t>
            </a:r>
            <a:r>
              <a:t>recognizing </a:t>
            </a:r>
            <a:r>
              <a:rPr spc="-100"/>
              <a:t>negatives.</a:t>
            </a:r>
          </a:p>
        </p:txBody>
      </p:sp>
      <p:pic>
        <p:nvPicPr>
          <p:cNvPr id="183" name="object 4" descr="object 4"/>
          <p:cNvPicPr>
            <a:picLocks noChangeAspect="1"/>
          </p:cNvPicPr>
          <p:nvPr/>
        </p:nvPicPr>
        <p:blipFill>
          <a:blip r:embed="rId2">
            <a:extLst/>
          </a:blip>
          <a:srcRect l="0" t="0" r="20633" b="3"/>
          <a:stretch>
            <a:fillRect/>
          </a:stretch>
        </p:blipFill>
        <p:spPr>
          <a:xfrm>
            <a:off x="7675657" y="2093976"/>
            <a:ext cx="3941065" cy="4096513"/>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object 2"/>
          <p:cNvSpPr txBox="1"/>
          <p:nvPr>
            <p:ph type="title"/>
          </p:nvPr>
        </p:nvSpPr>
        <p:spPr>
          <a:xfrm>
            <a:off x="762000" y="762001"/>
            <a:ext cx="10143068" cy="880533"/>
          </a:xfrm>
          <a:prstGeom prst="rect">
            <a:avLst/>
          </a:prstGeom>
        </p:spPr>
        <p:txBody>
          <a:bodyPr anchor="t"/>
          <a:lstStyle/>
          <a:p>
            <a:pPr indent="12700">
              <a:defRPr sz="3200">
                <a:latin typeface="Times New Roman"/>
                <a:ea typeface="Times New Roman"/>
                <a:cs typeface="Times New Roman"/>
                <a:sym typeface="Times New Roman"/>
              </a:defRPr>
            </a:pPr>
            <a:r>
              <a:t>Create</a:t>
            </a:r>
            <a:r>
              <a:rPr spc="-100"/>
              <a:t> </a:t>
            </a:r>
            <a:r>
              <a:t>the</a:t>
            </a:r>
            <a:r>
              <a:rPr spc="-100"/>
              <a:t> </a:t>
            </a:r>
            <a:r>
              <a:t>Random</a:t>
            </a:r>
            <a:r>
              <a:rPr spc="-100"/>
              <a:t> </a:t>
            </a:r>
            <a:r>
              <a:t>Forest</a:t>
            </a:r>
            <a:r>
              <a:rPr spc="-100"/>
              <a:t> </a:t>
            </a:r>
            <a:r>
              <a:t>graph</a:t>
            </a:r>
            <a:r>
              <a:rPr spc="-100"/>
              <a:t> </a:t>
            </a:r>
            <a:r>
              <a:t>before </a:t>
            </a:r>
            <a:r>
              <a:rPr spc="-100"/>
              <a:t>Dask</a:t>
            </a:r>
          </a:p>
        </p:txBody>
      </p:sp>
      <p:pic>
        <p:nvPicPr>
          <p:cNvPr id="186" name="object 3" descr="object 3"/>
          <p:cNvPicPr>
            <a:picLocks noChangeAspect="1"/>
          </p:cNvPicPr>
          <p:nvPr/>
        </p:nvPicPr>
        <p:blipFill>
          <a:blip r:embed="rId2">
            <a:extLst/>
          </a:blip>
          <a:stretch>
            <a:fillRect/>
          </a:stretch>
        </p:blipFill>
        <p:spPr>
          <a:xfrm>
            <a:off x="830218" y="2514600"/>
            <a:ext cx="5226963" cy="2768600"/>
          </a:xfrm>
          <a:prstGeom prst="rect">
            <a:avLst/>
          </a:prstGeom>
          <a:ln w="12700">
            <a:miter lim="400000"/>
          </a:ln>
        </p:spPr>
      </p:pic>
      <p:pic>
        <p:nvPicPr>
          <p:cNvPr id="187" name="object 4" descr="object 4"/>
          <p:cNvPicPr>
            <a:picLocks noChangeAspect="1"/>
          </p:cNvPicPr>
          <p:nvPr/>
        </p:nvPicPr>
        <p:blipFill>
          <a:blip r:embed="rId3">
            <a:extLst/>
          </a:blip>
          <a:stretch>
            <a:fillRect/>
          </a:stretch>
        </p:blipFill>
        <p:spPr>
          <a:xfrm>
            <a:off x="6333066" y="1430867"/>
            <a:ext cx="5134311" cy="395212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Rectangle 157"/>
          <p:cNvSpPr/>
          <p:nvPr/>
        </p:nvSpPr>
        <p:spPr>
          <a:xfrm>
            <a:off x="10" y="-5705"/>
            <a:ext cx="12191990" cy="1694346"/>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190" name="Rectangle 158"/>
          <p:cNvSpPr/>
          <p:nvPr/>
        </p:nvSpPr>
        <p:spPr>
          <a:xfrm>
            <a:off x="0" y="1688640"/>
            <a:ext cx="12191990" cy="5169360"/>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191" name="Rectangle 159"/>
          <p:cNvSpPr/>
          <p:nvPr/>
        </p:nvSpPr>
        <p:spPr>
          <a:xfrm>
            <a:off x="1156850" y="2010758"/>
            <a:ext cx="45719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192" name="object 2"/>
          <p:cNvSpPr txBox="1"/>
          <p:nvPr/>
        </p:nvSpPr>
        <p:spPr>
          <a:xfrm>
            <a:off x="1201267" y="2217342"/>
            <a:ext cx="9789454" cy="39596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00"/>
              </a:spcBef>
              <a:tabLst>
                <a:tab pos="241300" algn="l"/>
              </a:tabLst>
              <a:defRPr b="1" spc="-100" sz="2400">
                <a:solidFill>
                  <a:srgbClr val="0D0D0D"/>
                </a:solidFill>
                <a:latin typeface="Times New Roman"/>
                <a:ea typeface="Times New Roman"/>
                <a:cs typeface="Times New Roman"/>
                <a:sym typeface="Times New Roman"/>
              </a:defRPr>
            </a:pPr>
            <a:r>
              <a:t>Interpretation</a:t>
            </a:r>
            <a:r>
              <a:rPr spc="300"/>
              <a:t> </a:t>
            </a:r>
            <a:r>
              <a:rPr spc="0"/>
              <a:t>for</a:t>
            </a:r>
            <a:r>
              <a:rPr spc="-200"/>
              <a:t> </a:t>
            </a:r>
            <a:r>
              <a:rPr spc="0"/>
              <a:t>the</a:t>
            </a:r>
            <a:r>
              <a:t> </a:t>
            </a:r>
            <a:r>
              <a:rPr spc="0"/>
              <a:t>graph</a:t>
            </a:r>
            <a:r>
              <a:t> </a:t>
            </a:r>
            <a:r>
              <a:rPr spc="0"/>
              <a:t>before </a:t>
            </a:r>
            <a:r>
              <a:t>dask</a:t>
            </a:r>
            <a:endParaRPr spc="-20"/>
          </a:p>
          <a:p>
            <a:pPr marR="5080">
              <a:lnSpc>
                <a:spcPct val="90000"/>
              </a:lnSpc>
              <a:spcBef>
                <a:spcPts val="1000"/>
              </a:spcBef>
              <a:tabLst>
                <a:tab pos="241300" algn="l"/>
              </a:tabLst>
              <a:defRPr sz="2400">
                <a:latin typeface="Times New Roman"/>
                <a:ea typeface="Times New Roman"/>
                <a:cs typeface="Times New Roman"/>
                <a:sym typeface="Times New Roman"/>
              </a:defRPr>
            </a:pPr>
            <a:r>
              <a:t>	Each internal</a:t>
            </a:r>
            <a:r>
              <a:rPr spc="-100"/>
              <a:t> </a:t>
            </a:r>
            <a:r>
              <a:rPr spc="100"/>
              <a:t>node</a:t>
            </a:r>
            <a:r>
              <a:t> represents a</a:t>
            </a:r>
            <a:r>
              <a:rPr spc="-100"/>
              <a:t> </a:t>
            </a:r>
            <a:r>
              <a:t>condition</a:t>
            </a:r>
            <a:r>
              <a:rPr spc="-100"/>
              <a:t> </a:t>
            </a:r>
            <a:r>
              <a:t>based on one</a:t>
            </a:r>
            <a:r>
              <a:rPr spc="-100"/>
              <a:t> </a:t>
            </a:r>
            <a:r>
              <a:t>of</a:t>
            </a:r>
            <a:r>
              <a:rPr spc="100"/>
              <a:t> </a:t>
            </a:r>
            <a:r>
              <a:t>the</a:t>
            </a:r>
            <a:r>
              <a:rPr spc="-100"/>
              <a:t> </a:t>
            </a:r>
            <a:r>
              <a:t>features,</a:t>
            </a:r>
            <a:r>
              <a:rPr spc="-100"/>
              <a:t> </a:t>
            </a:r>
            <a:r>
              <a:t>such as </a:t>
            </a:r>
            <a:r>
              <a:rPr spc="-100"/>
              <a:t>Pregnancies, </a:t>
            </a:r>
            <a:r>
              <a:t>Age,</a:t>
            </a:r>
            <a:r>
              <a:rPr spc="-200"/>
              <a:t> </a:t>
            </a:r>
            <a:r>
              <a:t>or</a:t>
            </a:r>
            <a:r>
              <a:rPr spc="-100"/>
              <a:t> </a:t>
            </a:r>
            <a:r>
              <a:t>Glucose.</a:t>
            </a:r>
            <a:r>
              <a:rPr spc="-200"/>
              <a:t> </a:t>
            </a:r>
            <a:r>
              <a:t>For</a:t>
            </a:r>
            <a:r>
              <a:rPr spc="-100"/>
              <a:t> </a:t>
            </a:r>
            <a:r>
              <a:t>instance,</a:t>
            </a:r>
            <a:r>
              <a:rPr spc="-200"/>
              <a:t> </a:t>
            </a:r>
            <a:r>
              <a:t>a </a:t>
            </a:r>
            <a:r>
              <a:rPr spc="100"/>
              <a:t>node</a:t>
            </a:r>
            <a:r>
              <a:t> might</a:t>
            </a:r>
            <a:r>
              <a:rPr spc="-100"/>
              <a:t> </a:t>
            </a:r>
            <a:r>
              <a:t>split</a:t>
            </a:r>
            <a:r>
              <a:rPr spc="-100"/>
              <a:t> </a:t>
            </a:r>
            <a:r>
              <a:t>on</a:t>
            </a:r>
            <a:r>
              <a:rPr spc="-100"/>
              <a:t> </a:t>
            </a:r>
            <a:r>
              <a:t>Glucose</a:t>
            </a:r>
            <a:r>
              <a:rPr spc="-100"/>
              <a:t> &lt;= </a:t>
            </a:r>
            <a:r>
              <a:t>120,</a:t>
            </a:r>
            <a:r>
              <a:rPr spc="-200"/>
              <a:t> </a:t>
            </a:r>
            <a:r>
              <a:t>meaning</a:t>
            </a:r>
            <a:r>
              <a:rPr spc="-100"/>
              <a:t> </a:t>
            </a:r>
            <a:r>
              <a:t>that</a:t>
            </a:r>
            <a:r>
              <a:rPr spc="-100"/>
              <a:t> </a:t>
            </a:r>
            <a:r>
              <a:t>if</a:t>
            </a:r>
            <a:r>
              <a:rPr spc="-100"/>
              <a:t> </a:t>
            </a:r>
            <a:r>
              <a:t>Glucose</a:t>
            </a:r>
            <a:r>
              <a:rPr spc="-100"/>
              <a:t> is </a:t>
            </a:r>
            <a:r>
              <a:t>less than</a:t>
            </a:r>
            <a:r>
              <a:rPr spc="-100"/>
              <a:t> </a:t>
            </a:r>
            <a:r>
              <a:t>or equal</a:t>
            </a:r>
            <a:r>
              <a:rPr spc="-100"/>
              <a:t> </a:t>
            </a:r>
            <a:r>
              <a:t>to</a:t>
            </a:r>
            <a:r>
              <a:rPr spc="-100"/>
              <a:t> </a:t>
            </a:r>
            <a:r>
              <a:t>120, the</a:t>
            </a:r>
            <a:r>
              <a:rPr spc="-100"/>
              <a:t> </a:t>
            </a:r>
            <a:r>
              <a:t>data will </a:t>
            </a:r>
            <a:r>
              <a:rPr spc="100"/>
              <a:t>go</a:t>
            </a:r>
            <a:r>
              <a:t> to</a:t>
            </a:r>
            <a:r>
              <a:rPr spc="-100"/>
              <a:t> </a:t>
            </a:r>
            <a:r>
              <a:t>the left child,</a:t>
            </a:r>
            <a:r>
              <a:rPr spc="-100"/>
              <a:t> </a:t>
            </a:r>
            <a:r>
              <a:t>and if greater,</a:t>
            </a:r>
            <a:r>
              <a:rPr spc="-100"/>
              <a:t> </a:t>
            </a:r>
            <a:r>
              <a:t>it</a:t>
            </a:r>
            <a:r>
              <a:rPr spc="-100"/>
              <a:t> </a:t>
            </a:r>
            <a:r>
              <a:t>will </a:t>
            </a:r>
            <a:r>
              <a:rPr spc="100"/>
              <a:t>go</a:t>
            </a:r>
            <a:r>
              <a:rPr spc="-100"/>
              <a:t> </a:t>
            </a:r>
            <a:r>
              <a:t>to</a:t>
            </a:r>
            <a:r>
              <a:rPr spc="-100"/>
              <a:t> </a:t>
            </a:r>
            <a:r>
              <a:t>the </a:t>
            </a:r>
            <a:r>
              <a:rPr spc="-100"/>
              <a:t>right </a:t>
            </a:r>
            <a:r>
              <a:t>child.</a:t>
            </a:r>
            <a:r>
              <a:rPr spc="-200"/>
              <a:t> </a:t>
            </a:r>
            <a:r>
              <a:t>The terminal nodes show</a:t>
            </a:r>
            <a:r>
              <a:rPr spc="-100"/>
              <a:t> </a:t>
            </a:r>
            <a:r>
              <a:t>the</a:t>
            </a:r>
            <a:r>
              <a:rPr spc="-100"/>
              <a:t> </a:t>
            </a:r>
            <a:r>
              <a:t>predicted</a:t>
            </a:r>
            <a:r>
              <a:rPr spc="-100"/>
              <a:t> </a:t>
            </a:r>
            <a:r>
              <a:t>outcome,</a:t>
            </a:r>
            <a:r>
              <a:rPr spc="-100"/>
              <a:t> </a:t>
            </a:r>
            <a:r>
              <a:t>where</a:t>
            </a:r>
            <a:r>
              <a:rPr spc="-100"/>
              <a:t> </a:t>
            </a:r>
            <a:r>
              <a:t>0 represents</a:t>
            </a:r>
            <a:r>
              <a:rPr spc="-100"/>
              <a:t> </a:t>
            </a:r>
            <a:r>
              <a:t>"no</a:t>
            </a:r>
            <a:r>
              <a:rPr spc="-100"/>
              <a:t> </a:t>
            </a:r>
            <a:r>
              <a:t>diabetes"</a:t>
            </a:r>
            <a:r>
              <a:rPr spc="-100"/>
              <a:t> </a:t>
            </a:r>
            <a:r>
              <a:t>and</a:t>
            </a:r>
            <a:r>
              <a:rPr spc="-100"/>
              <a:t> </a:t>
            </a:r>
            <a:r>
              <a:t>1 represents "diabetes."</a:t>
            </a:r>
            <a:r>
              <a:rPr spc="-100"/>
              <a:t> </a:t>
            </a:r>
            <a:r>
              <a:t>These predictions are based on</a:t>
            </a:r>
            <a:r>
              <a:rPr spc="-100"/>
              <a:t> </a:t>
            </a:r>
            <a:r>
              <a:t>the</a:t>
            </a:r>
            <a:r>
              <a:rPr spc="-100"/>
              <a:t> </a:t>
            </a:r>
            <a:r>
              <a:t>majority class of the samples in</a:t>
            </a:r>
            <a:r>
              <a:rPr spc="-100"/>
              <a:t> </a:t>
            </a:r>
            <a:r>
              <a:t>each leaf node.</a:t>
            </a:r>
            <a:r>
              <a:rPr spc="-100"/>
              <a:t> </a:t>
            </a:r>
            <a:r>
              <a:t>The color</a:t>
            </a:r>
            <a:r>
              <a:rPr spc="-100"/>
              <a:t> </a:t>
            </a:r>
            <a:r>
              <a:t>of each </a:t>
            </a:r>
            <a:r>
              <a:rPr spc="100"/>
              <a:t>node</a:t>
            </a:r>
            <a:r>
              <a:rPr spc="-100"/>
              <a:t> </a:t>
            </a:r>
            <a:r>
              <a:t>corresponds</a:t>
            </a:r>
            <a:r>
              <a:rPr spc="-100"/>
              <a:t> </a:t>
            </a:r>
            <a:r>
              <a:t>to</a:t>
            </a:r>
            <a:r>
              <a:rPr spc="-100"/>
              <a:t> </a:t>
            </a:r>
            <a:r>
              <a:t>the majority class</a:t>
            </a:r>
            <a:r>
              <a:rPr spc="-100"/>
              <a:t> </a:t>
            </a:r>
            <a:r>
              <a:t>at that</a:t>
            </a:r>
            <a:r>
              <a:rPr spc="-100"/>
              <a:t> </a:t>
            </a:r>
            <a:r>
              <a:t>node,</a:t>
            </a:r>
            <a:r>
              <a:rPr spc="-100"/>
              <a:t> </a:t>
            </a:r>
            <a:r>
              <a:t>helping </a:t>
            </a:r>
            <a:r>
              <a:rPr spc="-100"/>
              <a:t>to </a:t>
            </a:r>
            <a:r>
              <a:t>illustrate</a:t>
            </a:r>
            <a:r>
              <a:rPr spc="100"/>
              <a:t> </a:t>
            </a:r>
            <a:r>
              <a:t>how the tree</a:t>
            </a:r>
            <a:r>
              <a:rPr spc="100"/>
              <a:t> </a:t>
            </a:r>
            <a:r>
              <a:t>classifies individuals with different</a:t>
            </a:r>
            <a:r>
              <a:rPr spc="100"/>
              <a:t> </a:t>
            </a:r>
            <a:r>
              <a:t>feature</a:t>
            </a:r>
            <a:r>
              <a:rPr spc="100"/>
              <a:t> </a:t>
            </a:r>
            <a:r>
              <a:rPr spc="-100"/>
              <a:t>values.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4" name="object 3" descr="object 3"/>
          <p:cNvPicPr>
            <a:picLocks noChangeAspect="1"/>
          </p:cNvPicPr>
          <p:nvPr/>
        </p:nvPicPr>
        <p:blipFill>
          <a:blip r:embed="rId2">
            <a:extLst/>
          </a:blip>
          <a:stretch>
            <a:fillRect/>
          </a:stretch>
        </p:blipFill>
        <p:spPr>
          <a:xfrm>
            <a:off x="381000" y="2474617"/>
            <a:ext cx="5545667" cy="2088916"/>
          </a:xfrm>
          <a:prstGeom prst="rect">
            <a:avLst/>
          </a:prstGeom>
          <a:ln w="12700">
            <a:miter lim="400000"/>
          </a:ln>
        </p:spPr>
      </p:pic>
      <p:sp>
        <p:nvSpPr>
          <p:cNvPr id="195" name="object 2"/>
          <p:cNvSpPr txBox="1"/>
          <p:nvPr/>
        </p:nvSpPr>
        <p:spPr>
          <a:xfrm>
            <a:off x="5972386" y="1574799"/>
            <a:ext cx="6173894" cy="324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12064">
              <a:lnSpc>
                <a:spcPct val="90000"/>
              </a:lnSpc>
              <a:spcBef>
                <a:spcPts val="800"/>
              </a:spcBef>
              <a:tabLst>
                <a:tab pos="228600" algn="l"/>
              </a:tabLst>
              <a:defRPr spc="-9" sz="2000">
                <a:solidFill>
                  <a:srgbClr val="0D0D0D"/>
                </a:solidFill>
                <a:latin typeface="Times New Roman"/>
                <a:ea typeface="Times New Roman"/>
                <a:cs typeface="Times New Roman"/>
                <a:sym typeface="Times New Roman"/>
              </a:defRPr>
            </a:pPr>
            <a:r>
              <a:t>Interpretation:</a:t>
            </a:r>
            <a:endParaRPr>
              <a:solidFill>
                <a:srgbClr val="92D050"/>
              </a:solidFill>
            </a:endParaRPr>
          </a:p>
          <a:p>
            <a:pPr marR="5080" indent="12700">
              <a:lnSpc>
                <a:spcPct val="90000"/>
              </a:lnSpc>
              <a:spcBef>
                <a:spcPts val="900"/>
              </a:spcBef>
              <a:tabLst>
                <a:tab pos="241300" algn="l"/>
              </a:tabLst>
              <a:defRPr sz="2000">
                <a:latin typeface="Times New Roman"/>
                <a:ea typeface="Times New Roman"/>
                <a:cs typeface="Times New Roman"/>
                <a:sym typeface="Times New Roman"/>
              </a:defRPr>
            </a:pPr>
            <a:r>
              <a:t>	</a:t>
            </a:r>
          </a:p>
          <a:p>
            <a:pPr marR="5080" indent="12700">
              <a:lnSpc>
                <a:spcPct val="90000"/>
              </a:lnSpc>
              <a:spcBef>
                <a:spcPts val="900"/>
              </a:spcBef>
              <a:tabLst>
                <a:tab pos="241300" algn="l"/>
              </a:tabLst>
              <a:defRPr sz="2000">
                <a:latin typeface="Times New Roman"/>
                <a:ea typeface="Times New Roman"/>
                <a:cs typeface="Times New Roman"/>
                <a:sym typeface="Times New Roman"/>
              </a:defRPr>
            </a:pPr>
            <a:r>
              <a:t> 			The</a:t>
            </a:r>
            <a:r>
              <a:rPr spc="-65"/>
              <a:t> </a:t>
            </a:r>
            <a:r>
              <a:t>running</a:t>
            </a:r>
            <a:r>
              <a:rPr spc="-30"/>
              <a:t> </a:t>
            </a:r>
            <a:r>
              <a:t>time</a:t>
            </a:r>
            <a:r>
              <a:rPr spc="4"/>
              <a:t> </a:t>
            </a:r>
            <a:r>
              <a:t>for</a:t>
            </a:r>
            <a:r>
              <a:rPr spc="-60"/>
              <a:t> </a:t>
            </a:r>
            <a:r>
              <a:t>training</a:t>
            </a:r>
            <a:r>
              <a:rPr spc="-35"/>
              <a:t> </a:t>
            </a:r>
            <a:r>
              <a:t>the RandomForestClassifier</a:t>
            </a:r>
            <a:r>
              <a:rPr spc="-50"/>
              <a:t> </a:t>
            </a:r>
            <a:r>
              <a:t>with</a:t>
            </a:r>
            <a:r>
              <a:rPr spc="-25"/>
              <a:t> </a:t>
            </a:r>
            <a:r>
              <a:t>50</a:t>
            </a:r>
            <a:r>
              <a:rPr spc="-30"/>
              <a:t> </a:t>
            </a:r>
            <a:r>
              <a:t>estimators</a:t>
            </a:r>
            <a:r>
              <a:rPr spc="-19"/>
              <a:t> </a:t>
            </a:r>
            <a:r>
              <a:t>on</a:t>
            </a:r>
            <a:r>
              <a:rPr spc="-30"/>
              <a:t> </a:t>
            </a:r>
            <a:r>
              <a:rPr spc="-25"/>
              <a:t>the </a:t>
            </a:r>
            <a:r>
              <a:t>diabetes</a:t>
            </a:r>
            <a:r>
              <a:rPr spc="-45"/>
              <a:t> </a:t>
            </a:r>
            <a:r>
              <a:t>dataset</a:t>
            </a:r>
            <a:r>
              <a:rPr spc="-45"/>
              <a:t> </a:t>
            </a:r>
            <a:r>
              <a:t>is</a:t>
            </a:r>
            <a:r>
              <a:rPr spc="-39"/>
              <a:t> </a:t>
            </a:r>
            <a:r>
              <a:t>approximately</a:t>
            </a:r>
            <a:r>
              <a:rPr spc="-45"/>
              <a:t> </a:t>
            </a:r>
            <a:r>
              <a:t>0.077</a:t>
            </a:r>
            <a:r>
              <a:rPr spc="-45"/>
              <a:t> </a:t>
            </a:r>
            <a:r>
              <a:t>seconds.</a:t>
            </a:r>
            <a:r>
              <a:rPr spc="-55"/>
              <a:t> </a:t>
            </a:r>
            <a:r>
              <a:t>This</a:t>
            </a:r>
            <a:r>
              <a:rPr spc="-45"/>
              <a:t> </a:t>
            </a:r>
            <a:r>
              <a:t>time</a:t>
            </a:r>
            <a:r>
              <a:rPr spc="-4"/>
              <a:t> </a:t>
            </a:r>
            <a:r>
              <a:t>shows</a:t>
            </a:r>
            <a:r>
              <a:rPr spc="-45"/>
              <a:t> </a:t>
            </a:r>
            <a:r>
              <a:t>how</a:t>
            </a:r>
            <a:r>
              <a:rPr spc="-39"/>
              <a:t> </a:t>
            </a:r>
            <a:r>
              <a:t>long</a:t>
            </a:r>
            <a:r>
              <a:rPr spc="-45"/>
              <a:t> </a:t>
            </a:r>
            <a:r>
              <a:t>it</a:t>
            </a:r>
            <a:r>
              <a:rPr spc="-45"/>
              <a:t> </a:t>
            </a:r>
            <a:r>
              <a:t>took</a:t>
            </a:r>
            <a:r>
              <a:rPr spc="-39"/>
              <a:t> </a:t>
            </a:r>
            <a:r>
              <a:t>to</a:t>
            </a:r>
            <a:r>
              <a:rPr spc="-45"/>
              <a:t> </a:t>
            </a:r>
            <a:r>
              <a:rPr spc="-25"/>
              <a:t>fit </a:t>
            </a:r>
            <a:r>
              <a:t>the</a:t>
            </a:r>
            <a:r>
              <a:rPr spc="-55"/>
              <a:t> </a:t>
            </a:r>
            <a:r>
              <a:t>model</a:t>
            </a:r>
            <a:r>
              <a:rPr spc="-19"/>
              <a:t> </a:t>
            </a:r>
            <a:r>
              <a:t>on</a:t>
            </a:r>
            <a:r>
              <a:rPr spc="-19"/>
              <a:t> </a:t>
            </a:r>
            <a:r>
              <a:t>the</a:t>
            </a:r>
            <a:r>
              <a:rPr spc="19"/>
              <a:t> </a:t>
            </a:r>
            <a:r>
              <a:t>training</a:t>
            </a:r>
            <a:r>
              <a:rPr spc="-25"/>
              <a:t> </a:t>
            </a:r>
            <a:r>
              <a:t>data.</a:t>
            </a:r>
            <a:r>
              <a:rPr spc="-35"/>
              <a:t> </a:t>
            </a:r>
            <a:r>
              <a:t>It</a:t>
            </a:r>
            <a:r>
              <a:rPr spc="-19"/>
              <a:t> </a:t>
            </a:r>
            <a:r>
              <a:t>is</a:t>
            </a:r>
            <a:r>
              <a:rPr spc="-19"/>
              <a:t> </a:t>
            </a:r>
            <a:r>
              <a:t>the</a:t>
            </a:r>
            <a:r>
              <a:rPr spc="-50"/>
              <a:t> </a:t>
            </a:r>
            <a:r>
              <a:t>non-parallel</a:t>
            </a:r>
            <a:r>
              <a:rPr spc="-25"/>
              <a:t> </a:t>
            </a:r>
            <a:r>
              <a:t>time,</a:t>
            </a:r>
            <a:r>
              <a:rPr spc="-39"/>
              <a:t> </a:t>
            </a:r>
            <a:r>
              <a:t>meaning</a:t>
            </a:r>
            <a:r>
              <a:rPr spc="-19"/>
              <a:t> </a:t>
            </a:r>
            <a:r>
              <a:t>the</a:t>
            </a:r>
            <a:r>
              <a:rPr spc="-50"/>
              <a:t> </a:t>
            </a:r>
            <a:r>
              <a:t>model</a:t>
            </a:r>
            <a:r>
              <a:rPr spc="-19"/>
              <a:t> </a:t>
            </a:r>
            <a:r>
              <a:t>was</a:t>
            </a:r>
            <a:r>
              <a:rPr spc="-25"/>
              <a:t> </a:t>
            </a:r>
            <a:r>
              <a:rPr spc="-9"/>
              <a:t>trained </a:t>
            </a:r>
            <a:r>
              <a:t>using</a:t>
            </a:r>
            <a:r>
              <a:rPr spc="-45"/>
              <a:t> </a:t>
            </a:r>
            <a:r>
              <a:t>a single</a:t>
            </a:r>
            <a:r>
              <a:rPr spc="-75"/>
              <a:t> </a:t>
            </a:r>
            <a:r>
              <a:t>core</a:t>
            </a:r>
            <a:r>
              <a:rPr spc="-4"/>
              <a:t> </a:t>
            </a:r>
            <a:r>
              <a:t>and</a:t>
            </a:r>
            <a:r>
              <a:rPr spc="-39"/>
              <a:t> </a:t>
            </a:r>
            <a:r>
              <a:t>the</a:t>
            </a:r>
            <a:r>
              <a:rPr spc="-4"/>
              <a:t> </a:t>
            </a:r>
            <a:r>
              <a:t>computations</a:t>
            </a:r>
            <a:r>
              <a:rPr spc="-39"/>
              <a:t> </a:t>
            </a:r>
            <a:r>
              <a:t>were</a:t>
            </a:r>
            <a:r>
              <a:rPr spc="-70"/>
              <a:t> </a:t>
            </a:r>
            <a:r>
              <a:t>not</a:t>
            </a:r>
            <a:r>
              <a:rPr spc="-39"/>
              <a:t> </a:t>
            </a:r>
            <a:r>
              <a:t>spread</a:t>
            </a:r>
            <a:r>
              <a:rPr spc="-45"/>
              <a:t> </a:t>
            </a:r>
            <a:r>
              <a:t>across</a:t>
            </a:r>
            <a:r>
              <a:rPr spc="-39"/>
              <a:t> </a:t>
            </a:r>
            <a:r>
              <a:t>multiple</a:t>
            </a:r>
            <a:r>
              <a:rPr spc="-4"/>
              <a:t> </a:t>
            </a:r>
            <a:r>
              <a:t>processors</a:t>
            </a:r>
            <a:r>
              <a:rPr spc="-39"/>
              <a:t> </a:t>
            </a:r>
            <a:r>
              <a:rPr spc="-25"/>
              <a:t>or </a:t>
            </a:r>
            <a:r>
              <a:t>threads.</a:t>
            </a:r>
            <a:r>
              <a:rPr spc="-65"/>
              <a:t> </a:t>
            </a:r>
            <a:r>
              <a:t>For</a:t>
            </a:r>
            <a:r>
              <a:rPr spc="-15"/>
              <a:t> </a:t>
            </a:r>
            <a:r>
              <a:t>larger</a:t>
            </a:r>
            <a:r>
              <a:rPr spc="-79"/>
              <a:t> </a:t>
            </a:r>
            <a:r>
              <a:t>datasets</a:t>
            </a:r>
            <a:r>
              <a:rPr spc="-50"/>
              <a:t> </a:t>
            </a:r>
            <a:r>
              <a:t>or</a:t>
            </a:r>
            <a:r>
              <a:rPr spc="-15"/>
              <a:t> </a:t>
            </a:r>
            <a:r>
              <a:t>more</a:t>
            </a:r>
            <a:r>
              <a:rPr spc="-85"/>
              <a:t> </a:t>
            </a:r>
            <a:r>
              <a:t>complex</a:t>
            </a:r>
            <a:r>
              <a:rPr spc="-50"/>
              <a:t> </a:t>
            </a:r>
            <a:r>
              <a:t>models,</a:t>
            </a:r>
            <a:r>
              <a:rPr spc="4"/>
              <a:t> </a:t>
            </a:r>
            <a:r>
              <a:t>using</a:t>
            </a:r>
            <a:r>
              <a:rPr spc="-50"/>
              <a:t> </a:t>
            </a:r>
            <a:r>
              <a:t>parallel</a:t>
            </a:r>
            <a:r>
              <a:rPr spc="-50"/>
              <a:t> </a:t>
            </a:r>
            <a:r>
              <a:t>processing</a:t>
            </a:r>
            <a:r>
              <a:rPr spc="-50"/>
              <a:t> </a:t>
            </a:r>
            <a:r>
              <a:rPr spc="-9"/>
              <a:t>could </a:t>
            </a:r>
            <a:r>
              <a:t>reduce</a:t>
            </a:r>
            <a:r>
              <a:rPr spc="-9"/>
              <a:t> </a:t>
            </a:r>
            <a:r>
              <a:t>the</a:t>
            </a:r>
            <a:r>
              <a:rPr spc="-4"/>
              <a:t> </a:t>
            </a:r>
            <a:r>
              <a:t>training</a:t>
            </a:r>
            <a:r>
              <a:rPr spc="-45"/>
              <a:t> </a:t>
            </a:r>
            <a:r>
              <a:t>time</a:t>
            </a:r>
            <a:r>
              <a:rPr spc="-75"/>
              <a:t> </a:t>
            </a:r>
            <a:r>
              <a:rPr spc="-9"/>
              <a:t>significantly.</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object 2"/>
          <p:cNvSpPr txBox="1"/>
          <p:nvPr/>
        </p:nvSpPr>
        <p:spPr>
          <a:xfrm>
            <a:off x="155254" y="191196"/>
            <a:ext cx="4332079" cy="7976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800">
                <a:solidFill>
                  <a:srgbClr val="0D0D0D"/>
                </a:solidFill>
                <a:latin typeface="Times New Roman"/>
                <a:ea typeface="Times New Roman"/>
                <a:cs typeface="Times New Roman"/>
                <a:sym typeface="Times New Roman"/>
              </a:defRPr>
            </a:pPr>
            <a:r>
              <a:t>Create</a:t>
            </a:r>
            <a:r>
              <a:rPr spc="-20"/>
              <a:t> </a:t>
            </a:r>
            <a:r>
              <a:t>the</a:t>
            </a:r>
            <a:r>
              <a:rPr spc="-15"/>
              <a:t> </a:t>
            </a:r>
            <a:r>
              <a:t>Random</a:t>
            </a:r>
            <a:r>
              <a:rPr spc="-40"/>
              <a:t> </a:t>
            </a:r>
            <a:r>
              <a:t>Forest</a:t>
            </a:r>
            <a:r>
              <a:rPr spc="-75"/>
              <a:t> </a:t>
            </a:r>
            <a:r>
              <a:t>graph</a:t>
            </a:r>
            <a:r>
              <a:rPr spc="-15"/>
              <a:t> </a:t>
            </a:r>
            <a:r>
              <a:t>after</a:t>
            </a:r>
            <a:r>
              <a:rPr spc="-10"/>
              <a:t> </a:t>
            </a:r>
            <a:r>
              <a:t>Dask</a:t>
            </a:r>
            <a:r>
              <a:rPr spc="-5"/>
              <a:t> </a:t>
            </a:r>
            <a:r>
              <a:t>and</a:t>
            </a:r>
            <a:r>
              <a:rPr spc="-15"/>
              <a:t> </a:t>
            </a:r>
            <a:r>
              <a:rPr spc="-10"/>
              <a:t>accuracy</a:t>
            </a:r>
          </a:p>
        </p:txBody>
      </p:sp>
      <p:sp>
        <p:nvSpPr>
          <p:cNvPr id="198" name="object 3"/>
          <p:cNvSpPr txBox="1"/>
          <p:nvPr>
            <p:ph type="title"/>
          </p:nvPr>
        </p:nvSpPr>
        <p:spPr>
          <a:xfrm>
            <a:off x="8159114" y="461073"/>
            <a:ext cx="2432686" cy="357507"/>
          </a:xfrm>
          <a:prstGeom prst="rect">
            <a:avLst/>
          </a:prstGeom>
        </p:spPr>
        <p:txBody>
          <a:bodyPr/>
          <a:lstStyle>
            <a:lvl1pPr indent="8889" defTabSz="640079">
              <a:defRPr spc="-70" sz="1960">
                <a:latin typeface="Times New Roman"/>
                <a:ea typeface="Times New Roman"/>
                <a:cs typeface="Times New Roman"/>
                <a:sym typeface="Times New Roman"/>
              </a:defRPr>
            </a:lvl1pPr>
          </a:lstStyle>
          <a:p>
            <a:pPr/>
            <a:r>
              <a:t>Interpretation:</a:t>
            </a:r>
          </a:p>
        </p:txBody>
      </p:sp>
      <p:sp>
        <p:nvSpPr>
          <p:cNvPr id="199" name="object 4"/>
          <p:cNvSpPr txBox="1"/>
          <p:nvPr/>
        </p:nvSpPr>
        <p:spPr>
          <a:xfrm>
            <a:off x="8159115" y="930909"/>
            <a:ext cx="3721735" cy="40747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R="5080" indent="12700">
              <a:lnSpc>
                <a:spcPct val="92300"/>
              </a:lnSpc>
              <a:spcBef>
                <a:spcPts val="300"/>
              </a:spcBef>
              <a:defRPr sz="2000">
                <a:latin typeface="Times New Roman"/>
                <a:ea typeface="Times New Roman"/>
                <a:cs typeface="Times New Roman"/>
                <a:sym typeface="Times New Roman"/>
              </a:defRPr>
            </a:pPr>
            <a:r>
              <a:t>   	It</a:t>
            </a:r>
            <a:r>
              <a:rPr spc="45"/>
              <a:t> </a:t>
            </a:r>
            <a:r>
              <a:t>initializes</a:t>
            </a:r>
            <a:r>
              <a:rPr spc="120"/>
              <a:t> </a:t>
            </a:r>
            <a:r>
              <a:t>a</a:t>
            </a:r>
            <a:r>
              <a:rPr spc="90"/>
              <a:t> </a:t>
            </a:r>
            <a:r>
              <a:t>Dask</a:t>
            </a:r>
            <a:r>
              <a:rPr spc="65"/>
              <a:t> </a:t>
            </a:r>
            <a:r>
              <a:t>Client</a:t>
            </a:r>
            <a:r>
              <a:rPr spc="60"/>
              <a:t> </a:t>
            </a:r>
            <a:r>
              <a:t>with</a:t>
            </a:r>
            <a:r>
              <a:rPr spc="100"/>
              <a:t> </a:t>
            </a:r>
            <a:r>
              <a:rPr spc="-50"/>
              <a:t>4 </a:t>
            </a:r>
            <a:r>
              <a:t>workers</a:t>
            </a:r>
            <a:r>
              <a:rPr spc="95"/>
              <a:t> </a:t>
            </a:r>
            <a:r>
              <a:t>and</a:t>
            </a:r>
            <a:r>
              <a:rPr spc="90"/>
              <a:t> </a:t>
            </a:r>
            <a:r>
              <a:t>trains</a:t>
            </a:r>
            <a:r>
              <a:rPr spc="104"/>
              <a:t> </a:t>
            </a:r>
            <a:r>
              <a:rPr spc="-50"/>
              <a:t>a </a:t>
            </a:r>
            <a:r>
              <a:t>RandomForestClassifier</a:t>
            </a:r>
            <a:r>
              <a:rPr spc="370"/>
              <a:t> </a:t>
            </a:r>
            <a:r>
              <a:rPr spc="-9"/>
              <a:t>using </a:t>
            </a:r>
            <a:r>
              <a:t>Pregnancies,</a:t>
            </a:r>
            <a:r>
              <a:rPr spc="-9"/>
              <a:t> </a:t>
            </a:r>
            <a:r>
              <a:t>Age,</a:t>
            </a:r>
            <a:r>
              <a:rPr spc="85"/>
              <a:t> </a:t>
            </a:r>
            <a:r>
              <a:t>and</a:t>
            </a:r>
            <a:r>
              <a:rPr spc="150"/>
              <a:t> </a:t>
            </a:r>
            <a:r>
              <a:rPr spc="-9"/>
              <a:t>Glucose</a:t>
            </a:r>
            <a:r>
              <a:rPr spc="534"/>
              <a:t> </a:t>
            </a:r>
            <a:r>
              <a:t>as</a:t>
            </a:r>
            <a:r>
              <a:rPr spc="85"/>
              <a:t> </a:t>
            </a:r>
            <a:r>
              <a:t>features</a:t>
            </a:r>
            <a:r>
              <a:rPr spc="85"/>
              <a:t> </a:t>
            </a:r>
            <a:r>
              <a:t>to</a:t>
            </a:r>
            <a:r>
              <a:rPr spc="60"/>
              <a:t> </a:t>
            </a:r>
            <a:r>
              <a:t>predict</a:t>
            </a:r>
            <a:r>
              <a:rPr spc="104"/>
              <a:t> </a:t>
            </a:r>
            <a:r>
              <a:rPr spc="-9"/>
              <a:t>diabetes </a:t>
            </a:r>
            <a:r>
              <a:t>(Outcome).</a:t>
            </a:r>
            <a:r>
              <a:rPr spc="-30"/>
              <a:t> </a:t>
            </a:r>
            <a:r>
              <a:t>After</a:t>
            </a:r>
            <a:r>
              <a:rPr spc="204"/>
              <a:t> </a:t>
            </a:r>
            <a:r>
              <a:t>splitting</a:t>
            </a:r>
            <a:r>
              <a:rPr spc="125"/>
              <a:t> </a:t>
            </a:r>
            <a:r>
              <a:rPr spc="-25"/>
              <a:t>the </a:t>
            </a:r>
            <a:r>
              <a:t>data</a:t>
            </a:r>
            <a:r>
              <a:rPr spc="60"/>
              <a:t> </a:t>
            </a:r>
            <a:r>
              <a:t>into</a:t>
            </a:r>
            <a:r>
              <a:rPr spc="85"/>
              <a:t> </a:t>
            </a:r>
            <a:r>
              <a:t>training</a:t>
            </a:r>
            <a:r>
              <a:rPr spc="90"/>
              <a:t> </a:t>
            </a:r>
            <a:r>
              <a:t>and</a:t>
            </a:r>
            <a:r>
              <a:rPr spc="95"/>
              <a:t> </a:t>
            </a:r>
            <a:r>
              <a:t>test</a:t>
            </a:r>
            <a:r>
              <a:rPr spc="125"/>
              <a:t> </a:t>
            </a:r>
            <a:r>
              <a:rPr spc="-9"/>
              <a:t>sets, </a:t>
            </a:r>
            <a:r>
              <a:t>the</a:t>
            </a:r>
            <a:r>
              <a:rPr spc="45"/>
              <a:t> </a:t>
            </a:r>
            <a:r>
              <a:t>model</a:t>
            </a:r>
            <a:r>
              <a:rPr spc="114"/>
              <a:t> </a:t>
            </a:r>
            <a:r>
              <a:t>achieves</a:t>
            </a:r>
            <a:r>
              <a:rPr spc="95"/>
              <a:t> </a:t>
            </a:r>
            <a:r>
              <a:t>an</a:t>
            </a:r>
            <a:r>
              <a:rPr spc="85"/>
              <a:t> </a:t>
            </a:r>
            <a:r>
              <a:rPr spc="-9"/>
              <a:t>accuracy </a:t>
            </a:r>
            <a:r>
              <a:t>of</a:t>
            </a:r>
            <a:r>
              <a:rPr spc="75"/>
              <a:t> </a:t>
            </a:r>
            <a:r>
              <a:t>71.86%,</a:t>
            </a:r>
            <a:r>
              <a:rPr spc="125"/>
              <a:t> </a:t>
            </a:r>
            <a:r>
              <a:t>meaning</a:t>
            </a:r>
            <a:r>
              <a:rPr spc="100"/>
              <a:t> </a:t>
            </a:r>
            <a:r>
              <a:t>it</a:t>
            </a:r>
            <a:r>
              <a:rPr spc="55"/>
              <a:t> </a:t>
            </a:r>
            <a:r>
              <a:rPr spc="-9"/>
              <a:t>correctly </a:t>
            </a:r>
            <a:r>
              <a:t>predicted</a:t>
            </a:r>
            <a:r>
              <a:rPr spc="139"/>
              <a:t> </a:t>
            </a:r>
            <a:r>
              <a:t>diabetes</a:t>
            </a:r>
            <a:r>
              <a:rPr spc="180"/>
              <a:t> </a:t>
            </a:r>
            <a:r>
              <a:t>outcomes</a:t>
            </a:r>
            <a:r>
              <a:rPr spc="170"/>
              <a:t> </a:t>
            </a:r>
            <a:r>
              <a:rPr spc="-25"/>
              <a:t>for </a:t>
            </a:r>
            <a:r>
              <a:t>about</a:t>
            </a:r>
            <a:r>
              <a:rPr spc="79"/>
              <a:t> </a:t>
            </a:r>
            <a:r>
              <a:t>72%</a:t>
            </a:r>
            <a:r>
              <a:rPr spc="79"/>
              <a:t> </a:t>
            </a:r>
            <a:r>
              <a:t>of</a:t>
            </a:r>
            <a:r>
              <a:rPr spc="110"/>
              <a:t> </a:t>
            </a:r>
            <a:r>
              <a:t>the</a:t>
            </a:r>
            <a:r>
              <a:rPr spc="100"/>
              <a:t> </a:t>
            </a:r>
            <a:r>
              <a:t>test</a:t>
            </a:r>
            <a:r>
              <a:rPr spc="79"/>
              <a:t> </a:t>
            </a:r>
            <a:r>
              <a:t>samples.</a:t>
            </a:r>
            <a:r>
              <a:rPr spc="-90"/>
              <a:t> </a:t>
            </a:r>
            <a:r>
              <a:rPr spc="-50"/>
              <a:t>A </a:t>
            </a:r>
            <a:r>
              <a:t>warning</a:t>
            </a:r>
            <a:r>
              <a:rPr spc="114"/>
              <a:t> </a:t>
            </a:r>
            <a:r>
              <a:t>appears</a:t>
            </a:r>
            <a:r>
              <a:rPr spc="50"/>
              <a:t> </a:t>
            </a:r>
            <a:r>
              <a:t>about</a:t>
            </a:r>
            <a:r>
              <a:rPr spc="150"/>
              <a:t> </a:t>
            </a:r>
            <a:r>
              <a:t>port</a:t>
            </a:r>
            <a:r>
              <a:rPr spc="150"/>
              <a:t> </a:t>
            </a:r>
            <a:r>
              <a:rPr spc="-19"/>
              <a:t>8787 </a:t>
            </a:r>
            <a:r>
              <a:t>being</a:t>
            </a:r>
            <a:r>
              <a:rPr spc="90"/>
              <a:t> </a:t>
            </a:r>
            <a:r>
              <a:t>in</a:t>
            </a:r>
            <a:r>
              <a:rPr spc="85"/>
              <a:t> </a:t>
            </a:r>
            <a:r>
              <a:t>use,</a:t>
            </a:r>
            <a:r>
              <a:rPr spc="25"/>
              <a:t> </a:t>
            </a:r>
            <a:r>
              <a:t>but</a:t>
            </a:r>
            <a:r>
              <a:rPr spc="45"/>
              <a:t> </a:t>
            </a:r>
            <a:r>
              <a:t>the</a:t>
            </a:r>
            <a:r>
              <a:rPr spc="60"/>
              <a:t> </a:t>
            </a:r>
            <a:r>
              <a:rPr spc="-9"/>
              <a:t>process </a:t>
            </a:r>
            <a:r>
              <a:t>continues</a:t>
            </a:r>
            <a:r>
              <a:rPr spc="65"/>
              <a:t> </a:t>
            </a:r>
            <a:r>
              <a:t>on</a:t>
            </a:r>
            <a:r>
              <a:rPr spc="55"/>
              <a:t> </a:t>
            </a:r>
            <a:r>
              <a:t>a</a:t>
            </a:r>
            <a:r>
              <a:rPr spc="104"/>
              <a:t> </a:t>
            </a:r>
            <a:r>
              <a:t>different</a:t>
            </a:r>
            <a:r>
              <a:rPr spc="90"/>
              <a:t> </a:t>
            </a:r>
            <a:r>
              <a:rPr spc="-19"/>
              <a:t>port.</a:t>
            </a:r>
            <a:endParaRPr sz="2100"/>
          </a:p>
          <a:p>
            <a:pPr indent="12700">
              <a:lnSpc>
                <a:spcPts val="2300"/>
              </a:lnSpc>
              <a:defRPr sz="2000">
                <a:latin typeface="Times New Roman"/>
                <a:ea typeface="Times New Roman"/>
                <a:cs typeface="Times New Roman"/>
                <a:sym typeface="Times New Roman"/>
              </a:defRPr>
            </a:pPr>
            <a:r>
              <a:t>The</a:t>
            </a:r>
            <a:r>
              <a:rPr spc="60"/>
              <a:t> </a:t>
            </a:r>
            <a:r>
              <a:t>Dask</a:t>
            </a:r>
            <a:r>
              <a:rPr spc="60"/>
              <a:t> </a:t>
            </a:r>
            <a:r>
              <a:t>Client</a:t>
            </a:r>
            <a:r>
              <a:rPr spc="50"/>
              <a:t> </a:t>
            </a:r>
            <a:r>
              <a:t>is</a:t>
            </a:r>
            <a:r>
              <a:rPr spc="110"/>
              <a:t> </a:t>
            </a:r>
            <a:r>
              <a:t>then</a:t>
            </a:r>
            <a:r>
              <a:rPr spc="95"/>
              <a:t> </a:t>
            </a:r>
            <a:r>
              <a:rPr spc="-9"/>
              <a:t>closed.</a:t>
            </a:r>
          </a:p>
        </p:txBody>
      </p:sp>
      <p:pic>
        <p:nvPicPr>
          <p:cNvPr id="200" name="object 5" descr="object 5"/>
          <p:cNvPicPr>
            <a:picLocks noChangeAspect="1"/>
          </p:cNvPicPr>
          <p:nvPr/>
        </p:nvPicPr>
        <p:blipFill>
          <a:blip r:embed="rId2">
            <a:extLst/>
          </a:blip>
          <a:stretch>
            <a:fillRect/>
          </a:stretch>
        </p:blipFill>
        <p:spPr>
          <a:xfrm>
            <a:off x="0" y="570185"/>
            <a:ext cx="7968392" cy="5523023"/>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object 2" descr="object 2"/>
          <p:cNvPicPr>
            <a:picLocks noChangeAspect="1"/>
          </p:cNvPicPr>
          <p:nvPr/>
        </p:nvPicPr>
        <p:blipFill>
          <a:blip r:embed="rId2">
            <a:extLst/>
          </a:blip>
          <a:stretch>
            <a:fillRect/>
          </a:stretch>
        </p:blipFill>
        <p:spPr>
          <a:xfrm>
            <a:off x="228600" y="285750"/>
            <a:ext cx="6591300" cy="1266825"/>
          </a:xfrm>
          <a:prstGeom prst="rect">
            <a:avLst/>
          </a:prstGeom>
          <a:ln w="12700">
            <a:miter lim="400000"/>
          </a:ln>
        </p:spPr>
      </p:pic>
      <p:pic>
        <p:nvPicPr>
          <p:cNvPr id="203" name="object 3" descr="object 3"/>
          <p:cNvPicPr>
            <a:picLocks noChangeAspect="1"/>
          </p:cNvPicPr>
          <p:nvPr/>
        </p:nvPicPr>
        <p:blipFill>
          <a:blip r:embed="rId3">
            <a:extLst/>
          </a:blip>
          <a:stretch>
            <a:fillRect/>
          </a:stretch>
        </p:blipFill>
        <p:spPr>
          <a:xfrm>
            <a:off x="658814" y="1619250"/>
            <a:ext cx="11298081" cy="470537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Rectangle 170"/>
          <p:cNvSpPr/>
          <p:nvPr/>
        </p:nvSpPr>
        <p:spPr>
          <a:xfrm>
            <a:off x="10" y="-5705"/>
            <a:ext cx="12191990" cy="1694346"/>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206" name="Rectangle 171"/>
          <p:cNvSpPr/>
          <p:nvPr/>
        </p:nvSpPr>
        <p:spPr>
          <a:xfrm>
            <a:off x="0" y="1688640"/>
            <a:ext cx="12191990" cy="5169360"/>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207" name="Rectangle 172"/>
          <p:cNvSpPr/>
          <p:nvPr/>
        </p:nvSpPr>
        <p:spPr>
          <a:xfrm>
            <a:off x="1156850" y="2010758"/>
            <a:ext cx="45719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208" name="object 2"/>
          <p:cNvSpPr txBox="1"/>
          <p:nvPr/>
        </p:nvSpPr>
        <p:spPr>
          <a:xfrm>
            <a:off x="1201267" y="2217342"/>
            <a:ext cx="9789454" cy="39596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500"/>
              </a:spcBef>
              <a:tabLst>
                <a:tab pos="228600" algn="l"/>
              </a:tabLst>
              <a:defRPr spc="-100" sz="2400">
                <a:solidFill>
                  <a:srgbClr val="0D0D0D"/>
                </a:solidFill>
                <a:latin typeface="Times New Roman"/>
                <a:ea typeface="Times New Roman"/>
                <a:cs typeface="Times New Roman"/>
                <a:sym typeface="Times New Roman"/>
              </a:defRPr>
            </a:pPr>
            <a:r>
              <a:t>Interpretation:</a:t>
            </a:r>
            <a:endParaRPr spc="-10" sz="2700">
              <a:solidFill>
                <a:srgbClr val="92D050"/>
              </a:solidFill>
            </a:endParaRPr>
          </a:p>
          <a:p>
            <a:pPr marR="5080">
              <a:lnSpc>
                <a:spcPct val="90000"/>
              </a:lnSpc>
              <a:spcBef>
                <a:spcPts val="1000"/>
              </a:spcBef>
              <a:tabLst>
                <a:tab pos="241300" algn="l"/>
              </a:tabLst>
              <a:defRPr sz="2400">
                <a:solidFill>
                  <a:srgbClr val="0D0D0D"/>
                </a:solidFill>
                <a:latin typeface="Times New Roman"/>
                <a:ea typeface="Times New Roman"/>
                <a:cs typeface="Times New Roman"/>
                <a:sym typeface="Times New Roman"/>
              </a:defRPr>
            </a:pPr>
            <a:r>
              <a:t>		The</a:t>
            </a:r>
            <a:r>
              <a:rPr spc="-100"/>
              <a:t> </a:t>
            </a:r>
            <a:r>
              <a:t>code visualizes the first decision tree from a </a:t>
            </a:r>
            <a:r>
              <a:rPr spc="-100"/>
              <a:t>Random </a:t>
            </a:r>
            <a:r>
              <a:t>Forest model trained on the diabetes dataset, </a:t>
            </a:r>
            <a:r>
              <a:rPr spc="-100"/>
              <a:t>using </a:t>
            </a:r>
            <a:r>
              <a:t>Pregnancies,</a:t>
            </a:r>
            <a:r>
              <a:rPr spc="-100"/>
              <a:t> </a:t>
            </a:r>
            <a:r>
              <a:t>Age, and Glucose as features to </a:t>
            </a:r>
            <a:r>
              <a:rPr spc="-100"/>
              <a:t>predict </a:t>
            </a:r>
            <a:r>
              <a:t>Outcome. The tree splits based on feature values, such </a:t>
            </a:r>
            <a:r>
              <a:rPr spc="-100"/>
              <a:t>as </a:t>
            </a:r>
            <a:r>
              <a:t>Glucose &lt;= 120,</a:t>
            </a:r>
            <a:r>
              <a:rPr spc="100"/>
              <a:t> </a:t>
            </a:r>
            <a:r>
              <a:t>and predicts diabetes (1) or no diabetes </a:t>
            </a:r>
            <a:r>
              <a:rPr spc="-100"/>
              <a:t>(0) </a:t>
            </a:r>
            <a:r>
              <a:t>at</a:t>
            </a:r>
            <a:r>
              <a:rPr spc="-100"/>
              <a:t> </a:t>
            </a:r>
            <a:r>
              <a:t>the leaf nodes.</a:t>
            </a:r>
            <a:r>
              <a:rPr spc="-100"/>
              <a:t> </a:t>
            </a:r>
            <a:r>
              <a:t>The</a:t>
            </a:r>
            <a:r>
              <a:rPr spc="-100"/>
              <a:t> </a:t>
            </a:r>
            <a:r>
              <a:t>plot is large for clarity, with </a:t>
            </a:r>
            <a:r>
              <a:rPr spc="-100"/>
              <a:t>colors </a:t>
            </a:r>
            <a:r>
              <a:t>representing the majority class at each node</a:t>
            </a:r>
            <a:r>
              <a:rPr spc="-100"/>
              <a:t> </a:t>
            </a:r>
            <a:r>
              <a:t>and a</a:t>
            </a:r>
            <a:r>
              <a:rPr spc="-100"/>
              <a:t> </a:t>
            </a:r>
            <a:r>
              <a:t>font size </a:t>
            </a:r>
            <a:r>
              <a:rPr spc="-100"/>
              <a:t>of </a:t>
            </a:r>
            <a:r>
              <a:t>12 for better </a:t>
            </a:r>
            <a:r>
              <a:rPr spc="-100"/>
              <a:t>readability.|</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object 2"/>
          <p:cNvSpPr txBox="1"/>
          <p:nvPr/>
        </p:nvSpPr>
        <p:spPr>
          <a:xfrm>
            <a:off x="78738" y="198436"/>
            <a:ext cx="2410462" cy="32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400">
                <a:solidFill>
                  <a:srgbClr val="0D0D0D"/>
                </a:solidFill>
                <a:latin typeface="Times New Roman"/>
                <a:ea typeface="Times New Roman"/>
                <a:cs typeface="Times New Roman"/>
                <a:sym typeface="Times New Roman"/>
              </a:defRPr>
            </a:pPr>
            <a:r>
              <a:t>Running</a:t>
            </a:r>
            <a:r>
              <a:rPr spc="130"/>
              <a:t> </a:t>
            </a:r>
            <a:r>
              <a:rPr spc="-20"/>
              <a:t>time</a:t>
            </a:r>
          </a:p>
        </p:txBody>
      </p:sp>
      <p:sp>
        <p:nvSpPr>
          <p:cNvPr id="211" name="object 3"/>
          <p:cNvSpPr txBox="1"/>
          <p:nvPr/>
        </p:nvSpPr>
        <p:spPr>
          <a:xfrm>
            <a:off x="210183" y="2760596"/>
            <a:ext cx="8984617" cy="265928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800"/>
              </a:spcBef>
              <a:tabLst>
                <a:tab pos="228600" algn="l"/>
              </a:tabLst>
              <a:defRPr spc="-10" sz="2400">
                <a:solidFill>
                  <a:srgbClr val="0D0D0D"/>
                </a:solidFill>
                <a:latin typeface="Times New Roman"/>
                <a:ea typeface="Times New Roman"/>
                <a:cs typeface="Times New Roman"/>
                <a:sym typeface="Times New Roman"/>
              </a:defRPr>
            </a:pPr>
            <a:r>
              <a:t>Interpretation:</a:t>
            </a:r>
            <a:endParaRPr>
              <a:solidFill>
                <a:srgbClr val="92D050"/>
              </a:solidFill>
            </a:endParaRPr>
          </a:p>
          <a:p>
            <a:pPr marR="5080" indent="12065">
              <a:lnSpc>
                <a:spcPct val="90000"/>
              </a:lnSpc>
              <a:spcBef>
                <a:spcPts val="1000"/>
              </a:spcBef>
              <a:tabLst>
                <a:tab pos="228600" algn="l"/>
              </a:tabLst>
              <a:defRPr sz="2400">
                <a:solidFill>
                  <a:srgbClr val="0D0D0D"/>
                </a:solidFill>
                <a:latin typeface="Times New Roman"/>
                <a:ea typeface="Times New Roman"/>
                <a:cs typeface="Times New Roman"/>
                <a:sym typeface="Times New Roman"/>
              </a:defRPr>
            </a:pPr>
            <a:r>
              <a:t> 		It</a:t>
            </a:r>
            <a:r>
              <a:rPr spc="-50"/>
              <a:t> </a:t>
            </a:r>
            <a:r>
              <a:t>measures</a:t>
            </a:r>
            <a:r>
              <a:rPr spc="-15"/>
              <a:t> </a:t>
            </a:r>
            <a:r>
              <a:t>the</a:t>
            </a:r>
            <a:r>
              <a:rPr spc="-5"/>
              <a:t> </a:t>
            </a:r>
            <a:r>
              <a:t>training</a:t>
            </a:r>
            <a:r>
              <a:rPr spc="-45"/>
              <a:t> </a:t>
            </a:r>
            <a:r>
              <a:t>time of</a:t>
            </a:r>
            <a:r>
              <a:rPr spc="-95"/>
              <a:t> </a:t>
            </a:r>
            <a:r>
              <a:t>a</a:t>
            </a:r>
            <a:r>
              <a:rPr spc="-10"/>
              <a:t> </a:t>
            </a:r>
            <a:r>
              <a:t>RandomForestClassifier</a:t>
            </a:r>
            <a:r>
              <a:rPr spc="-10"/>
              <a:t> </a:t>
            </a:r>
            <a:r>
              <a:t>with</a:t>
            </a:r>
            <a:r>
              <a:rPr spc="-45"/>
              <a:t> </a:t>
            </a:r>
            <a:r>
              <a:rPr spc="-25"/>
              <a:t>50 	</a:t>
            </a:r>
            <a:r>
              <a:t>estimators</a:t>
            </a:r>
            <a:r>
              <a:rPr spc="-55"/>
              <a:t> </a:t>
            </a:r>
            <a:r>
              <a:t>and</a:t>
            </a:r>
            <a:r>
              <a:rPr spc="-20"/>
              <a:t> </a:t>
            </a:r>
            <a:r>
              <a:t>a</a:t>
            </a:r>
            <a:r>
              <a:rPr spc="-35"/>
              <a:t> </a:t>
            </a:r>
            <a:r>
              <a:t>maximum</a:t>
            </a:r>
            <a:r>
              <a:rPr spc="-20"/>
              <a:t> </a:t>
            </a:r>
            <a:r>
              <a:t>depth</a:t>
            </a:r>
            <a:r>
              <a:rPr spc="-15"/>
              <a:t> </a:t>
            </a:r>
            <a:r>
              <a:t>of</a:t>
            </a:r>
            <a:r>
              <a:rPr spc="5"/>
              <a:t> </a:t>
            </a:r>
            <a:r>
              <a:t>10,</a:t>
            </a:r>
            <a:r>
              <a:rPr spc="-20"/>
              <a:t> </a:t>
            </a:r>
            <a:r>
              <a:t>using</a:t>
            </a:r>
            <a:r>
              <a:rPr spc="-15"/>
              <a:t> </a:t>
            </a:r>
            <a:r>
              <a:t>the</a:t>
            </a:r>
            <a:r>
              <a:rPr spc="-40"/>
              <a:t> </a:t>
            </a:r>
            <a:r>
              <a:t>training</a:t>
            </a:r>
            <a:r>
              <a:rPr spc="-15"/>
              <a:t> </a:t>
            </a:r>
            <a:r>
              <a:t>data.</a:t>
            </a:r>
            <a:r>
              <a:rPr spc="-100"/>
              <a:t> </a:t>
            </a:r>
            <a:r>
              <a:rPr spc="-25"/>
              <a:t>The 	</a:t>
            </a:r>
            <a:r>
              <a:t>training</a:t>
            </a:r>
            <a:r>
              <a:rPr spc="-40"/>
              <a:t> </a:t>
            </a:r>
            <a:r>
              <a:t>process</a:t>
            </a:r>
            <a:r>
              <a:rPr spc="-75"/>
              <a:t> </a:t>
            </a:r>
            <a:r>
              <a:t>is</a:t>
            </a:r>
            <a:r>
              <a:rPr spc="-5"/>
              <a:t> </a:t>
            </a:r>
            <a:r>
              <a:t>completed</a:t>
            </a:r>
            <a:r>
              <a:rPr spc="-40"/>
              <a:t> </a:t>
            </a:r>
            <a:r>
              <a:t>in</a:t>
            </a:r>
            <a:r>
              <a:rPr spc="-40"/>
              <a:t> </a:t>
            </a:r>
            <a:r>
              <a:t>approximately</a:t>
            </a:r>
            <a:r>
              <a:rPr spc="-40"/>
              <a:t> </a:t>
            </a:r>
            <a:r>
              <a:t>0.044</a:t>
            </a:r>
            <a:r>
              <a:rPr spc="-45"/>
              <a:t> </a:t>
            </a:r>
            <a:r>
              <a:t>seconds.</a:t>
            </a:r>
            <a:r>
              <a:rPr spc="-40"/>
              <a:t> </a:t>
            </a:r>
            <a:r>
              <a:t>This</a:t>
            </a:r>
            <a:r>
              <a:rPr spc="-5"/>
              <a:t> </a:t>
            </a:r>
            <a:r>
              <a:rPr spc="-25"/>
              <a:t>is 	</a:t>
            </a:r>
            <a:r>
              <a:t>the</a:t>
            </a:r>
            <a:r>
              <a:rPr spc="-45"/>
              <a:t> </a:t>
            </a:r>
            <a:r>
              <a:t>parallel</a:t>
            </a:r>
            <a:r>
              <a:rPr spc="-25"/>
              <a:t> </a:t>
            </a:r>
            <a:r>
              <a:t>processing</a:t>
            </a:r>
            <a:r>
              <a:rPr spc="-25"/>
              <a:t> </a:t>
            </a:r>
            <a:r>
              <a:t>time,</a:t>
            </a:r>
            <a:r>
              <a:rPr spc="-25"/>
              <a:t> </a:t>
            </a:r>
            <a:r>
              <a:t>as</a:t>
            </a:r>
            <a:r>
              <a:rPr spc="5"/>
              <a:t> </a:t>
            </a:r>
            <a:r>
              <a:t>the</a:t>
            </a:r>
            <a:r>
              <a:rPr spc="-40"/>
              <a:t> </a:t>
            </a:r>
            <a:r>
              <a:t>model</a:t>
            </a:r>
            <a:r>
              <a:rPr spc="-25"/>
              <a:t> </a:t>
            </a:r>
            <a:r>
              <a:t>is</a:t>
            </a:r>
            <a:r>
              <a:rPr spc="-60"/>
              <a:t> </a:t>
            </a:r>
            <a:r>
              <a:t>trained</a:t>
            </a:r>
            <a:r>
              <a:rPr spc="-25"/>
              <a:t> </a:t>
            </a:r>
            <a:r>
              <a:t>using</a:t>
            </a:r>
            <a:r>
              <a:rPr spc="-25"/>
              <a:t> </a:t>
            </a:r>
            <a:r>
              <a:rPr spc="-10"/>
              <a:t>multiple 	</a:t>
            </a:r>
            <a:r>
              <a:t>workers,</a:t>
            </a:r>
            <a:r>
              <a:rPr spc="-35"/>
              <a:t> </a:t>
            </a:r>
            <a:r>
              <a:t>which</a:t>
            </a:r>
            <a:r>
              <a:rPr spc="-35"/>
              <a:t> </a:t>
            </a:r>
            <a:r>
              <a:t>speeds up</a:t>
            </a:r>
            <a:r>
              <a:rPr spc="-35"/>
              <a:t> </a:t>
            </a:r>
            <a:r>
              <a:t>the</a:t>
            </a:r>
            <a:r>
              <a:rPr spc="-50"/>
              <a:t> </a:t>
            </a:r>
            <a:r>
              <a:t>process compared</a:t>
            </a:r>
            <a:r>
              <a:rPr spc="-35"/>
              <a:t> </a:t>
            </a:r>
            <a:r>
              <a:t>to</a:t>
            </a:r>
            <a:r>
              <a:rPr spc="-35"/>
              <a:t> </a:t>
            </a:r>
            <a:r>
              <a:t>training</a:t>
            </a:r>
            <a:r>
              <a:rPr spc="-35"/>
              <a:t> </a:t>
            </a:r>
            <a:r>
              <a:rPr spc="-10"/>
              <a:t>without 	</a:t>
            </a:r>
            <a:r>
              <a:t>parallelism.</a:t>
            </a:r>
            <a:r>
              <a:rPr spc="-95"/>
              <a:t> </a:t>
            </a:r>
            <a:r>
              <a:t>The</a:t>
            </a:r>
            <a:r>
              <a:rPr spc="-35"/>
              <a:t> </a:t>
            </a:r>
            <a:r>
              <a:t>value</a:t>
            </a:r>
            <a:r>
              <a:rPr spc="-30"/>
              <a:t> </a:t>
            </a:r>
            <a:r>
              <a:t>of</a:t>
            </a:r>
            <a:r>
              <a:rPr spc="5"/>
              <a:t> </a:t>
            </a:r>
            <a:r>
              <a:t>0.044</a:t>
            </a:r>
            <a:r>
              <a:rPr spc="-15"/>
              <a:t> </a:t>
            </a:r>
            <a:r>
              <a:t>seconds</a:t>
            </a:r>
            <a:r>
              <a:rPr spc="-55"/>
              <a:t> </a:t>
            </a:r>
            <a:r>
              <a:t>indicates</a:t>
            </a:r>
            <a:r>
              <a:rPr spc="15"/>
              <a:t> </a:t>
            </a:r>
            <a:r>
              <a:t>how</a:t>
            </a:r>
            <a:r>
              <a:rPr spc="-25"/>
              <a:t> </a:t>
            </a:r>
            <a:r>
              <a:t>long</a:t>
            </a:r>
            <a:r>
              <a:rPr spc="-15"/>
              <a:t> </a:t>
            </a:r>
            <a:r>
              <a:t>it</a:t>
            </a:r>
            <a:r>
              <a:rPr spc="-15"/>
              <a:t> </a:t>
            </a:r>
            <a:r>
              <a:t>took</a:t>
            </a:r>
            <a:r>
              <a:rPr spc="-15"/>
              <a:t> </a:t>
            </a:r>
            <a:r>
              <a:t>to</a:t>
            </a:r>
            <a:r>
              <a:rPr spc="-15"/>
              <a:t> </a:t>
            </a:r>
            <a:r>
              <a:rPr spc="-25"/>
              <a:t>fit 	</a:t>
            </a:r>
            <a:r>
              <a:t>the</a:t>
            </a:r>
            <a:r>
              <a:rPr spc="-30"/>
              <a:t> </a:t>
            </a:r>
            <a:r>
              <a:t>model</a:t>
            </a:r>
            <a:r>
              <a:rPr spc="-5"/>
              <a:t> </a:t>
            </a:r>
            <a:r>
              <a:t>with</a:t>
            </a:r>
            <a:r>
              <a:rPr spc="-5"/>
              <a:t> </a:t>
            </a:r>
            <a:r>
              <a:t>the</a:t>
            </a:r>
            <a:r>
              <a:rPr spc="-20"/>
              <a:t> </a:t>
            </a:r>
            <a:r>
              <a:t>given</a:t>
            </a:r>
            <a:r>
              <a:rPr spc="-5"/>
              <a:t> </a:t>
            </a:r>
            <a:r>
              <a:rPr spc="-10"/>
              <a:t>settings.</a:t>
            </a:r>
          </a:p>
        </p:txBody>
      </p:sp>
      <p:pic>
        <p:nvPicPr>
          <p:cNvPr id="212" name="object 4" descr="object 4"/>
          <p:cNvPicPr>
            <a:picLocks noChangeAspect="1"/>
          </p:cNvPicPr>
          <p:nvPr/>
        </p:nvPicPr>
        <p:blipFill>
          <a:blip r:embed="rId2">
            <a:extLst/>
          </a:blip>
          <a:stretch>
            <a:fillRect/>
          </a:stretch>
        </p:blipFill>
        <p:spPr>
          <a:xfrm>
            <a:off x="28575" y="609600"/>
            <a:ext cx="8620125" cy="1876425"/>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object 2"/>
          <p:cNvSpPr txBox="1"/>
          <p:nvPr/>
        </p:nvSpPr>
        <p:spPr>
          <a:xfrm>
            <a:off x="223836" y="358201"/>
            <a:ext cx="3797831" cy="32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400">
                <a:solidFill>
                  <a:srgbClr val="0D0D0D"/>
                </a:solidFill>
                <a:latin typeface="Times New Roman"/>
                <a:ea typeface="Times New Roman"/>
                <a:cs typeface="Times New Roman"/>
                <a:sym typeface="Times New Roman"/>
              </a:defRPr>
            </a:pPr>
            <a:r>
              <a:t>Which</a:t>
            </a:r>
            <a:r>
              <a:rPr spc="-30"/>
              <a:t> </a:t>
            </a:r>
            <a:r>
              <a:t>method</a:t>
            </a:r>
            <a:r>
              <a:rPr spc="-30"/>
              <a:t> </a:t>
            </a:r>
            <a:r>
              <a:t>was</a:t>
            </a:r>
            <a:r>
              <a:rPr spc="-20"/>
              <a:t> </a:t>
            </a:r>
            <a:r>
              <a:rPr spc="-10"/>
              <a:t>faster?</a:t>
            </a:r>
          </a:p>
        </p:txBody>
      </p:sp>
      <p:pic>
        <p:nvPicPr>
          <p:cNvPr id="215" name="object 3" descr="object 3"/>
          <p:cNvPicPr>
            <a:picLocks noChangeAspect="1"/>
          </p:cNvPicPr>
          <p:nvPr/>
        </p:nvPicPr>
        <p:blipFill>
          <a:blip r:embed="rId2">
            <a:extLst/>
          </a:blip>
          <a:stretch>
            <a:fillRect/>
          </a:stretch>
        </p:blipFill>
        <p:spPr>
          <a:xfrm>
            <a:off x="142875" y="981075"/>
            <a:ext cx="10990792" cy="5271583"/>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Rectangle 180"/>
          <p:cNvSpPr/>
          <p:nvPr/>
        </p:nvSpPr>
        <p:spPr>
          <a:xfrm>
            <a:off x="10" y="-5705"/>
            <a:ext cx="12191990" cy="1694346"/>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218" name="object 2"/>
          <p:cNvSpPr txBox="1"/>
          <p:nvPr>
            <p:ph type="title"/>
          </p:nvPr>
        </p:nvSpPr>
        <p:spPr>
          <a:xfrm>
            <a:off x="1156851" y="637761"/>
            <a:ext cx="9888496" cy="900132"/>
          </a:xfrm>
          <a:prstGeom prst="rect">
            <a:avLst/>
          </a:prstGeom>
        </p:spPr>
        <p:txBody>
          <a:bodyPr anchor="t"/>
          <a:lstStyle>
            <a:lvl1pPr indent="12700">
              <a:defRPr spc="-100" sz="3200">
                <a:solidFill>
                  <a:srgbClr val="FFFFFF"/>
                </a:solidFill>
                <a:latin typeface="Times New Roman"/>
                <a:ea typeface="Times New Roman"/>
                <a:cs typeface="Times New Roman"/>
                <a:sym typeface="Times New Roman"/>
              </a:defRPr>
            </a:lvl1pPr>
          </a:lstStyle>
          <a:p>
            <a:pPr/>
            <a:r>
              <a:t>Interpretation:</a:t>
            </a:r>
          </a:p>
        </p:txBody>
      </p:sp>
      <p:sp>
        <p:nvSpPr>
          <p:cNvPr id="219" name="Rectangle 181"/>
          <p:cNvSpPr/>
          <p:nvPr/>
        </p:nvSpPr>
        <p:spPr>
          <a:xfrm>
            <a:off x="0" y="1688640"/>
            <a:ext cx="12191990" cy="5169360"/>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220" name="Rectangle 182"/>
          <p:cNvSpPr/>
          <p:nvPr/>
        </p:nvSpPr>
        <p:spPr>
          <a:xfrm>
            <a:off x="1156850" y="2010758"/>
            <a:ext cx="45719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221" name="object 3"/>
          <p:cNvSpPr txBox="1"/>
          <p:nvPr/>
        </p:nvSpPr>
        <p:spPr>
          <a:xfrm>
            <a:off x="562187" y="982132"/>
            <a:ext cx="10428536" cy="519483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R="5080" indent="11428">
              <a:lnSpc>
                <a:spcPct val="90000"/>
              </a:lnSpc>
              <a:spcBef>
                <a:spcPts val="600"/>
              </a:spcBef>
              <a:tabLst>
                <a:tab pos="241300" algn="l"/>
              </a:tabLst>
              <a:defRPr b="1" sz="2000">
                <a:solidFill>
                  <a:srgbClr val="0D0D0D"/>
                </a:solidFill>
                <a:latin typeface="Times New Roman"/>
                <a:ea typeface="Times New Roman"/>
                <a:cs typeface="Times New Roman"/>
                <a:sym typeface="Times New Roman"/>
              </a:defRPr>
            </a:pPr>
            <a:r>
              <a:t>Comparison run without</a:t>
            </a:r>
            <a:r>
              <a:rPr spc="100"/>
              <a:t> </a:t>
            </a:r>
            <a:r>
              <a:t>parallelization versus using</a:t>
            </a:r>
            <a:r>
              <a:rPr spc="100"/>
              <a:t> </a:t>
            </a:r>
            <a:r>
              <a:t>Dask</a:t>
            </a:r>
            <a:r>
              <a:rPr spc="100"/>
              <a:t> </a:t>
            </a:r>
            <a:r>
              <a:t>for</a:t>
            </a:r>
            <a:r>
              <a:rPr spc="100"/>
              <a:t> </a:t>
            </a:r>
            <a:r>
              <a:rPr spc="-100"/>
              <a:t>parallel </a:t>
            </a:r>
            <a:r>
              <a:t>execution:</a:t>
            </a:r>
            <a:endParaRPr sz="2700"/>
          </a:p>
          <a:p>
            <a:pPr marR="5080" indent="11428">
              <a:lnSpc>
                <a:spcPct val="90000"/>
              </a:lnSpc>
              <a:spcBef>
                <a:spcPts val="600"/>
              </a:spcBef>
              <a:tabLst>
                <a:tab pos="241300" algn="l"/>
              </a:tabLst>
              <a:defRPr sz="2000">
                <a:latin typeface="Times New Roman"/>
                <a:ea typeface="Times New Roman"/>
                <a:cs typeface="Times New Roman"/>
                <a:sym typeface="Times New Roman"/>
              </a:defRPr>
            </a:pPr>
          </a:p>
          <a:p>
            <a:pPr marR="5080" indent="11428">
              <a:lnSpc>
                <a:spcPct val="90000"/>
              </a:lnSpc>
              <a:spcBef>
                <a:spcPts val="600"/>
              </a:spcBef>
              <a:tabLst>
                <a:tab pos="241300" algn="l"/>
              </a:tabLst>
              <a:defRPr sz="2000">
                <a:latin typeface="Times New Roman"/>
                <a:ea typeface="Times New Roman"/>
                <a:cs typeface="Times New Roman"/>
                <a:sym typeface="Times New Roman"/>
              </a:defRPr>
            </a:pPr>
            <a:r>
              <a:t>The</a:t>
            </a:r>
            <a:r>
              <a:rPr spc="-100"/>
              <a:t> </a:t>
            </a:r>
            <a:r>
              <a:t>chart shows a comparison of execution times for a </a:t>
            </a:r>
            <a:r>
              <a:rPr spc="-100"/>
              <a:t>task </a:t>
            </a:r>
            <a:r>
              <a:t>run without</a:t>
            </a:r>
            <a:r>
              <a:rPr spc="100"/>
              <a:t> </a:t>
            </a:r>
            <a:r>
              <a:t>parallelization versus using</a:t>
            </a:r>
            <a:r>
              <a:rPr spc="100"/>
              <a:t> </a:t>
            </a:r>
            <a:r>
              <a:t>Dask</a:t>
            </a:r>
            <a:r>
              <a:rPr spc="100"/>
              <a:t> </a:t>
            </a:r>
            <a:r>
              <a:t>for</a:t>
            </a:r>
            <a:r>
              <a:rPr spc="100"/>
              <a:t> </a:t>
            </a:r>
            <a:r>
              <a:rPr spc="-100"/>
              <a:t>parallel </a:t>
            </a:r>
            <a:r>
              <a:t>execution. The</a:t>
            </a:r>
            <a:r>
              <a:rPr spc="100"/>
              <a:t> </a:t>
            </a:r>
            <a:r>
              <a:t>non-parallel</a:t>
            </a:r>
            <a:r>
              <a:rPr spc="100"/>
              <a:t> </a:t>
            </a:r>
            <a:r>
              <a:t>approach</a:t>
            </a:r>
            <a:r>
              <a:rPr spc="100"/>
              <a:t> </a:t>
            </a:r>
            <a:r>
              <a:t>took</a:t>
            </a:r>
            <a:r>
              <a:rPr spc="100"/>
              <a:t> </a:t>
            </a:r>
            <a:r>
              <a:t>about</a:t>
            </a:r>
            <a:r>
              <a:rPr spc="100"/>
              <a:t> </a:t>
            </a:r>
            <a:r>
              <a:rPr spc="-100"/>
              <a:t>"0.076 	</a:t>
            </a:r>
            <a:r>
              <a:t>seconds", while the parallelized version using</a:t>
            </a:r>
            <a:r>
              <a:rPr spc="100"/>
              <a:t> </a:t>
            </a:r>
            <a:r>
              <a:rPr spc="-100"/>
              <a:t>Dask</a:t>
            </a:r>
            <a:r>
              <a:rPr spc="600"/>
              <a:t> </a:t>
            </a:r>
            <a:r>
              <a:t>completed in "0.045 seconds".</a:t>
            </a:r>
            <a:r>
              <a:rPr spc="-100"/>
              <a:t> </a:t>
            </a:r>
            <a:r>
              <a:t>This</a:t>
            </a:r>
            <a:r>
              <a:rPr spc="100"/>
              <a:t> </a:t>
            </a:r>
            <a:r>
              <a:t>means</a:t>
            </a:r>
            <a:r>
              <a:rPr spc="100"/>
              <a:t> </a:t>
            </a:r>
            <a:r>
              <a:t>the </a:t>
            </a:r>
            <a:r>
              <a:rPr spc="-100"/>
              <a:t>parallel </a:t>
            </a:r>
            <a:r>
              <a:t>approach was significantly faster,</a:t>
            </a:r>
            <a:r>
              <a:rPr spc="100"/>
              <a:t> </a:t>
            </a:r>
            <a:r>
              <a:t>reducing the execution </a:t>
            </a:r>
            <a:r>
              <a:rPr spc="-100"/>
              <a:t>time </a:t>
            </a:r>
            <a:r>
              <a:t>by</a:t>
            </a:r>
            <a:r>
              <a:rPr spc="100"/>
              <a:t> </a:t>
            </a:r>
            <a:r>
              <a:t>nearly</a:t>
            </a:r>
            <a:r>
              <a:rPr spc="100"/>
              <a:t> </a:t>
            </a:r>
            <a:r>
              <a:t>"42%". This</a:t>
            </a:r>
            <a:r>
              <a:rPr spc="100"/>
              <a:t> </a:t>
            </a:r>
            <a:r>
              <a:t>improvement</a:t>
            </a:r>
            <a:r>
              <a:rPr spc="100"/>
              <a:t> </a:t>
            </a:r>
            <a:r>
              <a:t>highlights</a:t>
            </a:r>
            <a:r>
              <a:rPr spc="100"/>
              <a:t> </a:t>
            </a:r>
            <a:r>
              <a:t>the</a:t>
            </a:r>
            <a:r>
              <a:rPr spc="100"/>
              <a:t> </a:t>
            </a:r>
            <a:r>
              <a:t>benefits </a:t>
            </a:r>
            <a:r>
              <a:rPr spc="-100"/>
              <a:t>of </a:t>
            </a:r>
            <a:r>
              <a:t>using</a:t>
            </a:r>
            <a:r>
              <a:rPr spc="100"/>
              <a:t> </a:t>
            </a:r>
            <a:r>
              <a:t>Dask</a:t>
            </a:r>
            <a:r>
              <a:rPr spc="100"/>
              <a:t> </a:t>
            </a:r>
            <a:r>
              <a:t>for</a:t>
            </a:r>
            <a:r>
              <a:rPr spc="100"/>
              <a:t> </a:t>
            </a:r>
            <a:r>
              <a:t>handling computations</a:t>
            </a:r>
            <a:r>
              <a:rPr spc="100"/>
              <a:t> </a:t>
            </a:r>
            <a:r>
              <a:t>more </a:t>
            </a:r>
            <a:r>
              <a:rPr spc="-100"/>
              <a:t>efficiently, </a:t>
            </a:r>
            <a:r>
              <a:t>especially for larger datasets where</a:t>
            </a:r>
            <a:r>
              <a:rPr spc="-100"/>
              <a:t> </a:t>
            </a:r>
            <a:r>
              <a:t>the speed-up can be </a:t>
            </a:r>
            <a:r>
              <a:rPr spc="-100"/>
              <a:t>even 	</a:t>
            </a:r>
            <a:r>
              <a:t>more </a:t>
            </a:r>
            <a:r>
              <a:rPr spc="-100"/>
              <a:t>noticeable.</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object 2"/>
          <p:cNvSpPr txBox="1"/>
          <p:nvPr>
            <p:ph type="title"/>
          </p:nvPr>
        </p:nvSpPr>
        <p:spPr>
          <a:xfrm>
            <a:off x="203200" y="365125"/>
            <a:ext cx="11633200" cy="769410"/>
          </a:xfrm>
          <a:prstGeom prst="rect">
            <a:avLst/>
          </a:prstGeom>
        </p:spPr>
        <p:txBody>
          <a:bodyPr/>
          <a:lstStyle/>
          <a:p>
            <a:pPr indent="12700">
              <a:spcBef>
                <a:spcPts val="100"/>
              </a:spcBef>
              <a:defRPr sz="3200">
                <a:latin typeface="Times New Roman"/>
                <a:ea typeface="Times New Roman"/>
                <a:cs typeface="Times New Roman"/>
                <a:sym typeface="Times New Roman"/>
              </a:defRPr>
            </a:pPr>
            <a:r>
              <a:t>Select</a:t>
            </a:r>
            <a:r>
              <a:rPr spc="-100"/>
              <a:t> 2-</a:t>
            </a:r>
            <a:r>
              <a:t>3</a:t>
            </a:r>
            <a:r>
              <a:rPr spc="-100"/>
              <a:t> </a:t>
            </a:r>
            <a:r>
              <a:t>features</a:t>
            </a:r>
            <a:r>
              <a:rPr spc="-100"/>
              <a:t> </a:t>
            </a:r>
            <a:r>
              <a:t>as</a:t>
            </a:r>
            <a:r>
              <a:rPr spc="-100"/>
              <a:t> </a:t>
            </a:r>
            <a:r>
              <a:t>X</a:t>
            </a:r>
            <a:r>
              <a:rPr spc="-100"/>
              <a:t> </a:t>
            </a:r>
            <a:r>
              <a:t>and</a:t>
            </a:r>
            <a:r>
              <a:rPr spc="-100"/>
              <a:t> </a:t>
            </a:r>
            <a:r>
              <a:t>one</a:t>
            </a:r>
            <a:r>
              <a:rPr spc="-100"/>
              <a:t> </a:t>
            </a:r>
            <a:r>
              <a:t>categorial</a:t>
            </a:r>
            <a:r>
              <a:rPr spc="-100"/>
              <a:t> </a:t>
            </a:r>
            <a:r>
              <a:t>feature</a:t>
            </a:r>
            <a:r>
              <a:rPr spc="-100"/>
              <a:t> </a:t>
            </a:r>
            <a:r>
              <a:t>for </a:t>
            </a:r>
            <a:r>
              <a:rPr spc="-100"/>
              <a:t>target</a:t>
            </a:r>
          </a:p>
        </p:txBody>
      </p:sp>
      <p:pic>
        <p:nvPicPr>
          <p:cNvPr id="224" name="object 3" descr="object 3"/>
          <p:cNvPicPr>
            <a:picLocks noChangeAspect="1"/>
          </p:cNvPicPr>
          <p:nvPr/>
        </p:nvPicPr>
        <p:blipFill>
          <a:blip r:embed="rId2">
            <a:extLst/>
          </a:blip>
          <a:stretch>
            <a:fillRect/>
          </a:stretch>
        </p:blipFill>
        <p:spPr>
          <a:xfrm>
            <a:off x="479203" y="1836703"/>
            <a:ext cx="10141172" cy="246841"/>
          </a:xfrm>
          <a:prstGeom prst="rect">
            <a:avLst/>
          </a:prstGeom>
          <a:ln w="12700">
            <a:miter lim="400000"/>
          </a:ln>
        </p:spPr>
      </p:pic>
      <p:sp>
        <p:nvSpPr>
          <p:cNvPr id="225" name="object 4"/>
          <p:cNvSpPr txBox="1"/>
          <p:nvPr/>
        </p:nvSpPr>
        <p:spPr>
          <a:xfrm>
            <a:off x="486725" y="1389695"/>
            <a:ext cx="10426807" cy="2813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100"/>
              </a:spcBef>
              <a:defRPr sz="2000">
                <a:latin typeface="Times New Roman"/>
                <a:ea typeface="Times New Roman"/>
                <a:cs typeface="Times New Roman"/>
                <a:sym typeface="Times New Roman"/>
              </a:defRPr>
            </a:pPr>
            <a:r>
              <a:t>We</a:t>
            </a:r>
            <a:r>
              <a:rPr spc="-65"/>
              <a:t> </a:t>
            </a:r>
            <a:r>
              <a:t>selected</a:t>
            </a:r>
            <a:r>
              <a:rPr spc="-9"/>
              <a:t> </a:t>
            </a:r>
            <a:r>
              <a:t>Glucose, BMI , Age as</a:t>
            </a:r>
            <a:r>
              <a:rPr spc="-30"/>
              <a:t> </a:t>
            </a:r>
            <a:r>
              <a:t>X feature</a:t>
            </a:r>
            <a:r>
              <a:rPr spc="19"/>
              <a:t> </a:t>
            </a:r>
            <a:r>
              <a:t>and Outcome</a:t>
            </a:r>
            <a:r>
              <a:rPr spc="-50"/>
              <a:t> </a:t>
            </a:r>
            <a:r>
              <a:t>as</a:t>
            </a:r>
            <a:r>
              <a:rPr spc="-30"/>
              <a:t> </a:t>
            </a:r>
            <a:r>
              <a:t>categorical</a:t>
            </a:r>
            <a:r>
              <a:rPr spc="19"/>
              <a:t> </a:t>
            </a:r>
            <a:r>
              <a:rPr spc="-9"/>
              <a:t>feature</a:t>
            </a:r>
          </a:p>
        </p:txBody>
      </p:sp>
      <p:pic>
        <p:nvPicPr>
          <p:cNvPr id="226" name="object 5" descr="object 5"/>
          <p:cNvPicPr>
            <a:picLocks noChangeAspect="1"/>
          </p:cNvPicPr>
          <p:nvPr/>
        </p:nvPicPr>
        <p:blipFill>
          <a:blip r:embed="rId3">
            <a:extLst/>
          </a:blip>
          <a:stretch>
            <a:fillRect/>
          </a:stretch>
        </p:blipFill>
        <p:spPr>
          <a:xfrm>
            <a:off x="474336" y="2164202"/>
            <a:ext cx="10146039" cy="1739019"/>
          </a:xfrm>
          <a:prstGeom prst="rect">
            <a:avLst/>
          </a:prstGeom>
          <a:ln w="12700">
            <a:miter lim="400000"/>
          </a:ln>
        </p:spPr>
      </p:pic>
      <p:pic>
        <p:nvPicPr>
          <p:cNvPr id="227" name="object 6" descr="object 6"/>
          <p:cNvPicPr>
            <a:picLocks noChangeAspect="1"/>
          </p:cNvPicPr>
          <p:nvPr/>
        </p:nvPicPr>
        <p:blipFill>
          <a:blip r:embed="rId4">
            <a:extLst/>
          </a:blip>
          <a:stretch>
            <a:fillRect/>
          </a:stretch>
        </p:blipFill>
        <p:spPr>
          <a:xfrm>
            <a:off x="504653" y="4019550"/>
            <a:ext cx="10112014" cy="2458642"/>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object 2"/>
          <p:cNvSpPr txBox="1"/>
          <p:nvPr/>
        </p:nvSpPr>
        <p:spPr>
          <a:xfrm>
            <a:off x="11079226" y="6447154"/>
            <a:ext cx="19685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12700">
              <a:spcBef>
                <a:spcPts val="100"/>
              </a:spcBef>
              <a:defRPr spc="-25" sz="1200">
                <a:solidFill>
                  <a:srgbClr val="878787"/>
                </a:solidFill>
                <a:latin typeface="Tahoma"/>
                <a:ea typeface="Tahoma"/>
                <a:cs typeface="Tahoma"/>
                <a:sym typeface="Tahoma"/>
              </a:defRPr>
            </a:lvl1pPr>
          </a:lstStyle>
          <a:p>
            <a:pPr/>
            <a:r>
              <a:t>25</a:t>
            </a:r>
          </a:p>
        </p:txBody>
      </p:sp>
      <p:pic>
        <p:nvPicPr>
          <p:cNvPr id="230" name="object 3" descr="object 3"/>
          <p:cNvPicPr>
            <a:picLocks noChangeAspect="1"/>
          </p:cNvPicPr>
          <p:nvPr/>
        </p:nvPicPr>
        <p:blipFill>
          <a:blip r:embed="rId2">
            <a:extLst/>
          </a:blip>
          <a:stretch>
            <a:fillRect/>
          </a:stretch>
        </p:blipFill>
        <p:spPr>
          <a:xfrm>
            <a:off x="613726" y="676275"/>
            <a:ext cx="8530274" cy="531495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object 2"/>
          <p:cNvSpPr txBox="1"/>
          <p:nvPr>
            <p:ph type="title"/>
          </p:nvPr>
        </p:nvSpPr>
        <p:spPr>
          <a:xfrm>
            <a:off x="699713" y="248038"/>
            <a:ext cx="9553420" cy="873613"/>
          </a:xfrm>
          <a:prstGeom prst="rect">
            <a:avLst/>
          </a:prstGeom>
        </p:spPr>
        <p:txBody>
          <a:bodyPr/>
          <a:lstStyle/>
          <a:p>
            <a:pPr indent="12700">
              <a:defRPr spc="-100" sz="3200">
                <a:solidFill>
                  <a:srgbClr val="0D0D0D"/>
                </a:solidFill>
                <a:latin typeface="Times New Roman"/>
                <a:ea typeface="Times New Roman"/>
                <a:cs typeface="Times New Roman"/>
                <a:sym typeface="Times New Roman"/>
              </a:defRPr>
            </a:pPr>
            <a:r>
              <a:t>Genetic</a:t>
            </a:r>
            <a:r>
              <a:rPr spc="-200"/>
              <a:t> </a:t>
            </a:r>
            <a:r>
              <a:rPr spc="0"/>
              <a:t>Algorithm</a:t>
            </a:r>
            <a:r>
              <a:t> </a:t>
            </a:r>
            <a:r>
              <a:rPr spc="0"/>
              <a:t>for</a:t>
            </a:r>
            <a:r>
              <a:t> </a:t>
            </a:r>
            <a:r>
              <a:rPr spc="0"/>
              <a:t>Feature</a:t>
            </a:r>
            <a:r>
              <a:t> </a:t>
            </a:r>
            <a:r>
              <a:rPr spc="0"/>
              <a:t>Selection</a:t>
            </a:r>
            <a:r>
              <a:t> </a:t>
            </a:r>
            <a:r>
              <a:rPr spc="0"/>
              <a:t>and</a:t>
            </a:r>
            <a:r>
              <a:t> Importance</a:t>
            </a:r>
          </a:p>
        </p:txBody>
      </p:sp>
      <p:pic>
        <p:nvPicPr>
          <p:cNvPr id="233" name="object 4" descr="object 4"/>
          <p:cNvPicPr>
            <a:picLocks noChangeAspect="1"/>
          </p:cNvPicPr>
          <p:nvPr/>
        </p:nvPicPr>
        <p:blipFill>
          <a:blip r:embed="rId2">
            <a:extLst/>
          </a:blip>
          <a:stretch>
            <a:fillRect/>
          </a:stretch>
        </p:blipFill>
        <p:spPr>
          <a:xfrm>
            <a:off x="584200" y="1264442"/>
            <a:ext cx="10125437" cy="5154011"/>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object 5"/>
          <p:cNvSpPr txBox="1"/>
          <p:nvPr/>
        </p:nvSpPr>
        <p:spPr>
          <a:xfrm>
            <a:off x="676654" y="1109133"/>
            <a:ext cx="4730159" cy="42080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R="5080">
              <a:lnSpc>
                <a:spcPct val="90000"/>
              </a:lnSpc>
              <a:spcBef>
                <a:spcPts val="100"/>
              </a:spcBef>
              <a:defRPr sz="2000">
                <a:latin typeface="Times New Roman"/>
                <a:ea typeface="Times New Roman"/>
                <a:cs typeface="Times New Roman"/>
                <a:sym typeface="Times New Roman"/>
              </a:defRPr>
            </a:pPr>
            <a:r>
              <a:t>	The</a:t>
            </a:r>
            <a:r>
              <a:rPr spc="-19"/>
              <a:t> </a:t>
            </a:r>
            <a:r>
              <a:t>result</a:t>
            </a:r>
            <a:r>
              <a:rPr spc="30"/>
              <a:t> </a:t>
            </a:r>
            <a:r>
              <a:t>of</a:t>
            </a:r>
            <a:r>
              <a:rPr spc="-35"/>
              <a:t> </a:t>
            </a:r>
            <a:r>
              <a:t>feature</a:t>
            </a:r>
            <a:r>
              <a:rPr spc="-19"/>
              <a:t> </a:t>
            </a:r>
            <a:r>
              <a:t>importance</a:t>
            </a:r>
            <a:r>
              <a:rPr spc="-15"/>
              <a:t> </a:t>
            </a:r>
            <a:r>
              <a:t>shows</a:t>
            </a:r>
            <a:r>
              <a:rPr spc="-19"/>
              <a:t> </a:t>
            </a:r>
            <a:r>
              <a:t>BMI</a:t>
            </a:r>
            <a:r>
              <a:rPr spc="-30"/>
              <a:t> </a:t>
            </a:r>
            <a:r>
              <a:t>is</a:t>
            </a:r>
            <a:r>
              <a:rPr spc="-30"/>
              <a:t> </a:t>
            </a:r>
            <a:r>
              <a:rPr spc="-25"/>
              <a:t>the </a:t>
            </a:r>
            <a:r>
              <a:t>most</a:t>
            </a:r>
            <a:r>
              <a:rPr spc="-55"/>
              <a:t> </a:t>
            </a:r>
            <a:r>
              <a:t>influential</a:t>
            </a:r>
            <a:r>
              <a:rPr spc="-50"/>
              <a:t> </a:t>
            </a:r>
            <a:r>
              <a:t>predictor</a:t>
            </a:r>
            <a:r>
              <a:rPr spc="-50"/>
              <a:t> </a:t>
            </a:r>
            <a:r>
              <a:t>of</a:t>
            </a:r>
            <a:r>
              <a:rPr spc="25"/>
              <a:t> </a:t>
            </a:r>
            <a:r>
              <a:t>diabetes</a:t>
            </a:r>
            <a:r>
              <a:rPr spc="4"/>
              <a:t> </a:t>
            </a:r>
            <a:r>
              <a:t>Weight</a:t>
            </a:r>
            <a:r>
              <a:rPr spc="-39"/>
              <a:t> </a:t>
            </a:r>
            <a:r>
              <a:rPr spc="-9"/>
              <a:t>(7.63), </a:t>
            </a:r>
            <a:r>
              <a:t>followed</a:t>
            </a:r>
            <a:r>
              <a:rPr spc="-15"/>
              <a:t> </a:t>
            </a:r>
            <a:r>
              <a:t>by</a:t>
            </a:r>
            <a:r>
              <a:rPr spc="-9"/>
              <a:t> </a:t>
            </a:r>
            <a:r>
              <a:t>Glucose</a:t>
            </a:r>
            <a:r>
              <a:rPr spc="-19"/>
              <a:t> </a:t>
            </a:r>
            <a:r>
              <a:t>(2.63),</a:t>
            </a:r>
            <a:r>
              <a:rPr spc="-9"/>
              <a:t> </a:t>
            </a:r>
            <a:r>
              <a:t>while</a:t>
            </a:r>
            <a:r>
              <a:rPr spc="-39"/>
              <a:t> </a:t>
            </a:r>
            <a:r>
              <a:t>Age</a:t>
            </a:r>
            <a:r>
              <a:rPr spc="-45"/>
              <a:t> </a:t>
            </a:r>
            <a:r>
              <a:t>has</a:t>
            </a:r>
            <a:r>
              <a:rPr spc="-30"/>
              <a:t> </a:t>
            </a:r>
            <a:r>
              <a:rPr spc="-9"/>
              <a:t>minimal </a:t>
            </a:r>
            <a:r>
              <a:t>impact (0.009).</a:t>
            </a:r>
            <a:r>
              <a:rPr spc="-45"/>
              <a:t> </a:t>
            </a:r>
            <a:r>
              <a:t>The</a:t>
            </a:r>
            <a:r>
              <a:rPr spc="-35"/>
              <a:t> </a:t>
            </a:r>
            <a:r>
              <a:t>model</a:t>
            </a:r>
            <a:r>
              <a:rPr spc="-55"/>
              <a:t> </a:t>
            </a:r>
            <a:r>
              <a:t>achieved</a:t>
            </a:r>
            <a:r>
              <a:rPr spc="15"/>
              <a:t> </a:t>
            </a:r>
            <a:r>
              <a:rPr spc="-9"/>
              <a:t>77.27%(0.7727) </a:t>
            </a:r>
            <a:r>
              <a:t>accuracy,</a:t>
            </a:r>
            <a:r>
              <a:rPr spc="-30"/>
              <a:t> </a:t>
            </a:r>
            <a:r>
              <a:t>with</a:t>
            </a:r>
            <a:r>
              <a:rPr spc="-45"/>
              <a:t> </a:t>
            </a:r>
            <a:r>
              <a:t>85</a:t>
            </a:r>
            <a:r>
              <a:rPr spc="-25"/>
              <a:t> </a:t>
            </a:r>
            <a:r>
              <a:t>true</a:t>
            </a:r>
            <a:r>
              <a:rPr spc="35"/>
              <a:t> </a:t>
            </a:r>
            <a:r>
              <a:t>negatives,</a:t>
            </a:r>
            <a:r>
              <a:rPr spc="-30"/>
              <a:t> </a:t>
            </a:r>
            <a:r>
              <a:t>34</a:t>
            </a:r>
            <a:r>
              <a:rPr spc="-25"/>
              <a:t> </a:t>
            </a:r>
            <a:r>
              <a:t>true</a:t>
            </a:r>
            <a:r>
              <a:rPr spc="30"/>
              <a:t> </a:t>
            </a:r>
            <a:r>
              <a:rPr spc="-9"/>
              <a:t>positives, </a:t>
            </a:r>
            <a:r>
              <a:t>14</a:t>
            </a:r>
            <a:r>
              <a:rPr spc="-19"/>
              <a:t> </a:t>
            </a:r>
            <a:r>
              <a:t>false</a:t>
            </a:r>
            <a:r>
              <a:rPr spc="-30"/>
              <a:t> </a:t>
            </a:r>
            <a:r>
              <a:t>positives,</a:t>
            </a:r>
            <a:r>
              <a:rPr spc="-15"/>
              <a:t> </a:t>
            </a:r>
            <a:r>
              <a:t>and</a:t>
            </a:r>
            <a:r>
              <a:rPr spc="-15"/>
              <a:t> </a:t>
            </a:r>
            <a:r>
              <a:t>21</a:t>
            </a:r>
            <a:r>
              <a:rPr spc="-19"/>
              <a:t> </a:t>
            </a:r>
            <a:r>
              <a:t>false</a:t>
            </a:r>
            <a:r>
              <a:rPr spc="-30"/>
              <a:t> </a:t>
            </a:r>
            <a:r>
              <a:t>negatives.</a:t>
            </a:r>
            <a:r>
              <a:rPr spc="-19"/>
              <a:t> </a:t>
            </a:r>
            <a:r>
              <a:rPr spc="-9"/>
              <a:t>Precision </a:t>
            </a:r>
            <a:r>
              <a:t>for</a:t>
            </a:r>
            <a:r>
              <a:rPr spc="30"/>
              <a:t> </a:t>
            </a:r>
            <a:r>
              <a:rPr spc="-9"/>
              <a:t>diabetes</a:t>
            </a:r>
            <a:r>
              <a:rPr spc="-30"/>
              <a:t> </a:t>
            </a:r>
            <a:r>
              <a:t>prediction</a:t>
            </a:r>
            <a:r>
              <a:rPr spc="-9"/>
              <a:t> </a:t>
            </a:r>
            <a:r>
              <a:t>was</a:t>
            </a:r>
            <a:r>
              <a:rPr spc="9"/>
              <a:t> </a:t>
            </a:r>
            <a:r>
              <a:t>71%(0.71),</a:t>
            </a:r>
            <a:r>
              <a:rPr spc="-30"/>
              <a:t> </a:t>
            </a:r>
            <a:r>
              <a:rPr spc="-9"/>
              <a:t>recall </a:t>
            </a:r>
            <a:r>
              <a:t>62%(0.62),</a:t>
            </a:r>
            <a:r>
              <a:rPr spc="-19"/>
              <a:t> </a:t>
            </a:r>
            <a:r>
              <a:t>and</a:t>
            </a:r>
            <a:r>
              <a:rPr spc="-4"/>
              <a:t> </a:t>
            </a:r>
            <a:r>
              <a:rPr spc="-9"/>
              <a:t>F1-</a:t>
            </a:r>
            <a:r>
              <a:t>score</a:t>
            </a:r>
            <a:r>
              <a:rPr spc="-30"/>
              <a:t> </a:t>
            </a:r>
            <a:r>
              <a:t>66%(0.66),</a:t>
            </a:r>
            <a:r>
              <a:rPr spc="-15"/>
              <a:t> </a:t>
            </a:r>
            <a:r>
              <a:t>while</a:t>
            </a:r>
            <a:r>
              <a:rPr spc="-25"/>
              <a:t> </a:t>
            </a:r>
            <a:r>
              <a:t>the</a:t>
            </a:r>
            <a:r>
              <a:rPr spc="-30"/>
              <a:t> </a:t>
            </a:r>
            <a:r>
              <a:rPr spc="-9"/>
              <a:t>model </a:t>
            </a:r>
            <a:r>
              <a:t>performed</a:t>
            </a:r>
            <a:r>
              <a:rPr spc="-19"/>
              <a:t> </a:t>
            </a:r>
            <a:r>
              <a:t>better</a:t>
            </a:r>
            <a:r>
              <a:rPr spc="19"/>
              <a:t> </a:t>
            </a:r>
            <a:r>
              <a:t>for</a:t>
            </a:r>
            <a:r>
              <a:rPr spc="-45"/>
              <a:t> </a:t>
            </a:r>
            <a:r>
              <a:t>non-diabetic</a:t>
            </a:r>
            <a:r>
              <a:rPr spc="-25"/>
              <a:t> </a:t>
            </a:r>
            <a:r>
              <a:t>cases.</a:t>
            </a:r>
            <a:r>
              <a:rPr spc="-15"/>
              <a:t> </a:t>
            </a:r>
            <a:r>
              <a:rPr spc="-19"/>
              <a:t>This </a:t>
            </a:r>
            <a:r>
              <a:t>imbalance</a:t>
            </a:r>
            <a:r>
              <a:rPr spc="-19"/>
              <a:t> </a:t>
            </a:r>
            <a:r>
              <a:t>suggests</a:t>
            </a:r>
            <a:r>
              <a:rPr spc="-30"/>
              <a:t> </a:t>
            </a:r>
            <a:r>
              <a:t>the</a:t>
            </a:r>
            <a:r>
              <a:rPr spc="-19"/>
              <a:t> </a:t>
            </a:r>
            <a:r>
              <a:t>model</a:t>
            </a:r>
            <a:r>
              <a:rPr spc="-45"/>
              <a:t> </a:t>
            </a:r>
            <a:r>
              <a:t>could</a:t>
            </a:r>
            <a:r>
              <a:rPr spc="-9"/>
              <a:t> improve</a:t>
            </a:r>
            <a:r>
              <a:rPr spc="-25"/>
              <a:t> </a:t>
            </a:r>
            <a:r>
              <a:t>by</a:t>
            </a:r>
            <a:r>
              <a:rPr spc="-15"/>
              <a:t> </a:t>
            </a:r>
            <a:r>
              <a:rPr spc="-9"/>
              <a:t>better </a:t>
            </a:r>
            <a:r>
              <a:t>balancing</a:t>
            </a:r>
            <a:r>
              <a:rPr spc="-35"/>
              <a:t> </a:t>
            </a:r>
            <a:r>
              <a:t>the</a:t>
            </a:r>
            <a:r>
              <a:rPr spc="-35"/>
              <a:t> </a:t>
            </a:r>
            <a:r>
              <a:rPr spc="-19"/>
              <a:t>data.</a:t>
            </a:r>
            <a:endParaRPr sz="1200"/>
          </a:p>
          <a:p>
            <a:pPr indent="-228600">
              <a:lnSpc>
                <a:spcPct val="90000"/>
              </a:lnSpc>
              <a:spcBef>
                <a:spcPts val="1100"/>
              </a:spcBef>
              <a:buSzPct val="100000"/>
              <a:buFont typeface="Arial"/>
              <a:buChar char="•"/>
              <a:defRPr spc="-19" sz="2000">
                <a:latin typeface="Times New Roman"/>
                <a:ea typeface="Times New Roman"/>
                <a:cs typeface="Times New Roman"/>
                <a:sym typeface="Times New Roman"/>
              </a:defRPr>
            </a:pPr>
          </a:p>
        </p:txBody>
      </p:sp>
      <p:grpSp>
        <p:nvGrpSpPr>
          <p:cNvPr id="238" name="object 2"/>
          <p:cNvGrpSpPr/>
          <p:nvPr/>
        </p:nvGrpSpPr>
        <p:grpSpPr>
          <a:xfrm>
            <a:off x="5537200" y="1580092"/>
            <a:ext cx="6020816" cy="3697817"/>
            <a:chOff x="0" y="0"/>
            <a:chExt cx="6020815" cy="3697816"/>
          </a:xfrm>
        </p:grpSpPr>
        <p:pic>
          <p:nvPicPr>
            <p:cNvPr id="236" name="object 3" descr="object 3"/>
            <p:cNvPicPr>
              <a:picLocks noChangeAspect="1"/>
            </p:cNvPicPr>
            <p:nvPr/>
          </p:nvPicPr>
          <p:blipFill>
            <a:blip r:embed="rId2">
              <a:extLst/>
            </a:blip>
            <a:stretch>
              <a:fillRect/>
            </a:stretch>
          </p:blipFill>
          <p:spPr>
            <a:xfrm>
              <a:off x="0" y="0"/>
              <a:ext cx="6020816" cy="3697817"/>
            </a:xfrm>
            <a:prstGeom prst="rect">
              <a:avLst/>
            </a:prstGeom>
            <a:ln w="12700" cap="flat">
              <a:noFill/>
              <a:miter lim="400000"/>
            </a:ln>
            <a:effectLst/>
          </p:spPr>
        </p:pic>
        <p:pic>
          <p:nvPicPr>
            <p:cNvPr id="237" name="object 4" descr="object 4"/>
            <p:cNvPicPr>
              <a:picLocks noChangeAspect="1"/>
            </p:cNvPicPr>
            <p:nvPr/>
          </p:nvPicPr>
          <p:blipFill>
            <a:blip r:embed="rId3">
              <a:extLst/>
            </a:blip>
            <a:stretch>
              <a:fillRect/>
            </a:stretch>
          </p:blipFill>
          <p:spPr>
            <a:xfrm>
              <a:off x="2781113" y="2012878"/>
              <a:ext cx="3239703" cy="1679285"/>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object 2"/>
          <p:cNvSpPr txBox="1"/>
          <p:nvPr>
            <p:ph type="title"/>
          </p:nvPr>
        </p:nvSpPr>
        <p:spPr>
          <a:xfrm>
            <a:off x="483550" y="552386"/>
            <a:ext cx="7471094" cy="334647"/>
          </a:xfrm>
          <a:prstGeom prst="rect">
            <a:avLst/>
          </a:prstGeom>
        </p:spPr>
        <p:txBody>
          <a:bodyPr/>
          <a:lstStyle/>
          <a:p>
            <a:pPr indent="6858" defTabSz="493776">
              <a:defRPr sz="1728">
                <a:latin typeface="Times New Roman"/>
                <a:ea typeface="Times New Roman"/>
                <a:cs typeface="Times New Roman"/>
                <a:sym typeface="Times New Roman"/>
              </a:defRPr>
            </a:pPr>
            <a:r>
              <a:t>Bar</a:t>
            </a:r>
            <a:r>
              <a:rPr spc="-54"/>
              <a:t> </a:t>
            </a:r>
            <a:r>
              <a:t>Chart</a:t>
            </a:r>
            <a:r>
              <a:rPr spc="-54"/>
              <a:t> </a:t>
            </a:r>
            <a:r>
              <a:t>of Feature</a:t>
            </a:r>
            <a:r>
              <a:rPr spc="-54"/>
              <a:t> Importances</a:t>
            </a:r>
          </a:p>
        </p:txBody>
      </p:sp>
      <p:sp>
        <p:nvSpPr>
          <p:cNvPr id="241" name="object 3"/>
          <p:cNvSpPr txBox="1"/>
          <p:nvPr/>
        </p:nvSpPr>
        <p:spPr>
          <a:xfrm>
            <a:off x="11079226" y="6447154"/>
            <a:ext cx="19685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12700">
              <a:spcBef>
                <a:spcPts val="100"/>
              </a:spcBef>
              <a:defRPr spc="-25" sz="1200">
                <a:solidFill>
                  <a:srgbClr val="878787"/>
                </a:solidFill>
                <a:latin typeface="Tahoma"/>
                <a:ea typeface="Tahoma"/>
                <a:cs typeface="Tahoma"/>
                <a:sym typeface="Tahoma"/>
              </a:defRPr>
            </a:lvl1pPr>
          </a:lstStyle>
          <a:p>
            <a:pPr/>
            <a:r>
              <a:t>28</a:t>
            </a:r>
          </a:p>
        </p:txBody>
      </p:sp>
      <p:grpSp>
        <p:nvGrpSpPr>
          <p:cNvPr id="244" name="object 4"/>
          <p:cNvGrpSpPr/>
          <p:nvPr/>
        </p:nvGrpSpPr>
        <p:grpSpPr>
          <a:xfrm>
            <a:off x="483551" y="1944709"/>
            <a:ext cx="5612449" cy="4308793"/>
            <a:chOff x="0" y="0"/>
            <a:chExt cx="5612448" cy="4308792"/>
          </a:xfrm>
        </p:grpSpPr>
        <p:pic>
          <p:nvPicPr>
            <p:cNvPr id="242" name="object 5" descr="object 5"/>
            <p:cNvPicPr>
              <a:picLocks noChangeAspect="1"/>
            </p:cNvPicPr>
            <p:nvPr/>
          </p:nvPicPr>
          <p:blipFill>
            <a:blip r:embed="rId2">
              <a:extLst/>
            </a:blip>
            <a:stretch>
              <a:fillRect/>
            </a:stretch>
          </p:blipFill>
          <p:spPr>
            <a:xfrm>
              <a:off x="7606" y="167471"/>
              <a:ext cx="3656759" cy="3986427"/>
            </a:xfrm>
            <a:prstGeom prst="rect">
              <a:avLst/>
            </a:prstGeom>
            <a:ln w="12700" cap="flat">
              <a:noFill/>
              <a:miter lim="400000"/>
            </a:ln>
            <a:effectLst/>
          </p:spPr>
        </p:pic>
        <p:sp>
          <p:nvSpPr>
            <p:cNvPr id="243" name="object 6"/>
            <p:cNvSpPr/>
            <p:nvPr/>
          </p:nvSpPr>
          <p:spPr>
            <a:xfrm>
              <a:off x="0" y="0"/>
              <a:ext cx="5612449" cy="4308793"/>
            </a:xfrm>
            <a:prstGeom prst="rect">
              <a:avLst/>
            </a:prstGeom>
            <a:noFill/>
            <a:ln w="9525" cap="flat">
              <a:solidFill>
                <a:srgbClr val="4471C4"/>
              </a:solidFill>
              <a:prstDash val="solid"/>
              <a:round/>
            </a:ln>
            <a:effectLst/>
          </p:spPr>
          <p:txBody>
            <a:bodyPr wrap="square" lIns="45719" tIns="45719" rIns="45719" bIns="45719" numCol="1" anchor="t">
              <a:noAutofit/>
            </a:bodyPr>
            <a:lstStyle/>
            <a:p>
              <a:pPr/>
            </a:p>
          </p:txBody>
        </p:sp>
      </p:grpSp>
      <p:sp>
        <p:nvSpPr>
          <p:cNvPr id="245" name="object 7"/>
          <p:cNvSpPr txBox="1"/>
          <p:nvPr/>
        </p:nvSpPr>
        <p:spPr>
          <a:xfrm>
            <a:off x="6324600" y="1543112"/>
            <a:ext cx="5748867" cy="3564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R="36830" indent="12700">
              <a:lnSpc>
                <a:spcPct val="103099"/>
              </a:lnSpc>
              <a:defRPr sz="2000">
                <a:latin typeface="Times New Roman"/>
                <a:ea typeface="Times New Roman"/>
                <a:cs typeface="Times New Roman"/>
                <a:sym typeface="Times New Roman"/>
              </a:defRPr>
            </a:pPr>
            <a:r>
              <a:t>	A</a:t>
            </a:r>
            <a:r>
              <a:rPr spc="104"/>
              <a:t> </a:t>
            </a:r>
            <a:r>
              <a:t>bar</a:t>
            </a:r>
            <a:r>
              <a:rPr spc="39"/>
              <a:t> </a:t>
            </a:r>
            <a:r>
              <a:t>chart</a:t>
            </a:r>
            <a:r>
              <a:rPr spc="135"/>
              <a:t> </a:t>
            </a:r>
            <a:r>
              <a:t>visually</a:t>
            </a:r>
            <a:r>
              <a:rPr spc="79"/>
              <a:t> </a:t>
            </a:r>
            <a:r>
              <a:rPr spc="-9"/>
              <a:t>highlights </a:t>
            </a:r>
            <a:r>
              <a:t>feature</a:t>
            </a:r>
            <a:r>
              <a:rPr spc="150"/>
              <a:t> </a:t>
            </a:r>
            <a:r>
              <a:t>importance</a:t>
            </a:r>
            <a:r>
              <a:rPr spc="150"/>
              <a:t> </a:t>
            </a:r>
            <a:r>
              <a:t>in</a:t>
            </a:r>
            <a:r>
              <a:rPr spc="135"/>
              <a:t> </a:t>
            </a:r>
            <a:r>
              <a:rPr spc="-9"/>
              <a:t>diabetes </a:t>
            </a:r>
            <a:r>
              <a:t>prediction,</a:t>
            </a:r>
            <a:r>
              <a:rPr spc="135"/>
              <a:t> </a:t>
            </a:r>
            <a:r>
              <a:t>showing</a:t>
            </a:r>
            <a:r>
              <a:rPr spc="114"/>
              <a:t> </a:t>
            </a:r>
            <a:r>
              <a:t>that</a:t>
            </a:r>
            <a:r>
              <a:rPr spc="175"/>
              <a:t> </a:t>
            </a:r>
            <a:r>
              <a:rPr spc="-25"/>
              <a:t>BMI</a:t>
            </a:r>
            <a:r>
              <a:rPr spc="500"/>
              <a:t> </a:t>
            </a:r>
            <a:r>
              <a:t>(7.63)</a:t>
            </a:r>
            <a:r>
              <a:rPr spc="114"/>
              <a:t> </a:t>
            </a:r>
            <a:r>
              <a:t>is</a:t>
            </a:r>
            <a:r>
              <a:rPr spc="19"/>
              <a:t> </a:t>
            </a:r>
            <a:r>
              <a:t>the</a:t>
            </a:r>
            <a:r>
              <a:rPr spc="90"/>
              <a:t> </a:t>
            </a:r>
            <a:r>
              <a:t>most</a:t>
            </a:r>
            <a:r>
              <a:rPr spc="130"/>
              <a:t> </a:t>
            </a:r>
            <a:r>
              <a:rPr spc="-9"/>
              <a:t>significant</a:t>
            </a:r>
            <a:r>
              <a:rPr spc="500"/>
              <a:t> </a:t>
            </a:r>
            <a:r>
              <a:t>factor,</a:t>
            </a:r>
            <a:r>
              <a:rPr spc="125"/>
              <a:t> </a:t>
            </a:r>
            <a:r>
              <a:t>followed</a:t>
            </a:r>
            <a:r>
              <a:rPr spc="110"/>
              <a:t> </a:t>
            </a:r>
            <a:r>
              <a:t>by</a:t>
            </a:r>
            <a:r>
              <a:rPr spc="104"/>
              <a:t> </a:t>
            </a:r>
            <a:r>
              <a:t>Glucose</a:t>
            </a:r>
            <a:r>
              <a:rPr spc="125"/>
              <a:t> </a:t>
            </a:r>
            <a:r>
              <a:rPr spc="-9"/>
              <a:t>(2.63), </a:t>
            </a:r>
            <a:r>
              <a:t>while</a:t>
            </a:r>
            <a:r>
              <a:rPr spc="104"/>
              <a:t> </a:t>
            </a:r>
            <a:r>
              <a:t>Age</a:t>
            </a:r>
            <a:r>
              <a:rPr spc="104"/>
              <a:t> </a:t>
            </a:r>
            <a:r>
              <a:t>(0.009)</a:t>
            </a:r>
            <a:r>
              <a:rPr spc="85"/>
              <a:t> </a:t>
            </a:r>
            <a:r>
              <a:t>has</a:t>
            </a:r>
            <a:r>
              <a:rPr spc="120"/>
              <a:t> </a:t>
            </a:r>
            <a:r>
              <a:t>almost</a:t>
            </a:r>
            <a:r>
              <a:rPr spc="60"/>
              <a:t> </a:t>
            </a:r>
            <a:r>
              <a:rPr spc="-25"/>
              <a:t>no </a:t>
            </a:r>
            <a:r>
              <a:t>impact.</a:t>
            </a:r>
            <a:r>
              <a:rPr spc="114"/>
              <a:t> </a:t>
            </a:r>
            <a:r>
              <a:t>The</a:t>
            </a:r>
            <a:r>
              <a:rPr spc="114"/>
              <a:t> </a:t>
            </a:r>
            <a:r>
              <a:t>x-axis</a:t>
            </a:r>
            <a:r>
              <a:rPr spc="125"/>
              <a:t> </a:t>
            </a:r>
            <a:r>
              <a:rPr spc="-9"/>
              <a:t>represents </a:t>
            </a:r>
            <a:r>
              <a:t>features,</a:t>
            </a:r>
            <a:r>
              <a:rPr spc="114"/>
              <a:t> </a:t>
            </a:r>
            <a:r>
              <a:t>and</a:t>
            </a:r>
            <a:r>
              <a:rPr spc="95"/>
              <a:t> </a:t>
            </a:r>
            <a:r>
              <a:t>the</a:t>
            </a:r>
            <a:r>
              <a:rPr spc="114"/>
              <a:t> </a:t>
            </a:r>
            <a:r>
              <a:t>y-axis</a:t>
            </a:r>
            <a:r>
              <a:rPr spc="125"/>
              <a:t> </a:t>
            </a:r>
            <a:r>
              <a:rPr spc="-9"/>
              <a:t>represents </a:t>
            </a:r>
            <a:r>
              <a:t>their</a:t>
            </a:r>
            <a:r>
              <a:rPr spc="204"/>
              <a:t> </a:t>
            </a:r>
            <a:r>
              <a:t>importance</a:t>
            </a:r>
            <a:r>
              <a:rPr spc="75"/>
              <a:t> </a:t>
            </a:r>
            <a:r>
              <a:t>weights.</a:t>
            </a:r>
            <a:r>
              <a:rPr spc="180"/>
              <a:t> </a:t>
            </a:r>
            <a:r>
              <a:rPr spc="-19"/>
              <a:t>This </a:t>
            </a:r>
            <a:r>
              <a:t>visualization</a:t>
            </a:r>
            <a:r>
              <a:rPr spc="125"/>
              <a:t> </a:t>
            </a:r>
            <a:r>
              <a:t>makes</a:t>
            </a:r>
            <a:r>
              <a:rPr spc="159"/>
              <a:t> </a:t>
            </a:r>
            <a:r>
              <a:t>it</a:t>
            </a:r>
            <a:r>
              <a:rPr spc="100"/>
              <a:t> </a:t>
            </a:r>
            <a:r>
              <a:t>clear</a:t>
            </a:r>
            <a:r>
              <a:rPr spc="79"/>
              <a:t> </a:t>
            </a:r>
            <a:r>
              <a:rPr spc="-19"/>
              <a:t>that </a:t>
            </a:r>
            <a:r>
              <a:t>BMI</a:t>
            </a:r>
            <a:r>
              <a:rPr spc="140"/>
              <a:t> </a:t>
            </a:r>
            <a:r>
              <a:t>plays</a:t>
            </a:r>
            <a:r>
              <a:rPr spc="35"/>
              <a:t> </a:t>
            </a:r>
            <a:r>
              <a:t>the</a:t>
            </a:r>
            <a:r>
              <a:rPr spc="114"/>
              <a:t> </a:t>
            </a:r>
            <a:r>
              <a:t>biggest</a:t>
            </a:r>
            <a:r>
              <a:rPr spc="65"/>
              <a:t> </a:t>
            </a:r>
            <a:r>
              <a:t>role</a:t>
            </a:r>
            <a:r>
              <a:rPr spc="114"/>
              <a:t> </a:t>
            </a:r>
            <a:r>
              <a:t>in</a:t>
            </a:r>
            <a:r>
              <a:rPr spc="95"/>
              <a:t> </a:t>
            </a:r>
            <a:r>
              <a:rPr spc="-25"/>
              <a:t>the </a:t>
            </a:r>
            <a:r>
              <a:t>model’s</a:t>
            </a:r>
            <a:r>
              <a:rPr spc="140"/>
              <a:t> </a:t>
            </a:r>
            <a:r>
              <a:rPr spc="-9"/>
              <a:t>predictions.</a:t>
            </a:r>
            <a:endParaRPr sz="1500"/>
          </a:p>
          <a:p>
            <a:pPr indent="12700">
              <a:defRPr sz="2000">
                <a:latin typeface="Times New Roman"/>
                <a:ea typeface="Times New Roman"/>
                <a:cs typeface="Times New Roman"/>
                <a:sym typeface="Times New Roman"/>
              </a:defRPr>
            </a:pPr>
            <a:r>
              <a:t>	The</a:t>
            </a:r>
            <a:r>
              <a:rPr spc="155"/>
              <a:t> </a:t>
            </a:r>
            <a:r>
              <a:t>Genetic</a:t>
            </a:r>
            <a:r>
              <a:rPr spc="55"/>
              <a:t> </a:t>
            </a:r>
            <a:r>
              <a:t>Algorithm</a:t>
            </a:r>
            <a:r>
              <a:rPr spc="155"/>
              <a:t> </a:t>
            </a:r>
            <a:r>
              <a:t>(GA)</a:t>
            </a:r>
            <a:r>
              <a:rPr spc="90"/>
              <a:t> </a:t>
            </a:r>
            <a:r>
              <a:rPr spc="-19"/>
              <a:t>took </a:t>
            </a:r>
            <a:r>
              <a:t>4.592</a:t>
            </a:r>
            <a:r>
              <a:rPr spc="155"/>
              <a:t> </a:t>
            </a:r>
            <a:r>
              <a:t>seconds</a:t>
            </a:r>
            <a:r>
              <a:rPr spc="155"/>
              <a:t> </a:t>
            </a:r>
            <a:r>
              <a:t>to</a:t>
            </a:r>
            <a:r>
              <a:rPr spc="125"/>
              <a:t> </a:t>
            </a:r>
            <a:r>
              <a:t>complete.</a:t>
            </a:r>
            <a:r>
              <a:rPr spc="55"/>
              <a:t> </a:t>
            </a:r>
            <a:r>
              <a:rPr spc="-25"/>
              <a:t>The </a:t>
            </a:r>
            <a:r>
              <a:t>process</a:t>
            </a:r>
            <a:r>
              <a:rPr spc="110"/>
              <a:t> </a:t>
            </a:r>
            <a:r>
              <a:t>took</a:t>
            </a:r>
            <a:r>
              <a:rPr spc="85"/>
              <a:t> </a:t>
            </a:r>
            <a:r>
              <a:t>longer</a:t>
            </a:r>
            <a:r>
              <a:rPr spc="130"/>
              <a:t> </a:t>
            </a:r>
            <a:r>
              <a:t>because</a:t>
            </a:r>
            <a:r>
              <a:rPr spc="100"/>
              <a:t> </a:t>
            </a:r>
            <a:r>
              <a:t>it</a:t>
            </a:r>
            <a:r>
              <a:rPr spc="55"/>
              <a:t> </a:t>
            </a:r>
            <a:r>
              <a:rPr spc="-19"/>
              <a:t>went </a:t>
            </a:r>
            <a:r>
              <a:t>through</a:t>
            </a:r>
            <a:r>
              <a:rPr spc="155"/>
              <a:t> </a:t>
            </a:r>
            <a:r>
              <a:t>more</a:t>
            </a:r>
            <a:r>
              <a:rPr spc="180"/>
              <a:t> </a:t>
            </a:r>
            <a:r>
              <a:t>generations</a:t>
            </a:r>
            <a:r>
              <a:rPr spc="95"/>
              <a:t> </a:t>
            </a:r>
            <a:r>
              <a:rPr spc="-25"/>
              <a:t>to </a:t>
            </a:r>
            <a:r>
              <a:t>improve</a:t>
            </a:r>
            <a:r>
              <a:rPr spc="125"/>
              <a:t> </a:t>
            </a:r>
            <a:r>
              <a:t>the</a:t>
            </a:r>
            <a:r>
              <a:rPr spc="125"/>
              <a:t> </a:t>
            </a:r>
            <a:r>
              <a:t>feature</a:t>
            </a:r>
            <a:r>
              <a:rPr spc="125"/>
              <a:t> </a:t>
            </a:r>
            <a:r>
              <a:t>weights</a:t>
            </a:r>
            <a:r>
              <a:rPr spc="140"/>
              <a:t> </a:t>
            </a:r>
            <a:r>
              <a:rPr spc="-25"/>
              <a:t>for </a:t>
            </a:r>
            <a:r>
              <a:t>better</a:t>
            </a:r>
            <a:r>
              <a:rPr spc="95"/>
              <a:t> </a:t>
            </a:r>
            <a:r>
              <a:rPr spc="-9"/>
              <a:t>accuracy.</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object 2"/>
          <p:cNvSpPr txBox="1"/>
          <p:nvPr>
            <p:ph type="title"/>
          </p:nvPr>
        </p:nvSpPr>
        <p:spPr>
          <a:xfrm>
            <a:off x="494665" y="850200"/>
            <a:ext cx="3067051" cy="701043"/>
          </a:xfrm>
          <a:prstGeom prst="rect">
            <a:avLst/>
          </a:prstGeom>
        </p:spPr>
        <p:txBody>
          <a:bodyPr/>
          <a:lstStyle>
            <a:lvl1pPr indent="12700">
              <a:spcBef>
                <a:spcPts val="100"/>
              </a:spcBef>
              <a:defRPr spc="-100" sz="3200">
                <a:latin typeface="Times New Roman"/>
                <a:ea typeface="Times New Roman"/>
                <a:cs typeface="Times New Roman"/>
                <a:sym typeface="Times New Roman"/>
              </a:defRPr>
            </a:lvl1pPr>
          </a:lstStyle>
          <a:p>
            <a:pPr/>
            <a:r>
              <a:t>Interpretation</a:t>
            </a:r>
          </a:p>
        </p:txBody>
      </p:sp>
      <p:sp>
        <p:nvSpPr>
          <p:cNvPr id="248" name="object 3"/>
          <p:cNvSpPr txBox="1"/>
          <p:nvPr/>
        </p:nvSpPr>
        <p:spPr>
          <a:xfrm>
            <a:off x="516572" y="1759773"/>
            <a:ext cx="9881235" cy="22127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R="5080" indent="12700">
              <a:lnSpc>
                <a:spcPct val="110200"/>
              </a:lnSpc>
              <a:defRPr sz="2400">
                <a:latin typeface="Times New Roman"/>
                <a:ea typeface="Times New Roman"/>
                <a:cs typeface="Times New Roman"/>
                <a:sym typeface="Times New Roman"/>
              </a:defRPr>
            </a:pPr>
            <a:r>
              <a:t>	The</a:t>
            </a:r>
            <a:r>
              <a:rPr spc="-35"/>
              <a:t> </a:t>
            </a:r>
            <a:r>
              <a:t>results</a:t>
            </a:r>
            <a:r>
              <a:rPr spc="-45"/>
              <a:t> </a:t>
            </a:r>
            <a:r>
              <a:t>clearly</a:t>
            </a:r>
            <a:r>
              <a:rPr spc="-15"/>
              <a:t> </a:t>
            </a:r>
            <a:r>
              <a:t>show</a:t>
            </a:r>
            <a:r>
              <a:rPr spc="-25"/>
              <a:t> </a:t>
            </a:r>
            <a:r>
              <a:t>that</a:t>
            </a:r>
            <a:r>
              <a:rPr spc="-15"/>
              <a:t> </a:t>
            </a:r>
            <a:r>
              <a:t>BMI</a:t>
            </a:r>
            <a:r>
              <a:rPr spc="5"/>
              <a:t> </a:t>
            </a:r>
            <a:r>
              <a:t>is</a:t>
            </a:r>
            <a:r>
              <a:rPr spc="-40"/>
              <a:t> </a:t>
            </a:r>
            <a:r>
              <a:t>the</a:t>
            </a:r>
            <a:r>
              <a:rPr spc="-25"/>
              <a:t> </a:t>
            </a:r>
            <a:r>
              <a:t>most</a:t>
            </a:r>
            <a:r>
              <a:rPr spc="-15"/>
              <a:t> </a:t>
            </a:r>
            <a:r>
              <a:t>important</a:t>
            </a:r>
            <a:r>
              <a:rPr spc="-10"/>
              <a:t> </a:t>
            </a:r>
            <a:r>
              <a:t>factor</a:t>
            </a:r>
            <a:r>
              <a:rPr spc="-60"/>
              <a:t> </a:t>
            </a:r>
            <a:r>
              <a:t>in</a:t>
            </a:r>
            <a:r>
              <a:rPr spc="-10"/>
              <a:t> predicting </a:t>
            </a:r>
            <a:r>
              <a:t>diabetes,</a:t>
            </a:r>
            <a:r>
              <a:rPr spc="-25"/>
              <a:t> </a:t>
            </a:r>
            <a:r>
              <a:t>having</a:t>
            </a:r>
            <a:r>
              <a:rPr spc="-20"/>
              <a:t> </a:t>
            </a:r>
            <a:r>
              <a:t>a</a:t>
            </a:r>
            <a:r>
              <a:rPr spc="-35"/>
              <a:t> </a:t>
            </a:r>
            <a:r>
              <a:t>much</a:t>
            </a:r>
            <a:r>
              <a:rPr spc="-20"/>
              <a:t> </a:t>
            </a:r>
            <a:r>
              <a:t>stronger impact</a:t>
            </a:r>
            <a:r>
              <a:rPr spc="-20"/>
              <a:t> </a:t>
            </a:r>
            <a:r>
              <a:t>on</a:t>
            </a:r>
            <a:r>
              <a:rPr spc="-25"/>
              <a:t> </a:t>
            </a:r>
            <a:r>
              <a:t>the</a:t>
            </a:r>
            <a:r>
              <a:rPr spc="35"/>
              <a:t> </a:t>
            </a:r>
            <a:r>
              <a:t>model</a:t>
            </a:r>
            <a:r>
              <a:rPr spc="-90"/>
              <a:t> </a:t>
            </a:r>
            <a:r>
              <a:t>than</a:t>
            </a:r>
            <a:r>
              <a:rPr spc="-20"/>
              <a:t> </a:t>
            </a:r>
            <a:r>
              <a:t>the</a:t>
            </a:r>
            <a:r>
              <a:rPr spc="-35"/>
              <a:t> </a:t>
            </a:r>
            <a:r>
              <a:t>other </a:t>
            </a:r>
            <a:r>
              <a:rPr spc="-10"/>
              <a:t>features. </a:t>
            </a:r>
            <a:r>
              <a:t>While</a:t>
            </a:r>
            <a:r>
              <a:rPr spc="-50"/>
              <a:t> </a:t>
            </a:r>
            <a:r>
              <a:t>Glucose</a:t>
            </a:r>
            <a:r>
              <a:rPr spc="-35"/>
              <a:t> </a:t>
            </a:r>
            <a:r>
              <a:t>is</a:t>
            </a:r>
            <a:r>
              <a:rPr spc="-40"/>
              <a:t> </a:t>
            </a:r>
            <a:r>
              <a:t>also</a:t>
            </a:r>
            <a:r>
              <a:rPr spc="-15"/>
              <a:t> </a:t>
            </a:r>
            <a:r>
              <a:t>important,</a:t>
            </a:r>
            <a:r>
              <a:rPr spc="-15"/>
              <a:t> </a:t>
            </a:r>
            <a:r>
              <a:t>it</a:t>
            </a:r>
            <a:r>
              <a:rPr spc="-15"/>
              <a:t> </a:t>
            </a:r>
            <a:r>
              <a:t>doesn’t</a:t>
            </a:r>
            <a:r>
              <a:rPr spc="-15"/>
              <a:t> </a:t>
            </a:r>
            <a:r>
              <a:t>have</a:t>
            </a:r>
            <a:r>
              <a:rPr spc="-35"/>
              <a:t> </a:t>
            </a:r>
            <a:r>
              <a:t>as</a:t>
            </a:r>
            <a:r>
              <a:rPr spc="-50"/>
              <a:t> </a:t>
            </a:r>
            <a:r>
              <a:t>much</a:t>
            </a:r>
            <a:r>
              <a:rPr spc="-15"/>
              <a:t> </a:t>
            </a:r>
            <a:r>
              <a:t>influence</a:t>
            </a:r>
            <a:r>
              <a:rPr spc="-35"/>
              <a:t> </a:t>
            </a:r>
            <a:r>
              <a:t>as</a:t>
            </a:r>
            <a:r>
              <a:rPr spc="20"/>
              <a:t> </a:t>
            </a:r>
            <a:r>
              <a:rPr spc="-25"/>
              <a:t>BMI.</a:t>
            </a:r>
            <a:r>
              <a:rPr spc="-155"/>
              <a:t> </a:t>
            </a:r>
            <a:r>
              <a:rPr spc="-20"/>
              <a:t>Age, </a:t>
            </a:r>
            <a:r>
              <a:t>on</a:t>
            </a:r>
            <a:r>
              <a:rPr spc="-25"/>
              <a:t> </a:t>
            </a:r>
            <a:r>
              <a:t>the</a:t>
            </a:r>
            <a:r>
              <a:rPr spc="-45"/>
              <a:t> </a:t>
            </a:r>
            <a:r>
              <a:t>other</a:t>
            </a:r>
            <a:r>
              <a:rPr spc="-5"/>
              <a:t> </a:t>
            </a:r>
            <a:r>
              <a:t>hand,</a:t>
            </a:r>
            <a:r>
              <a:rPr spc="-30"/>
              <a:t> </a:t>
            </a:r>
            <a:r>
              <a:t>plays</a:t>
            </a:r>
            <a:r>
              <a:rPr spc="-65"/>
              <a:t> </a:t>
            </a:r>
            <a:r>
              <a:t>a</a:t>
            </a:r>
            <a:r>
              <a:rPr spc="25"/>
              <a:t> </a:t>
            </a:r>
            <a:r>
              <a:t>very</a:t>
            </a:r>
            <a:r>
              <a:rPr spc="-20"/>
              <a:t> </a:t>
            </a:r>
            <a:r>
              <a:t>minimal</a:t>
            </a:r>
            <a:r>
              <a:rPr spc="-25"/>
              <a:t> </a:t>
            </a:r>
            <a:r>
              <a:t>role,</a:t>
            </a:r>
            <a:r>
              <a:rPr spc="-25"/>
              <a:t> </a:t>
            </a:r>
            <a:r>
              <a:t>making</a:t>
            </a:r>
            <a:r>
              <a:rPr spc="-25"/>
              <a:t> </a:t>
            </a:r>
            <a:r>
              <a:t>it</a:t>
            </a:r>
            <a:r>
              <a:rPr spc="-15"/>
              <a:t> </a:t>
            </a:r>
            <a:r>
              <a:t>less</a:t>
            </a:r>
            <a:r>
              <a:rPr spc="10"/>
              <a:t> </a:t>
            </a:r>
            <a:r>
              <a:t>useful</a:t>
            </a:r>
            <a:r>
              <a:rPr spc="-25"/>
              <a:t> </a:t>
            </a:r>
            <a:r>
              <a:t>for</a:t>
            </a:r>
            <a:r>
              <a:rPr spc="-75"/>
              <a:t> </a:t>
            </a:r>
            <a:r>
              <a:rPr spc="-10"/>
              <a:t>predicting </a:t>
            </a:r>
            <a:r>
              <a:t>diabetes</a:t>
            </a:r>
            <a:r>
              <a:rPr spc="5"/>
              <a:t> </a:t>
            </a:r>
            <a:r>
              <a:t>in</a:t>
            </a:r>
            <a:r>
              <a:rPr spc="-20"/>
              <a:t> </a:t>
            </a:r>
            <a:r>
              <a:t>this</a:t>
            </a:r>
            <a:r>
              <a:rPr spc="10"/>
              <a:t> </a:t>
            </a:r>
            <a:r>
              <a:t>case.</a:t>
            </a:r>
            <a:r>
              <a:rPr spc="-20"/>
              <a:t> </a:t>
            </a:r>
            <a:r>
              <a:t>So,</a:t>
            </a:r>
            <a:r>
              <a:rPr spc="-25"/>
              <a:t> </a:t>
            </a:r>
            <a:r>
              <a:t>overall,</a:t>
            </a:r>
            <a:r>
              <a:rPr spc="30"/>
              <a:t> </a:t>
            </a:r>
            <a:r>
              <a:rPr b="1"/>
              <a:t>BMI</a:t>
            </a:r>
            <a:r>
              <a:rPr b="1" spc="-55"/>
              <a:t> </a:t>
            </a:r>
            <a:r>
              <a:t>is</a:t>
            </a:r>
            <a:r>
              <a:rPr spc="-55"/>
              <a:t> </a:t>
            </a:r>
            <a:r>
              <a:t>the</a:t>
            </a:r>
            <a:r>
              <a:rPr spc="-40"/>
              <a:t> </a:t>
            </a:r>
            <a:r>
              <a:t>key</a:t>
            </a:r>
            <a:r>
              <a:rPr spc="-25"/>
              <a:t> </a:t>
            </a:r>
            <a:r>
              <a:t>feature</a:t>
            </a:r>
            <a:r>
              <a:rPr spc="-45"/>
              <a:t> </a:t>
            </a:r>
            <a:r>
              <a:t>for</a:t>
            </a:r>
            <a:r>
              <a:rPr spc="-5"/>
              <a:t> </a:t>
            </a:r>
            <a:r>
              <a:t>predicting</a:t>
            </a:r>
            <a:r>
              <a:rPr spc="-25"/>
              <a:t> </a:t>
            </a:r>
            <a:r>
              <a:rPr spc="-10"/>
              <a:t>diabetes.</a:t>
            </a:r>
          </a:p>
        </p:txBody>
      </p:sp>
      <p:sp>
        <p:nvSpPr>
          <p:cNvPr id="249" name="object 4"/>
          <p:cNvSpPr txBox="1"/>
          <p:nvPr/>
        </p:nvSpPr>
        <p:spPr>
          <a:xfrm>
            <a:off x="11079226" y="6447154"/>
            <a:ext cx="19685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12700">
              <a:spcBef>
                <a:spcPts val="100"/>
              </a:spcBef>
              <a:defRPr spc="-25" sz="1200">
                <a:solidFill>
                  <a:srgbClr val="878787"/>
                </a:solidFill>
                <a:latin typeface="Tahoma"/>
                <a:ea typeface="Tahoma"/>
                <a:cs typeface="Tahoma"/>
                <a:sym typeface="Tahoma"/>
              </a:defRPr>
            </a:lvl1pPr>
          </a:lstStyle>
          <a:p>
            <a:pPr/>
            <a:r>
              <a:t>29</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Rectangle 37"/>
          <p:cNvSpPr/>
          <p:nvPr/>
        </p:nvSpPr>
        <p:spPr>
          <a:xfrm>
            <a:off x="-3" y="0"/>
            <a:ext cx="12188956"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52" name="Title 1"/>
          <p:cNvSpPr txBox="1"/>
          <p:nvPr>
            <p:ph type="title"/>
          </p:nvPr>
        </p:nvSpPr>
        <p:spPr>
          <a:xfrm>
            <a:off x="287866" y="365125"/>
            <a:ext cx="7890935" cy="769410"/>
          </a:xfrm>
          <a:prstGeom prst="rect">
            <a:avLst/>
          </a:prstGeom>
        </p:spPr>
        <p:txBody>
          <a:bodyPr lIns="45718" tIns="45718" rIns="45718" bIns="45718"/>
          <a:lstStyle>
            <a:lvl1pPr>
              <a:defRPr sz="3200">
                <a:latin typeface="Times New Roman"/>
                <a:ea typeface="Times New Roman"/>
                <a:cs typeface="Times New Roman"/>
                <a:sym typeface="Times New Roman"/>
              </a:defRPr>
            </a:lvl1pPr>
          </a:lstStyle>
          <a:p>
            <a:pPr/>
            <a:r>
              <a:t>Dask Computing and pandas</a:t>
            </a:r>
          </a:p>
        </p:txBody>
      </p:sp>
      <p:pic>
        <p:nvPicPr>
          <p:cNvPr id="253" name="Picture 4" descr="Picture 4"/>
          <p:cNvPicPr>
            <a:picLocks noChangeAspect="1"/>
          </p:cNvPicPr>
          <p:nvPr/>
        </p:nvPicPr>
        <p:blipFill>
          <a:blip r:embed="rId2">
            <a:extLst/>
          </a:blip>
          <a:stretch>
            <a:fillRect/>
          </a:stretch>
        </p:blipFill>
        <p:spPr>
          <a:xfrm>
            <a:off x="5486400" y="995162"/>
            <a:ext cx="5228967" cy="3190976"/>
          </a:xfrm>
          <a:prstGeom prst="rect">
            <a:avLst/>
          </a:prstGeom>
          <a:ln w="12700">
            <a:miter lim="400000"/>
          </a:ln>
        </p:spPr>
      </p:pic>
      <p:pic>
        <p:nvPicPr>
          <p:cNvPr id="254" name="Picture 6" descr="Picture 6"/>
          <p:cNvPicPr>
            <a:picLocks noChangeAspect="1"/>
          </p:cNvPicPr>
          <p:nvPr/>
        </p:nvPicPr>
        <p:blipFill>
          <a:blip r:embed="rId3">
            <a:extLst/>
          </a:blip>
          <a:stretch>
            <a:fillRect/>
          </a:stretch>
        </p:blipFill>
        <p:spPr>
          <a:xfrm>
            <a:off x="836690" y="4495663"/>
            <a:ext cx="10515570" cy="2003504"/>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Rectangle 45"/>
          <p:cNvSpPr/>
          <p:nvPr/>
        </p:nvSpPr>
        <p:spPr>
          <a:xfrm>
            <a:off x="-3" y="0"/>
            <a:ext cx="12188956"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57" name="Title 1"/>
          <p:cNvSpPr txBox="1"/>
          <p:nvPr>
            <p:ph type="title"/>
          </p:nvPr>
        </p:nvSpPr>
        <p:spPr>
          <a:xfrm>
            <a:off x="406400" y="547814"/>
            <a:ext cx="11455400" cy="915287"/>
          </a:xfrm>
          <a:prstGeom prst="rect">
            <a:avLst/>
          </a:prstGeom>
        </p:spPr>
        <p:txBody>
          <a:bodyPr/>
          <a:lstStyle/>
          <a:p>
            <a:pPr defTabSz="740663">
              <a:defRPr sz="2268">
                <a:latin typeface="system-ui"/>
                <a:ea typeface="system-ui"/>
                <a:cs typeface="system-ui"/>
                <a:sym typeface="system-ui"/>
              </a:defRPr>
            </a:pPr>
            <a:r>
              <a:t>Select Features &amp; Raise a Question: </a:t>
            </a:r>
            <a:br/>
            <a:br/>
            <a:r>
              <a:rPr sz="1620">
                <a:latin typeface="Times New Roman"/>
                <a:ea typeface="Times New Roman"/>
                <a:cs typeface="Times New Roman"/>
                <a:sym typeface="Times New Roman"/>
              </a:rPr>
              <a:t>Question: How does the average BMI vary across different age groups for diabetic vs non-diabetic patients?</a:t>
            </a:r>
          </a:p>
        </p:txBody>
      </p:sp>
      <p:sp>
        <p:nvSpPr>
          <p:cNvPr id="258" name="Text Placeholder 2"/>
          <p:cNvSpPr txBox="1"/>
          <p:nvPr>
            <p:ph type="body" sz="quarter" idx="1"/>
          </p:nvPr>
        </p:nvSpPr>
        <p:spPr>
          <a:xfrm>
            <a:off x="6186618" y="1566332"/>
            <a:ext cx="5178963" cy="1430868"/>
          </a:xfrm>
          <a:prstGeom prst="rect">
            <a:avLst/>
          </a:prstGeom>
        </p:spPr>
        <p:txBody>
          <a:bodyPr anchor="ctr"/>
          <a:lstStyle/>
          <a:p>
            <a:pPr defTabSz="795527">
              <a:lnSpc>
                <a:spcPct val="81000"/>
              </a:lnSpc>
              <a:spcBef>
                <a:spcPts val="500"/>
              </a:spcBef>
              <a:defRPr sz="1700">
                <a:latin typeface="system-ui"/>
                <a:ea typeface="system-ui"/>
                <a:cs typeface="system-ui"/>
                <a:sym typeface="system-ui"/>
              </a:defRPr>
            </a:pPr>
            <a:r>
              <a:t>Selected Features:</a:t>
            </a:r>
          </a:p>
          <a:p>
            <a:pPr marL="0" indent="0" defTabSz="795527">
              <a:lnSpc>
                <a:spcPct val="81000"/>
              </a:lnSpc>
              <a:spcBef>
                <a:spcPts val="500"/>
              </a:spcBef>
              <a:buSzTx/>
              <a:buNone/>
              <a:defRPr sz="1700">
                <a:latin typeface="system-ui"/>
                <a:ea typeface="system-ui"/>
                <a:cs typeface="system-ui"/>
                <a:sym typeface="system-ui"/>
              </a:defRPr>
            </a:pPr>
            <a:r>
              <a:t>                                       Age</a:t>
            </a:r>
          </a:p>
          <a:p>
            <a:pPr marL="0" indent="0" defTabSz="795527">
              <a:lnSpc>
                <a:spcPct val="81000"/>
              </a:lnSpc>
              <a:spcBef>
                <a:spcPts val="500"/>
              </a:spcBef>
              <a:buSzTx/>
              <a:buNone/>
              <a:defRPr sz="1700">
                <a:latin typeface="system-ui"/>
                <a:ea typeface="system-ui"/>
                <a:cs typeface="system-ui"/>
                <a:sym typeface="system-ui"/>
              </a:defRPr>
            </a:pPr>
            <a:r>
              <a:t>                                       BMI</a:t>
            </a:r>
          </a:p>
          <a:p>
            <a:pPr marL="0" indent="0" defTabSz="795527">
              <a:lnSpc>
                <a:spcPct val="81000"/>
              </a:lnSpc>
              <a:spcBef>
                <a:spcPts val="500"/>
              </a:spcBef>
              <a:buSzTx/>
              <a:buNone/>
              <a:defRPr sz="1700">
                <a:latin typeface="system-ui"/>
                <a:ea typeface="system-ui"/>
                <a:cs typeface="system-ui"/>
                <a:sym typeface="system-ui"/>
              </a:defRPr>
            </a:pPr>
            <a:r>
              <a:t>                                       Outcome</a:t>
            </a:r>
          </a:p>
        </p:txBody>
      </p:sp>
      <p:pic>
        <p:nvPicPr>
          <p:cNvPr id="259" name="Picture 6" descr="Picture 6"/>
          <p:cNvPicPr>
            <a:picLocks noChangeAspect="1"/>
          </p:cNvPicPr>
          <p:nvPr/>
        </p:nvPicPr>
        <p:blipFill>
          <a:blip r:embed="rId2">
            <a:extLst/>
          </a:blip>
          <a:stretch>
            <a:fillRect/>
          </a:stretch>
        </p:blipFill>
        <p:spPr>
          <a:xfrm>
            <a:off x="1478691" y="2421924"/>
            <a:ext cx="3886199" cy="3711148"/>
          </a:xfrm>
          <a:prstGeom prst="rect">
            <a:avLst/>
          </a:prstGeom>
          <a:ln w="12700">
            <a:miter lim="400000"/>
          </a:ln>
        </p:spPr>
      </p:pic>
      <p:pic>
        <p:nvPicPr>
          <p:cNvPr id="260" name="Picture 8" descr="Picture 8"/>
          <p:cNvPicPr>
            <a:picLocks noChangeAspect="1"/>
          </p:cNvPicPr>
          <p:nvPr/>
        </p:nvPicPr>
        <p:blipFill>
          <a:blip r:embed="rId3">
            <a:extLst/>
          </a:blip>
          <a:stretch>
            <a:fillRect/>
          </a:stretch>
        </p:blipFill>
        <p:spPr>
          <a:xfrm>
            <a:off x="6198394" y="3160091"/>
            <a:ext cx="5167187" cy="2234809"/>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Rectangle 53"/>
          <p:cNvSpPr/>
          <p:nvPr/>
        </p:nvSpPr>
        <p:spPr>
          <a:xfrm>
            <a:off x="-3" y="0"/>
            <a:ext cx="12188956"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63" name="Title 1"/>
          <p:cNvSpPr txBox="1"/>
          <p:nvPr>
            <p:ph type="title"/>
          </p:nvPr>
        </p:nvSpPr>
        <p:spPr>
          <a:xfrm>
            <a:off x="838196" y="547815"/>
            <a:ext cx="5167188" cy="1680518"/>
          </a:xfrm>
          <a:prstGeom prst="rect">
            <a:avLst/>
          </a:prstGeom>
        </p:spPr>
        <p:txBody>
          <a:bodyPr/>
          <a:lstStyle>
            <a:lvl1pPr>
              <a:defRPr sz="3200">
                <a:latin typeface="Times New Roman"/>
                <a:ea typeface="Times New Roman"/>
                <a:cs typeface="Times New Roman"/>
                <a:sym typeface="Times New Roman"/>
              </a:defRPr>
            </a:lvl1pPr>
          </a:lstStyle>
          <a:p>
            <a:pPr/>
            <a:r>
              <a:t>Dask visualization</a:t>
            </a:r>
          </a:p>
        </p:txBody>
      </p:sp>
      <p:sp>
        <p:nvSpPr>
          <p:cNvPr id="264" name="Rectangle 1"/>
          <p:cNvSpPr txBox="1"/>
          <p:nvPr>
            <p:ph type="body" sz="quarter" idx="1"/>
          </p:nvPr>
        </p:nvSpPr>
        <p:spPr>
          <a:xfrm>
            <a:off x="6186618" y="547814"/>
            <a:ext cx="5178963" cy="2618720"/>
          </a:xfrm>
          <a:prstGeom prst="rect">
            <a:avLst/>
          </a:prstGeom>
        </p:spPr>
        <p:txBody>
          <a:bodyPr lIns="45718" tIns="45718" rIns="45718" bIns="45718" anchor="ctr"/>
          <a:lstStyle/>
          <a:p>
            <a:pPr marL="0" indent="0">
              <a:spcBef>
                <a:spcPts val="600"/>
              </a:spcBef>
              <a:buSzTx/>
              <a:buNone/>
              <a:defRPr sz="2000">
                <a:latin typeface="Times New Roman"/>
                <a:ea typeface="Times New Roman"/>
                <a:cs typeface="Times New Roman"/>
                <a:sym typeface="Times New Roman"/>
              </a:defRPr>
            </a:pPr>
            <a:r>
              <a:t>	Individuals with diabetes have a greater average BMI than those without it, regardless of age group. The variation in BMI is especially noticeable in younger age groups (20s and 30s).</a:t>
            </a:r>
            <a:br/>
            <a:r>
              <a:t>The average BMI for both groups decreases as they age, particularly in their 60s and 70s.</a:t>
            </a:r>
            <a:br/>
            <a:r>
              <a:t>There is no diabetes data for the 70s age group, implying that there are no diabetics or that there is a lack of data.</a:t>
            </a:r>
          </a:p>
        </p:txBody>
      </p:sp>
      <p:pic>
        <p:nvPicPr>
          <p:cNvPr id="265" name="Picture 6" descr="Picture 6"/>
          <p:cNvPicPr>
            <a:picLocks noChangeAspect="1"/>
          </p:cNvPicPr>
          <p:nvPr/>
        </p:nvPicPr>
        <p:blipFill>
          <a:blip r:embed="rId2">
            <a:extLst/>
          </a:blip>
          <a:stretch>
            <a:fillRect/>
          </a:stretch>
        </p:blipFill>
        <p:spPr>
          <a:xfrm>
            <a:off x="838196" y="2443146"/>
            <a:ext cx="5167188" cy="3668701"/>
          </a:xfrm>
          <a:prstGeom prst="rect">
            <a:avLst/>
          </a:prstGeom>
          <a:ln w="12700">
            <a:miter lim="400000"/>
          </a:ln>
        </p:spPr>
      </p:pic>
      <p:pic>
        <p:nvPicPr>
          <p:cNvPr id="266" name="Picture 10" descr="Picture 10"/>
          <p:cNvPicPr>
            <a:picLocks noChangeAspect="1"/>
          </p:cNvPicPr>
          <p:nvPr/>
        </p:nvPicPr>
        <p:blipFill>
          <a:blip r:embed="rId3">
            <a:extLst/>
          </a:blip>
          <a:stretch>
            <a:fillRect/>
          </a:stretch>
        </p:blipFill>
        <p:spPr>
          <a:xfrm>
            <a:off x="6198394" y="3347403"/>
            <a:ext cx="5167187" cy="1860187"/>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Rectangle 14"/>
          <p:cNvSpPr/>
          <p:nvPr/>
        </p:nvSpPr>
        <p:spPr>
          <a:xfrm>
            <a:off x="-2" y="0"/>
            <a:ext cx="12188956"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69" name="Title 1"/>
          <p:cNvSpPr txBox="1"/>
          <p:nvPr>
            <p:ph type="title"/>
          </p:nvPr>
        </p:nvSpPr>
        <p:spPr>
          <a:xfrm>
            <a:off x="838200" y="740662"/>
            <a:ext cx="10515600" cy="950025"/>
          </a:xfrm>
          <a:prstGeom prst="rect">
            <a:avLst/>
          </a:prstGeom>
        </p:spPr>
        <p:txBody>
          <a:bodyPr/>
          <a:lstStyle>
            <a:lvl1pPr>
              <a:defRPr sz="3200">
                <a:latin typeface="Times New Roman"/>
                <a:ea typeface="Times New Roman"/>
                <a:cs typeface="Times New Roman"/>
                <a:sym typeface="Times New Roman"/>
              </a:defRPr>
            </a:lvl1pPr>
          </a:lstStyle>
          <a:p>
            <a:pPr/>
            <a:r>
              <a:t>Interpretation:</a:t>
            </a:r>
          </a:p>
        </p:txBody>
      </p:sp>
      <p:sp>
        <p:nvSpPr>
          <p:cNvPr id="270" name="Rectangle 1"/>
          <p:cNvSpPr txBox="1"/>
          <p:nvPr>
            <p:ph type="body" idx="1"/>
          </p:nvPr>
        </p:nvSpPr>
        <p:spPr>
          <a:xfrm>
            <a:off x="838200" y="1929383"/>
            <a:ext cx="10515600" cy="4251962"/>
          </a:xfrm>
          <a:prstGeom prst="rect">
            <a:avLst/>
          </a:prstGeom>
        </p:spPr>
        <p:txBody>
          <a:bodyPr lIns="45718" tIns="45718" rIns="45718" bIns="45718"/>
          <a:lstStyle>
            <a:lvl1pPr marL="0" indent="0">
              <a:spcBef>
                <a:spcPts val="600"/>
              </a:spcBef>
              <a:buSzTx/>
              <a:buNone/>
              <a:defRPr sz="2000">
                <a:latin typeface="Times New Roman"/>
                <a:ea typeface="Times New Roman"/>
                <a:cs typeface="Times New Roman"/>
                <a:sym typeface="Times New Roman"/>
              </a:defRPr>
            </a:lvl1pPr>
          </a:lstStyle>
          <a:p>
            <a:pPr/>
            <a:r>
              <a:t>	In this study, we chose Age, BMI, and Outcome as the major features. Our research topic was: "Does the average BMI vary between diabetic and non-diabetic individuals across different age groups?" We used Dask to effectively analyze the data, which greatly reduced calculation time, with the group by operation taking only 0.2605 seconds to complete. We estimated each subgroup's average BMI using the group by function on Age Group and Outcome. Individuals with diabetes had a higher average BMI than those without diabetes across all age categories, with the discrepancy being most pronounced in the younger (20s) and older (60s) populations. This research provides a solid platform for visualizing trends and developing additional insights.</a:t>
            </a:r>
          </a:p>
        </p:txBody>
      </p:sp>
      <p:grpSp>
        <p:nvGrpSpPr>
          <p:cNvPr id="273" name="sketch line"/>
          <p:cNvGrpSpPr/>
          <p:nvPr/>
        </p:nvGrpSpPr>
        <p:grpSpPr>
          <a:xfrm>
            <a:off x="668511" y="1653249"/>
            <a:ext cx="10855260" cy="61127"/>
            <a:chOff x="0" y="0"/>
            <a:chExt cx="10855258" cy="61125"/>
          </a:xfrm>
        </p:grpSpPr>
        <p:sp>
          <p:nvSpPr>
            <p:cNvPr id="271" name="Shape"/>
            <p:cNvSpPr/>
            <p:nvPr/>
          </p:nvSpPr>
          <p:spPr>
            <a:xfrm>
              <a:off x="0" y="0"/>
              <a:ext cx="10854455" cy="54782"/>
            </a:xfrm>
            <a:custGeom>
              <a:avLst/>
              <a:gdLst/>
              <a:ahLst/>
              <a:cxnLst>
                <a:cxn ang="0">
                  <a:pos x="wd2" y="hd2"/>
                </a:cxn>
                <a:cxn ang="5400000">
                  <a:pos x="wd2" y="hd2"/>
                </a:cxn>
                <a:cxn ang="10800000">
                  <a:pos x="wd2" y="hd2"/>
                </a:cxn>
                <a:cxn ang="16200000">
                  <a:pos x="wd2" y="hd2"/>
                </a:cxn>
              </a:cxnLst>
              <a:rect l="0" t="0" r="r" b="b"/>
              <a:pathLst>
                <a:path w="21599" h="14313" fill="norm" stroke="1" extrusionOk="0">
                  <a:moveTo>
                    <a:pt x="0" y="6302"/>
                  </a:moveTo>
                  <a:cubicBezTo>
                    <a:pt x="532" y="10296"/>
                    <a:pt x="827" y="802"/>
                    <a:pt x="1134" y="6302"/>
                  </a:cubicBezTo>
                  <a:cubicBezTo>
                    <a:pt x="1442" y="11802"/>
                    <a:pt x="1531" y="5687"/>
                    <a:pt x="1836" y="6302"/>
                  </a:cubicBezTo>
                  <a:cubicBezTo>
                    <a:pt x="2141" y="6917"/>
                    <a:pt x="2785" y="6264"/>
                    <a:pt x="3618" y="6302"/>
                  </a:cubicBezTo>
                  <a:cubicBezTo>
                    <a:pt x="4451" y="6340"/>
                    <a:pt x="4269" y="7734"/>
                    <a:pt x="4752" y="6302"/>
                  </a:cubicBezTo>
                  <a:cubicBezTo>
                    <a:pt x="5235" y="4870"/>
                    <a:pt x="5559" y="11132"/>
                    <a:pt x="5886" y="6302"/>
                  </a:cubicBezTo>
                  <a:cubicBezTo>
                    <a:pt x="6213" y="1472"/>
                    <a:pt x="7123" y="11267"/>
                    <a:pt x="7668" y="6302"/>
                  </a:cubicBezTo>
                  <a:cubicBezTo>
                    <a:pt x="8213" y="1337"/>
                    <a:pt x="8378" y="9493"/>
                    <a:pt x="8586" y="6302"/>
                  </a:cubicBezTo>
                  <a:cubicBezTo>
                    <a:pt x="8794" y="3111"/>
                    <a:pt x="9477" y="1803"/>
                    <a:pt x="10368" y="6302"/>
                  </a:cubicBezTo>
                  <a:cubicBezTo>
                    <a:pt x="11258" y="10801"/>
                    <a:pt x="11328" y="5442"/>
                    <a:pt x="12150" y="6302"/>
                  </a:cubicBezTo>
                  <a:cubicBezTo>
                    <a:pt x="12971" y="7162"/>
                    <a:pt x="12846" y="4963"/>
                    <a:pt x="13499" y="6302"/>
                  </a:cubicBezTo>
                  <a:cubicBezTo>
                    <a:pt x="14153" y="7641"/>
                    <a:pt x="14809" y="1643"/>
                    <a:pt x="15281" y="6302"/>
                  </a:cubicBezTo>
                  <a:cubicBezTo>
                    <a:pt x="15753" y="10961"/>
                    <a:pt x="16125" y="-64"/>
                    <a:pt x="16415" y="6302"/>
                  </a:cubicBezTo>
                  <a:cubicBezTo>
                    <a:pt x="16706" y="12668"/>
                    <a:pt x="17019" y="12966"/>
                    <a:pt x="17549" y="6302"/>
                  </a:cubicBezTo>
                  <a:cubicBezTo>
                    <a:pt x="18079" y="-362"/>
                    <a:pt x="18728" y="16231"/>
                    <a:pt x="19115" y="6302"/>
                  </a:cubicBezTo>
                  <a:cubicBezTo>
                    <a:pt x="19502" y="-3627"/>
                    <a:pt x="19913" y="-424"/>
                    <a:pt x="20249" y="6302"/>
                  </a:cubicBezTo>
                  <a:cubicBezTo>
                    <a:pt x="20586" y="13028"/>
                    <a:pt x="21285" y="6484"/>
                    <a:pt x="21599" y="6302"/>
                  </a:cubicBezTo>
                  <a:cubicBezTo>
                    <a:pt x="21598" y="8573"/>
                    <a:pt x="21599" y="9997"/>
                    <a:pt x="21599" y="11080"/>
                  </a:cubicBezTo>
                  <a:cubicBezTo>
                    <a:pt x="21110" y="12640"/>
                    <a:pt x="20583" y="12131"/>
                    <a:pt x="20033" y="11080"/>
                  </a:cubicBezTo>
                  <a:cubicBezTo>
                    <a:pt x="19483" y="10031"/>
                    <a:pt x="19588" y="7233"/>
                    <a:pt x="19331" y="11080"/>
                  </a:cubicBezTo>
                  <a:cubicBezTo>
                    <a:pt x="19074" y="14928"/>
                    <a:pt x="18665" y="6792"/>
                    <a:pt x="18413" y="11080"/>
                  </a:cubicBezTo>
                  <a:cubicBezTo>
                    <a:pt x="18161" y="15369"/>
                    <a:pt x="17075" y="5021"/>
                    <a:pt x="16631" y="11080"/>
                  </a:cubicBezTo>
                  <a:cubicBezTo>
                    <a:pt x="16187" y="17140"/>
                    <a:pt x="15727" y="13215"/>
                    <a:pt x="15281" y="11080"/>
                  </a:cubicBezTo>
                  <a:cubicBezTo>
                    <a:pt x="14836" y="8946"/>
                    <a:pt x="14797" y="13385"/>
                    <a:pt x="14363" y="11080"/>
                  </a:cubicBezTo>
                  <a:cubicBezTo>
                    <a:pt x="13929" y="8776"/>
                    <a:pt x="13294" y="11263"/>
                    <a:pt x="13014" y="11080"/>
                  </a:cubicBezTo>
                  <a:cubicBezTo>
                    <a:pt x="12733" y="10899"/>
                    <a:pt x="12561" y="14929"/>
                    <a:pt x="12312" y="11080"/>
                  </a:cubicBezTo>
                  <a:cubicBezTo>
                    <a:pt x="12062" y="7232"/>
                    <a:pt x="11835" y="9457"/>
                    <a:pt x="11610" y="11080"/>
                  </a:cubicBezTo>
                  <a:cubicBezTo>
                    <a:pt x="11385" y="12704"/>
                    <a:pt x="10910" y="8545"/>
                    <a:pt x="10260" y="11080"/>
                  </a:cubicBezTo>
                  <a:cubicBezTo>
                    <a:pt x="9610" y="13616"/>
                    <a:pt x="9634" y="13962"/>
                    <a:pt x="9342" y="11080"/>
                  </a:cubicBezTo>
                  <a:cubicBezTo>
                    <a:pt x="9049" y="8199"/>
                    <a:pt x="8115" y="8134"/>
                    <a:pt x="7776" y="11080"/>
                  </a:cubicBezTo>
                  <a:cubicBezTo>
                    <a:pt x="7437" y="14027"/>
                    <a:pt x="7041" y="11954"/>
                    <a:pt x="6858" y="11080"/>
                  </a:cubicBezTo>
                  <a:cubicBezTo>
                    <a:pt x="6674" y="10207"/>
                    <a:pt x="5951" y="4188"/>
                    <a:pt x="5292" y="11080"/>
                  </a:cubicBezTo>
                  <a:cubicBezTo>
                    <a:pt x="4633" y="17973"/>
                    <a:pt x="4831" y="8812"/>
                    <a:pt x="4590" y="11080"/>
                  </a:cubicBezTo>
                  <a:cubicBezTo>
                    <a:pt x="4349" y="13349"/>
                    <a:pt x="3423" y="7273"/>
                    <a:pt x="3024" y="11080"/>
                  </a:cubicBezTo>
                  <a:cubicBezTo>
                    <a:pt x="2626" y="14888"/>
                    <a:pt x="2323" y="10754"/>
                    <a:pt x="2106" y="11080"/>
                  </a:cubicBezTo>
                  <a:cubicBezTo>
                    <a:pt x="1889" y="11407"/>
                    <a:pt x="1553" y="14519"/>
                    <a:pt x="1404" y="11080"/>
                  </a:cubicBezTo>
                  <a:cubicBezTo>
                    <a:pt x="1255" y="7642"/>
                    <a:pt x="430" y="14155"/>
                    <a:pt x="0" y="11080"/>
                  </a:cubicBezTo>
                  <a:cubicBezTo>
                    <a:pt x="0" y="9255"/>
                    <a:pt x="-1" y="8329"/>
                    <a:pt x="0" y="6302"/>
                  </a:cubicBezTo>
                  <a:close/>
                </a:path>
              </a:pathLst>
            </a:cu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72" name="Shape"/>
            <p:cNvSpPr/>
            <p:nvPr/>
          </p:nvSpPr>
          <p:spPr>
            <a:xfrm>
              <a:off x="459" y="2668"/>
              <a:ext cx="10854801" cy="58458"/>
            </a:xfrm>
            <a:custGeom>
              <a:avLst/>
              <a:gdLst/>
              <a:ahLst/>
              <a:cxnLst>
                <a:cxn ang="0">
                  <a:pos x="wd2" y="hd2"/>
                </a:cxn>
                <a:cxn ang="5400000">
                  <a:pos x="wd2" y="hd2"/>
                </a:cxn>
                <a:cxn ang="10800000">
                  <a:pos x="wd2" y="hd2"/>
                </a:cxn>
                <a:cxn ang="16200000">
                  <a:pos x="wd2" y="hd2"/>
                </a:cxn>
              </a:cxnLst>
              <a:rect l="0" t="0" r="r" b="b"/>
              <a:pathLst>
                <a:path w="21600" h="13108" fill="norm" stroke="1" extrusionOk="0">
                  <a:moveTo>
                    <a:pt x="0" y="4811"/>
                  </a:moveTo>
                  <a:cubicBezTo>
                    <a:pt x="293" y="533"/>
                    <a:pt x="692" y="3737"/>
                    <a:pt x="918" y="4811"/>
                  </a:cubicBezTo>
                  <a:cubicBezTo>
                    <a:pt x="1144" y="5885"/>
                    <a:pt x="1609" y="9256"/>
                    <a:pt x="2268" y="4811"/>
                  </a:cubicBezTo>
                  <a:cubicBezTo>
                    <a:pt x="2927" y="366"/>
                    <a:pt x="3239" y="6094"/>
                    <a:pt x="3834" y="4811"/>
                  </a:cubicBezTo>
                  <a:cubicBezTo>
                    <a:pt x="4429" y="3528"/>
                    <a:pt x="4254" y="4086"/>
                    <a:pt x="4536" y="4811"/>
                  </a:cubicBezTo>
                  <a:cubicBezTo>
                    <a:pt x="4818" y="5536"/>
                    <a:pt x="4889" y="6983"/>
                    <a:pt x="5238" y="4811"/>
                  </a:cubicBezTo>
                  <a:cubicBezTo>
                    <a:pt x="5587" y="2639"/>
                    <a:pt x="6391" y="-4833"/>
                    <a:pt x="7020" y="4811"/>
                  </a:cubicBezTo>
                  <a:cubicBezTo>
                    <a:pt x="7649" y="14455"/>
                    <a:pt x="8077" y="9754"/>
                    <a:pt x="8370" y="4811"/>
                  </a:cubicBezTo>
                  <a:cubicBezTo>
                    <a:pt x="8662" y="-132"/>
                    <a:pt x="8905" y="2155"/>
                    <a:pt x="9072" y="4811"/>
                  </a:cubicBezTo>
                  <a:cubicBezTo>
                    <a:pt x="9239" y="7467"/>
                    <a:pt x="10033" y="3450"/>
                    <a:pt x="10422" y="4811"/>
                  </a:cubicBezTo>
                  <a:cubicBezTo>
                    <a:pt x="10810" y="6172"/>
                    <a:pt x="11827" y="891"/>
                    <a:pt x="12203" y="4811"/>
                  </a:cubicBezTo>
                  <a:cubicBezTo>
                    <a:pt x="12580" y="8730"/>
                    <a:pt x="12903" y="10694"/>
                    <a:pt x="13337" y="4811"/>
                  </a:cubicBezTo>
                  <a:cubicBezTo>
                    <a:pt x="13772" y="-1072"/>
                    <a:pt x="13912" y="1412"/>
                    <a:pt x="14471" y="4811"/>
                  </a:cubicBezTo>
                  <a:cubicBezTo>
                    <a:pt x="15030" y="8210"/>
                    <a:pt x="15292" y="-2580"/>
                    <a:pt x="15821" y="4811"/>
                  </a:cubicBezTo>
                  <a:cubicBezTo>
                    <a:pt x="16351" y="12202"/>
                    <a:pt x="16901" y="2458"/>
                    <a:pt x="17387" y="4811"/>
                  </a:cubicBezTo>
                  <a:cubicBezTo>
                    <a:pt x="17873" y="7163"/>
                    <a:pt x="18291" y="1694"/>
                    <a:pt x="18953" y="4811"/>
                  </a:cubicBezTo>
                  <a:cubicBezTo>
                    <a:pt x="19615" y="7928"/>
                    <a:pt x="20491" y="6489"/>
                    <a:pt x="21599" y="4811"/>
                  </a:cubicBezTo>
                  <a:cubicBezTo>
                    <a:pt x="21600" y="5809"/>
                    <a:pt x="21600" y="6880"/>
                    <a:pt x="21599" y="8912"/>
                  </a:cubicBezTo>
                  <a:cubicBezTo>
                    <a:pt x="21276" y="11207"/>
                    <a:pt x="21042" y="11444"/>
                    <a:pt x="20681" y="8912"/>
                  </a:cubicBezTo>
                  <a:cubicBezTo>
                    <a:pt x="20319" y="6380"/>
                    <a:pt x="19574" y="1057"/>
                    <a:pt x="18899" y="8912"/>
                  </a:cubicBezTo>
                  <a:cubicBezTo>
                    <a:pt x="18224" y="16767"/>
                    <a:pt x="18147" y="11698"/>
                    <a:pt x="17549" y="8912"/>
                  </a:cubicBezTo>
                  <a:cubicBezTo>
                    <a:pt x="16951" y="6126"/>
                    <a:pt x="17193" y="6265"/>
                    <a:pt x="16847" y="8912"/>
                  </a:cubicBezTo>
                  <a:cubicBezTo>
                    <a:pt x="16501" y="11559"/>
                    <a:pt x="15915" y="9052"/>
                    <a:pt x="15497" y="8912"/>
                  </a:cubicBezTo>
                  <a:cubicBezTo>
                    <a:pt x="15079" y="8771"/>
                    <a:pt x="14751" y="9613"/>
                    <a:pt x="14363" y="8912"/>
                  </a:cubicBezTo>
                  <a:cubicBezTo>
                    <a:pt x="13976" y="8210"/>
                    <a:pt x="13727" y="8135"/>
                    <a:pt x="13229" y="8912"/>
                  </a:cubicBezTo>
                  <a:cubicBezTo>
                    <a:pt x="12732" y="9689"/>
                    <a:pt x="12446" y="13472"/>
                    <a:pt x="12095" y="8912"/>
                  </a:cubicBezTo>
                  <a:cubicBezTo>
                    <a:pt x="11745" y="4351"/>
                    <a:pt x="11189" y="5531"/>
                    <a:pt x="10962" y="8912"/>
                  </a:cubicBezTo>
                  <a:cubicBezTo>
                    <a:pt x="10734" y="12292"/>
                    <a:pt x="10022" y="10827"/>
                    <a:pt x="9396" y="8912"/>
                  </a:cubicBezTo>
                  <a:cubicBezTo>
                    <a:pt x="8769" y="6996"/>
                    <a:pt x="8436" y="14128"/>
                    <a:pt x="8046" y="8912"/>
                  </a:cubicBezTo>
                  <a:cubicBezTo>
                    <a:pt x="7656" y="3695"/>
                    <a:pt x="7599" y="12583"/>
                    <a:pt x="7344" y="8912"/>
                  </a:cubicBezTo>
                  <a:cubicBezTo>
                    <a:pt x="7088" y="5241"/>
                    <a:pt x="6498" y="14273"/>
                    <a:pt x="6210" y="8912"/>
                  </a:cubicBezTo>
                  <a:cubicBezTo>
                    <a:pt x="5921" y="3551"/>
                    <a:pt x="5413" y="13035"/>
                    <a:pt x="4644" y="8912"/>
                  </a:cubicBezTo>
                  <a:cubicBezTo>
                    <a:pt x="3875" y="4789"/>
                    <a:pt x="4174" y="6106"/>
                    <a:pt x="3726" y="8912"/>
                  </a:cubicBezTo>
                  <a:cubicBezTo>
                    <a:pt x="3279" y="11718"/>
                    <a:pt x="2553" y="14987"/>
                    <a:pt x="1944" y="8912"/>
                  </a:cubicBezTo>
                  <a:cubicBezTo>
                    <a:pt x="1336" y="2837"/>
                    <a:pt x="813" y="1946"/>
                    <a:pt x="0" y="8912"/>
                  </a:cubicBezTo>
                  <a:cubicBezTo>
                    <a:pt x="0" y="6934"/>
                    <a:pt x="1" y="5811"/>
                    <a:pt x="0" y="4811"/>
                  </a:cubicBezTo>
                  <a:close/>
                </a:path>
              </a:pathLst>
            </a:custGeom>
            <a:noFill/>
            <a:ln w="41275" cap="rnd">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Rectangle 236"/>
          <p:cNvSpPr/>
          <p:nvPr/>
        </p:nvSpPr>
        <p:spPr>
          <a:xfrm>
            <a:off x="10" y="-5705"/>
            <a:ext cx="12191990" cy="1694346"/>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276" name="CONCLUSION:"/>
          <p:cNvSpPr txBox="1"/>
          <p:nvPr>
            <p:ph type="title"/>
          </p:nvPr>
        </p:nvSpPr>
        <p:spPr>
          <a:xfrm>
            <a:off x="1156851" y="637761"/>
            <a:ext cx="9888496" cy="900132"/>
          </a:xfrm>
          <a:prstGeom prst="rect">
            <a:avLst/>
          </a:prstGeom>
        </p:spPr>
        <p:txBody>
          <a:bodyPr anchor="t"/>
          <a:lstStyle>
            <a:lvl1pPr>
              <a:defRPr sz="3200">
                <a:solidFill>
                  <a:srgbClr val="FFFFFF"/>
                </a:solidFill>
                <a:latin typeface="Times New Roman"/>
                <a:ea typeface="Times New Roman"/>
                <a:cs typeface="Times New Roman"/>
                <a:sym typeface="Times New Roman"/>
              </a:defRPr>
            </a:lvl1pPr>
          </a:lstStyle>
          <a:p>
            <a:pPr/>
            <a:r>
              <a:t>CONCLUSION:</a:t>
            </a:r>
          </a:p>
        </p:txBody>
      </p:sp>
      <p:sp>
        <p:nvSpPr>
          <p:cNvPr id="277" name="Rectangle 237"/>
          <p:cNvSpPr/>
          <p:nvPr/>
        </p:nvSpPr>
        <p:spPr>
          <a:xfrm>
            <a:off x="0" y="1688640"/>
            <a:ext cx="12191990" cy="5169360"/>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278" name="Rectangle 238"/>
          <p:cNvSpPr/>
          <p:nvPr/>
        </p:nvSpPr>
        <p:spPr>
          <a:xfrm>
            <a:off x="1156850" y="2010758"/>
            <a:ext cx="45719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279" name="Glucose, BMI, and Age were identified as important predictors of gestational diabetes, with BMI having the strongest impact.…"/>
          <p:cNvSpPr txBox="1"/>
          <p:nvPr/>
        </p:nvSpPr>
        <p:spPr>
          <a:xfrm>
            <a:off x="1201267" y="2217342"/>
            <a:ext cx="9789454" cy="39596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457200" indent="-228600">
              <a:lnSpc>
                <a:spcPct val="90000"/>
              </a:lnSpc>
              <a:spcBef>
                <a:spcPts val="1200"/>
              </a:spcBef>
              <a:buSzPct val="100000"/>
              <a:buFont typeface="Arial"/>
              <a:buChar char="•"/>
              <a:defRPr sz="2000">
                <a:latin typeface="Times Roman"/>
                <a:ea typeface="Times Roman"/>
                <a:cs typeface="Times Roman"/>
                <a:sym typeface="Times Roman"/>
              </a:defRPr>
            </a:pPr>
            <a:r>
              <a:t>Glucose, BMI, and Age were identified as important predictors of gestational diabetes, with BMI having the strongest impact.</a:t>
            </a:r>
            <a:endParaRPr sz="1400"/>
          </a:p>
          <a:p>
            <a:pPr marL="457200" indent="-228600">
              <a:lnSpc>
                <a:spcPct val="90000"/>
              </a:lnSpc>
              <a:spcBef>
                <a:spcPts val="1200"/>
              </a:spcBef>
              <a:buSzPct val="100000"/>
              <a:buFont typeface="Arial"/>
              <a:buChar char="•"/>
              <a:defRPr sz="2000">
                <a:latin typeface="Times Roman"/>
                <a:ea typeface="Times Roman"/>
                <a:cs typeface="Times Roman"/>
                <a:sym typeface="Times Roman"/>
              </a:defRPr>
            </a:pPr>
            <a:r>
              <a:t>Using fread() improved data reading efficiency, and Dask parallelization reduced model training time by approximately 42%.</a:t>
            </a:r>
            <a:endParaRPr sz="1400"/>
          </a:p>
          <a:p>
            <a:pPr marL="457200" indent="-228600">
              <a:lnSpc>
                <a:spcPct val="90000"/>
              </a:lnSpc>
              <a:spcBef>
                <a:spcPts val="1200"/>
              </a:spcBef>
              <a:buSzPct val="100000"/>
              <a:buFont typeface="Arial"/>
              <a:buChar char="•"/>
              <a:defRPr sz="2000">
                <a:latin typeface="Times Roman"/>
                <a:ea typeface="Times Roman"/>
                <a:cs typeface="Times Roman"/>
                <a:sym typeface="Times Roman"/>
              </a:defRPr>
            </a:pPr>
            <a:r>
              <a:t>Random Forest and Genetic Algorithm analyses confirmed that BMI is the most influential factor in diabetes prediction.</a:t>
            </a:r>
            <a:endParaRPr sz="1400"/>
          </a:p>
          <a:p>
            <a:pPr marL="457200" indent="-228600">
              <a:lnSpc>
                <a:spcPct val="90000"/>
              </a:lnSpc>
              <a:spcBef>
                <a:spcPts val="1200"/>
              </a:spcBef>
              <a:buSzPct val="100000"/>
              <a:buFont typeface="Arial"/>
              <a:buChar char="•"/>
              <a:defRPr sz="2000">
                <a:latin typeface="Times Roman"/>
                <a:ea typeface="Times Roman"/>
                <a:cs typeface="Times Roman"/>
                <a:sym typeface="Times Roman"/>
              </a:defRPr>
            </a:pPr>
            <a:r>
              <a:t>Diabetic individuals consistently exhibited a higher average BMI across different age groups, especially in their 20s and 60s.</a:t>
            </a:r>
            <a:endParaRPr sz="1400"/>
          </a:p>
          <a:p>
            <a:pPr marL="457200" indent="-228600">
              <a:lnSpc>
                <a:spcPct val="90000"/>
              </a:lnSpc>
              <a:spcBef>
                <a:spcPts val="1200"/>
              </a:spcBef>
              <a:buSzPct val="100000"/>
              <a:buFont typeface="Arial"/>
              <a:buChar char="•"/>
              <a:defRPr sz="2000">
                <a:latin typeface="Times Roman"/>
                <a:ea typeface="Times Roman"/>
                <a:cs typeface="Times Roman"/>
                <a:sym typeface="Times Roman"/>
              </a:defRPr>
            </a:pPr>
            <a:r>
              <a:t>Overall, optimized data handling and parallel computing significantly enhanced analysis speed, enabling faster and more accurate early diagnosis.</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Rectangle 244"/>
          <p:cNvSpPr/>
          <p:nvPr/>
        </p:nvSpPr>
        <p:spPr>
          <a:xfrm>
            <a:off x="-1" y="0"/>
            <a:ext cx="12196804" cy="6858000"/>
          </a:xfrm>
          <a:prstGeom prst="rect">
            <a:avLst/>
          </a:prstGeom>
          <a:gradFill>
            <a:gsLst>
              <a:gs pos="28000">
                <a:srgbClr val="E8E8E8">
                  <a:alpha val="84000"/>
                </a:srgbClr>
              </a:gs>
              <a:gs pos="74000">
                <a:srgbClr val="FFFFFF"/>
              </a:gs>
            </a:gsLst>
            <a:path path="circle">
              <a:fillToRect l="62278" t="119636" r="37721" b="-19636"/>
            </a:path>
          </a:gradFill>
          <a:ln w="12700">
            <a:miter lim="400000"/>
          </a:ln>
        </p:spPr>
        <p:txBody>
          <a:bodyPr lIns="45719" rIns="45719" anchor="ctr"/>
          <a:lstStyle/>
          <a:p>
            <a:pPr algn="ctr">
              <a:defRPr>
                <a:solidFill>
                  <a:srgbClr val="FFFFFF"/>
                </a:solidFill>
                <a:latin typeface="Calibri"/>
                <a:ea typeface="Calibri"/>
                <a:cs typeface="Calibri"/>
                <a:sym typeface="Calibri"/>
              </a:defRPr>
            </a:pPr>
          </a:p>
        </p:txBody>
      </p:sp>
      <p:sp>
        <p:nvSpPr>
          <p:cNvPr id="282" name="REFERENCES:"/>
          <p:cNvSpPr txBox="1"/>
          <p:nvPr>
            <p:ph type="title"/>
          </p:nvPr>
        </p:nvSpPr>
        <p:spPr>
          <a:xfrm>
            <a:off x="838200" y="365125"/>
            <a:ext cx="10515600" cy="1325563"/>
          </a:xfrm>
          <a:prstGeom prst="rect">
            <a:avLst/>
          </a:prstGeom>
        </p:spPr>
        <p:txBody>
          <a:bodyPr/>
          <a:lstStyle/>
          <a:p>
            <a:pPr/>
            <a:r>
              <a:t>REFERENCES:</a:t>
            </a:r>
          </a:p>
        </p:txBody>
      </p:sp>
      <p:grpSp>
        <p:nvGrpSpPr>
          <p:cNvPr id="289" name="1. Akshay Dattatray Khare. Diabetes Prediction Dataset.…"/>
          <p:cNvGrpSpPr/>
          <p:nvPr/>
        </p:nvGrpSpPr>
        <p:grpSpPr>
          <a:xfrm>
            <a:off x="1050535" y="3333335"/>
            <a:ext cx="10090930" cy="1335917"/>
            <a:chOff x="0" y="0"/>
            <a:chExt cx="10090929" cy="1335916"/>
          </a:xfrm>
        </p:grpSpPr>
        <p:sp>
          <p:nvSpPr>
            <p:cNvPr id="283" name="Circle"/>
            <p:cNvSpPr/>
            <p:nvPr/>
          </p:nvSpPr>
          <p:spPr>
            <a:xfrm>
              <a:off x="0" y="0"/>
              <a:ext cx="1335917" cy="1335917"/>
            </a:xfrm>
            <a:prstGeom prst="ellipse">
              <a:avLst/>
            </a:prstGeom>
            <a:solidFill>
              <a:schemeClr val="accent2"/>
            </a:solidFill>
            <a:ln w="12700" cap="flat">
              <a:noFill/>
              <a:miter lim="400000"/>
            </a:ln>
            <a:effectLst/>
          </p:spPr>
          <p:txBody>
            <a:bodyPr wrap="square" lIns="45719" tIns="45719" rIns="45719" bIns="45719" numCol="1" anchor="t">
              <a:noAutofit/>
            </a:bodyPr>
            <a:lstStyle/>
            <a:p>
              <a:pPr/>
            </a:p>
          </p:txBody>
        </p:sp>
        <p:sp>
          <p:nvSpPr>
            <p:cNvPr id="284" name="Square"/>
            <p:cNvSpPr/>
            <p:nvPr/>
          </p:nvSpPr>
          <p:spPr>
            <a:xfrm>
              <a:off x="280541" y="280542"/>
              <a:ext cx="774832" cy="774831"/>
            </a:xfrm>
            <a:prstGeom prst="rect">
              <a:avLst/>
            </a:prstGeom>
            <a:blipFill rotWithShape="1">
              <a:blip r:embed="rId2"/>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285" name="1. Akshay Dattatray Khare. Diabetes Prediction Dataset."/>
            <p:cNvSpPr txBox="1"/>
            <p:nvPr/>
          </p:nvSpPr>
          <p:spPr>
            <a:xfrm>
              <a:off x="1622182" y="502857"/>
              <a:ext cx="3148943" cy="330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defTabSz="488950">
                <a:spcBef>
                  <a:spcPts val="400"/>
                </a:spcBef>
                <a:defRPr sz="1100"/>
              </a:pPr>
              <a:r>
                <a:t>1. Akshay Dattatray Khare. </a:t>
              </a:r>
              <a:r>
                <a:rPr i="1"/>
                <a:t>Diabetes Prediction Dataset</a:t>
              </a:r>
              <a:r>
                <a:t>.</a:t>
              </a:r>
            </a:p>
          </p:txBody>
        </p:sp>
        <p:sp>
          <p:nvSpPr>
            <p:cNvPr id="286" name="Circle"/>
            <p:cNvSpPr/>
            <p:nvPr/>
          </p:nvSpPr>
          <p:spPr>
            <a:xfrm>
              <a:off x="5319804" y="0"/>
              <a:ext cx="1335917" cy="1335917"/>
            </a:xfrm>
            <a:prstGeom prst="ellipse">
              <a:avLst/>
            </a:prstGeom>
            <a:solidFill>
              <a:schemeClr val="accent2"/>
            </a:solidFill>
            <a:ln w="12700" cap="flat">
              <a:noFill/>
              <a:miter lim="400000"/>
            </a:ln>
            <a:effectLst/>
          </p:spPr>
          <p:txBody>
            <a:bodyPr wrap="square" lIns="45719" tIns="45719" rIns="45719" bIns="45719" numCol="1" anchor="t">
              <a:noAutofit/>
            </a:bodyPr>
            <a:lstStyle/>
            <a:p>
              <a:pPr/>
            </a:p>
          </p:txBody>
        </p:sp>
        <p:sp>
          <p:nvSpPr>
            <p:cNvPr id="287" name="Square"/>
            <p:cNvSpPr/>
            <p:nvPr/>
          </p:nvSpPr>
          <p:spPr>
            <a:xfrm>
              <a:off x="5600345" y="280542"/>
              <a:ext cx="774831" cy="774831"/>
            </a:xfrm>
            <a:prstGeom prst="rect">
              <a:avLst/>
            </a:prstGeom>
            <a:blipFill rotWithShape="1">
              <a:blip r:embed="rId3"/>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288" name="https://www.kaggle.com/datasets/akshaydattatraykhare/diabetes-dataset"/>
            <p:cNvSpPr txBox="1"/>
            <p:nvPr/>
          </p:nvSpPr>
          <p:spPr>
            <a:xfrm>
              <a:off x="6941987" y="502857"/>
              <a:ext cx="3148943" cy="330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defTabSz="488950">
                <a:spcBef>
                  <a:spcPts val="400"/>
                </a:spcBef>
                <a:defRPr sz="1100" u="sng">
                  <a:solidFill>
                    <a:srgbClr val="467886"/>
                  </a:solidFill>
                  <a:uFill>
                    <a:solidFill>
                      <a:srgbClr val="467886"/>
                    </a:solidFill>
                  </a:uFill>
                  <a:hlinkClick r:id="rId4" invalidUrl="" action="" tgtFrame="" tooltip="" history="1" highlightClick="0" endSnd="0"/>
                </a:defRPr>
              </a:lvl1pPr>
            </a:lstStyle>
            <a:p>
              <a:pPr>
                <a:defRPr>
                  <a:solidFill>
                    <a:srgbClr val="000000"/>
                  </a:solidFill>
                  <a:uFillTx/>
                </a:defRPr>
              </a:pPr>
              <a:r>
                <a:rPr>
                  <a:solidFill>
                    <a:srgbClr val="467886"/>
                  </a:solidFill>
                  <a:uFill>
                    <a:solidFill>
                      <a:srgbClr val="467886"/>
                    </a:solidFill>
                  </a:uFill>
                  <a:hlinkClick r:id="rId4" invalidUrl="" action="" tgtFrame="" tooltip="" history="1" highlightClick="0" endSnd="0"/>
                </a:rPr>
                <a:t>https://www.kaggle.com/datasets/akshaydattatraykhare/diabetes-dataset</a:t>
              </a:r>
            </a:p>
          </p:txBody>
        </p:sp>
      </p:gr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1" name="Picture 243" descr="Picture 243"/>
          <p:cNvPicPr>
            <a:picLocks noChangeAspect="1"/>
          </p:cNvPicPr>
          <p:nvPr/>
        </p:nvPicPr>
        <p:blipFill>
          <a:blip r:embed="rId2">
            <a:extLst/>
          </a:blip>
          <a:srcRect l="0" t="0" r="0" b="15730"/>
          <a:stretch>
            <a:fillRect/>
          </a:stretch>
        </p:blipFill>
        <p:spPr>
          <a:xfrm>
            <a:off x="19" y="9"/>
            <a:ext cx="12191981" cy="6857992"/>
          </a:xfrm>
          <a:prstGeom prst="rect">
            <a:avLst/>
          </a:prstGeom>
          <a:ln w="12700">
            <a:miter lim="400000"/>
          </a:ln>
        </p:spPr>
      </p:pic>
      <p:sp>
        <p:nvSpPr>
          <p:cNvPr id="292" name="Rectangle 248"/>
          <p:cNvSpPr/>
          <p:nvPr/>
        </p:nvSpPr>
        <p:spPr>
          <a:xfrm>
            <a:off x="-1" y="0"/>
            <a:ext cx="12196804" cy="6858000"/>
          </a:xfrm>
          <a:prstGeom prst="rect">
            <a:avLst/>
          </a:prstGeom>
          <a:gradFill>
            <a:gsLst>
              <a:gs pos="28000">
                <a:srgbClr val="E8E8E8">
                  <a:alpha val="84000"/>
                </a:srgbClr>
              </a:gs>
              <a:gs pos="74000">
                <a:srgbClr val="FFFFFF"/>
              </a:gs>
            </a:gsLst>
            <a:path path="circle">
              <a:fillToRect l="62278" t="119636" r="37721" b="-19636"/>
            </a:path>
          </a:gradFill>
          <a:ln w="12700">
            <a:miter lim="400000"/>
          </a:ln>
        </p:spPr>
        <p:txBody>
          <a:bodyPr lIns="45719" rIns="45719" anchor="ctr"/>
          <a:lstStyle/>
          <a:p>
            <a:pPr algn="ctr">
              <a:defRPr>
                <a:solidFill>
                  <a:srgbClr val="FFFFFF"/>
                </a:solidFill>
                <a:latin typeface="Calibri"/>
                <a:ea typeface="Calibri"/>
                <a:cs typeface="Calibri"/>
                <a:sym typeface="Calibri"/>
              </a:defRPr>
            </a:pPr>
          </a:p>
        </p:txBody>
      </p:sp>
      <p:sp>
        <p:nvSpPr>
          <p:cNvPr id="293" name="CONTRIBUTION:"/>
          <p:cNvSpPr txBox="1"/>
          <p:nvPr>
            <p:ph type="title"/>
          </p:nvPr>
        </p:nvSpPr>
        <p:spPr>
          <a:xfrm>
            <a:off x="838200" y="365125"/>
            <a:ext cx="10515600" cy="1325563"/>
          </a:xfrm>
          <a:prstGeom prst="rect">
            <a:avLst/>
          </a:prstGeom>
        </p:spPr>
        <p:txBody>
          <a:bodyPr/>
          <a:lstStyle/>
          <a:p>
            <a:pPr/>
            <a:r>
              <a:t>CONTRIBUTION:</a:t>
            </a:r>
          </a:p>
        </p:txBody>
      </p:sp>
      <p:grpSp>
        <p:nvGrpSpPr>
          <p:cNvPr id="309" name="Double-click to edit"/>
          <p:cNvGrpSpPr/>
          <p:nvPr/>
        </p:nvGrpSpPr>
        <p:grpSpPr>
          <a:xfrm>
            <a:off x="965999" y="2430511"/>
            <a:ext cx="10260001" cy="3239591"/>
            <a:chOff x="0" y="0"/>
            <a:chExt cx="10259999" cy="3239589"/>
          </a:xfrm>
        </p:grpSpPr>
        <p:sp>
          <p:nvSpPr>
            <p:cNvPr id="294" name="Shape"/>
            <p:cNvSpPr/>
            <p:nvPr/>
          </p:nvSpPr>
          <p:spPr>
            <a:xfrm>
              <a:off x="350999" y="0"/>
              <a:ext cx="1098001" cy="109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F2F2F2"/>
            </a:solidFill>
            <a:ln w="12700" cap="flat">
              <a:noFill/>
              <a:miter lim="400000"/>
            </a:ln>
            <a:effectLst/>
          </p:spPr>
          <p:txBody>
            <a:bodyPr wrap="square" lIns="45719" tIns="45719" rIns="45719" bIns="45719" numCol="1" anchor="t">
              <a:noAutofit/>
            </a:bodyPr>
            <a:lstStyle/>
            <a:p>
              <a:pPr/>
            </a:p>
          </p:txBody>
        </p:sp>
        <p:sp>
          <p:nvSpPr>
            <p:cNvPr id="295" name="Square"/>
            <p:cNvSpPr/>
            <p:nvPr/>
          </p:nvSpPr>
          <p:spPr>
            <a:xfrm>
              <a:off x="584999" y="233999"/>
              <a:ext cx="630002" cy="630001"/>
            </a:xfrm>
            <a:prstGeom prst="rect">
              <a:avLst/>
            </a:prstGeom>
            <a:blipFill rotWithShape="1">
              <a:blip r:embed="rId3"/>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296" name="Surekha Dhulipalla: Collected a suitable dataset, defined the project scope, and created the initial presentation slides with data descriptions and column attributes."/>
            <p:cNvSpPr txBox="1"/>
            <p:nvPr/>
          </p:nvSpPr>
          <p:spPr>
            <a:xfrm>
              <a:off x="0" y="1440000"/>
              <a:ext cx="1800001" cy="1353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488950">
                <a:lnSpc>
                  <a:spcPct val="90000"/>
                </a:lnSpc>
                <a:spcBef>
                  <a:spcPts val="400"/>
                </a:spcBef>
                <a:defRPr cap="all" sz="1100"/>
              </a:lvl1pPr>
            </a:lstStyle>
            <a:p>
              <a:pPr/>
              <a:r>
                <a:t>Surekha Dhulipalla: Collected a suitable dataset, defined the project scope, and created the initial presentation slides with data descriptions and column attributes. </a:t>
              </a:r>
            </a:p>
          </p:txBody>
        </p:sp>
        <p:sp>
          <p:nvSpPr>
            <p:cNvPr id="297" name="Shape"/>
            <p:cNvSpPr/>
            <p:nvPr/>
          </p:nvSpPr>
          <p:spPr>
            <a:xfrm>
              <a:off x="2465999" y="0"/>
              <a:ext cx="1098002" cy="109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F2F2F2"/>
            </a:solidFill>
            <a:ln w="12700" cap="flat">
              <a:noFill/>
              <a:miter lim="400000"/>
            </a:ln>
            <a:effectLst/>
          </p:spPr>
          <p:txBody>
            <a:bodyPr wrap="square" lIns="45719" tIns="45719" rIns="45719" bIns="45719" numCol="1" anchor="t">
              <a:noAutofit/>
            </a:bodyPr>
            <a:lstStyle/>
            <a:p>
              <a:pPr/>
            </a:p>
          </p:txBody>
        </p:sp>
        <p:sp>
          <p:nvSpPr>
            <p:cNvPr id="298" name="Square"/>
            <p:cNvSpPr/>
            <p:nvPr/>
          </p:nvSpPr>
          <p:spPr>
            <a:xfrm>
              <a:off x="2700000" y="233999"/>
              <a:ext cx="630001" cy="630001"/>
            </a:xfrm>
            <a:prstGeom prst="rect">
              <a:avLst/>
            </a:prstGeom>
            <a:blipFill rotWithShape="1">
              <a:blip r:embed="rId4"/>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299" name="Veena Chebrolu: Performed Linear Regression with and without profiling to compare feature importance and runtime using read.csv and fread. Added flame graph and performance interpretation to the slides."/>
            <p:cNvSpPr txBox="1"/>
            <p:nvPr/>
          </p:nvSpPr>
          <p:spPr>
            <a:xfrm>
              <a:off x="2114999" y="1440000"/>
              <a:ext cx="1800001" cy="17995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488950">
                <a:lnSpc>
                  <a:spcPct val="90000"/>
                </a:lnSpc>
                <a:spcBef>
                  <a:spcPts val="400"/>
                </a:spcBef>
                <a:defRPr cap="all" sz="1100"/>
              </a:lvl1pPr>
            </a:lstStyle>
            <a:p>
              <a:pPr/>
              <a:r>
                <a:t>Veena Chebrolu: Performed Linear Regression with and without profiling to compare feature importance and runtime using read.csv and fread. Added flame graph and performance interpretation to the slides.</a:t>
              </a:r>
            </a:p>
          </p:txBody>
        </p:sp>
        <p:sp>
          <p:nvSpPr>
            <p:cNvPr id="300" name="Shape"/>
            <p:cNvSpPr/>
            <p:nvPr/>
          </p:nvSpPr>
          <p:spPr>
            <a:xfrm>
              <a:off x="4581000" y="0"/>
              <a:ext cx="1098001" cy="109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F2F2F2"/>
            </a:solidFill>
            <a:ln w="12700" cap="flat">
              <a:noFill/>
              <a:miter lim="400000"/>
            </a:ln>
            <a:effectLst/>
          </p:spPr>
          <p:txBody>
            <a:bodyPr wrap="square" lIns="45719" tIns="45719" rIns="45719" bIns="45719" numCol="1" anchor="t">
              <a:noAutofit/>
            </a:bodyPr>
            <a:lstStyle/>
            <a:p>
              <a:pPr/>
            </a:p>
          </p:txBody>
        </p:sp>
        <p:sp>
          <p:nvSpPr>
            <p:cNvPr id="301" name="Square"/>
            <p:cNvSpPr/>
            <p:nvPr/>
          </p:nvSpPr>
          <p:spPr>
            <a:xfrm>
              <a:off x="4814999" y="233999"/>
              <a:ext cx="630001" cy="630001"/>
            </a:xfrm>
            <a:prstGeom prst="rect">
              <a:avLst/>
            </a:prstGeom>
            <a:blipFill rotWithShape="1">
              <a:blip r:embed="rId5"/>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302" name="Ramya Reddy Baapathu: Built Random Forest models before and after applying Dask for parallel processing. Compared model accuracy, runtime, and visualized results in the presentation."/>
            <p:cNvSpPr txBox="1"/>
            <p:nvPr/>
          </p:nvSpPr>
          <p:spPr>
            <a:xfrm>
              <a:off x="4229999" y="1440000"/>
              <a:ext cx="1800001" cy="17995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488950">
                <a:lnSpc>
                  <a:spcPct val="90000"/>
                </a:lnSpc>
                <a:spcBef>
                  <a:spcPts val="400"/>
                </a:spcBef>
                <a:defRPr cap="all" sz="1100"/>
              </a:lvl1pPr>
            </a:lstStyle>
            <a:p>
              <a:pPr/>
              <a:r>
                <a:t>Ramya Reddy Baapathu: Built Random Forest models before and after applying Dask for parallel processing. Compared model accuracy, runtime, and visualized results in the presentation. </a:t>
              </a:r>
            </a:p>
          </p:txBody>
        </p:sp>
        <p:sp>
          <p:nvSpPr>
            <p:cNvPr id="303" name="Shape"/>
            <p:cNvSpPr/>
            <p:nvPr/>
          </p:nvSpPr>
          <p:spPr>
            <a:xfrm>
              <a:off x="6695999" y="0"/>
              <a:ext cx="1098001" cy="109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F2F2F2"/>
            </a:solidFill>
            <a:ln w="12700" cap="flat">
              <a:noFill/>
              <a:miter lim="400000"/>
            </a:ln>
            <a:effectLst/>
          </p:spPr>
          <p:txBody>
            <a:bodyPr wrap="square" lIns="45719" tIns="45719" rIns="45719" bIns="45719" numCol="1" anchor="t">
              <a:noAutofit/>
            </a:bodyPr>
            <a:lstStyle/>
            <a:p>
              <a:pPr/>
            </a:p>
          </p:txBody>
        </p:sp>
        <p:sp>
          <p:nvSpPr>
            <p:cNvPr id="304" name="Square"/>
            <p:cNvSpPr/>
            <p:nvPr/>
          </p:nvSpPr>
          <p:spPr>
            <a:xfrm>
              <a:off x="6930000" y="233999"/>
              <a:ext cx="630001" cy="630001"/>
            </a:xfrm>
            <a:prstGeom prst="rect">
              <a:avLst/>
            </a:prstGeom>
            <a:blipFill rotWithShape="1">
              <a:blip r:embed="rId6"/>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305" name="Swaikshya Nepal: Applied Genetic Algorithm to determine feature importance and generated a bar chart of results. Analyzed model performance and interpreted the most significant features."/>
            <p:cNvSpPr txBox="1"/>
            <p:nvPr/>
          </p:nvSpPr>
          <p:spPr>
            <a:xfrm>
              <a:off x="6344999" y="1440000"/>
              <a:ext cx="1800001" cy="1651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488950">
                <a:lnSpc>
                  <a:spcPct val="90000"/>
                </a:lnSpc>
                <a:spcBef>
                  <a:spcPts val="400"/>
                </a:spcBef>
                <a:defRPr cap="all" sz="1100"/>
              </a:lvl1pPr>
            </a:lstStyle>
            <a:p>
              <a:pPr/>
              <a:r>
                <a:t>Swaikshya Nepal: Applied Genetic Algorithm to determine feature importance and generated a bar chart of results. Analyzed model performance and interpreted the most significant features. </a:t>
              </a:r>
            </a:p>
          </p:txBody>
        </p:sp>
        <p:sp>
          <p:nvSpPr>
            <p:cNvPr id="306" name="Shape"/>
            <p:cNvSpPr/>
            <p:nvPr/>
          </p:nvSpPr>
          <p:spPr>
            <a:xfrm>
              <a:off x="8811000" y="0"/>
              <a:ext cx="1098001" cy="109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F2F2F2"/>
            </a:solidFill>
            <a:ln w="12700" cap="flat">
              <a:noFill/>
              <a:miter lim="400000"/>
            </a:ln>
            <a:effectLst/>
          </p:spPr>
          <p:txBody>
            <a:bodyPr wrap="square" lIns="45719" tIns="45719" rIns="45719" bIns="45719" numCol="1" anchor="t">
              <a:noAutofit/>
            </a:bodyPr>
            <a:lstStyle/>
            <a:p>
              <a:pPr/>
            </a:p>
          </p:txBody>
        </p:sp>
        <p:sp>
          <p:nvSpPr>
            <p:cNvPr id="307" name="Square"/>
            <p:cNvSpPr/>
            <p:nvPr/>
          </p:nvSpPr>
          <p:spPr>
            <a:xfrm>
              <a:off x="9044999" y="233999"/>
              <a:ext cx="630001" cy="630001"/>
            </a:xfrm>
            <a:prstGeom prst="rect">
              <a:avLst/>
            </a:prstGeom>
            <a:blipFill rotWithShape="1">
              <a:blip r:embed="rId7"/>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308" name="Neha Sri Tella: Formulated a data-driven question, used Dask with groupby for efficient analysis, and interpreted the grouped data results. Included visualizations and runtime improvements in the slides."/>
            <p:cNvSpPr txBox="1"/>
            <p:nvPr/>
          </p:nvSpPr>
          <p:spPr>
            <a:xfrm>
              <a:off x="8459999" y="1440000"/>
              <a:ext cx="1800001" cy="17995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488950">
                <a:lnSpc>
                  <a:spcPct val="90000"/>
                </a:lnSpc>
                <a:spcBef>
                  <a:spcPts val="400"/>
                </a:spcBef>
                <a:defRPr cap="all" sz="1100"/>
              </a:lvl1pPr>
            </a:lstStyle>
            <a:p>
              <a:pPr/>
              <a:r>
                <a:t>Neha Sri Tella: Formulated a data-driven question, used Dask with groupby for efficient analysis, and interpreted the grouped data results. Included visualizations and runtime improvements in the slides.</a:t>
              </a:r>
            </a:p>
          </p:txBody>
        </p:sp>
      </p:gr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Rectangle 4"/>
          <p:cNvSpPr/>
          <p:nvPr/>
        </p:nvSpPr>
        <p:spPr>
          <a:xfrm>
            <a:off x="9" y="0"/>
            <a:ext cx="6083449" cy="6858001"/>
          </a:xfrm>
          <a:prstGeom prst="rect">
            <a:avLst/>
          </a:prstGeom>
          <a:solidFill>
            <a:srgbClr val="262626"/>
          </a:solidFill>
          <a:ln w="12700">
            <a:miter lim="400000"/>
          </a:ln>
        </p:spPr>
        <p:txBody>
          <a:bodyPr lIns="45719" rIns="45719" anchor="ctr"/>
          <a:lstStyle/>
          <a:p>
            <a:pPr algn="ctr">
              <a:defRPr>
                <a:solidFill>
                  <a:srgbClr val="FFFFFF"/>
                </a:solidFill>
              </a:defRPr>
            </a:pPr>
          </a:p>
        </p:txBody>
      </p:sp>
      <p:sp>
        <p:nvSpPr>
          <p:cNvPr id="312" name="Title 1"/>
          <p:cNvSpPr txBox="1"/>
          <p:nvPr>
            <p:ph type="ctrTitle"/>
          </p:nvPr>
        </p:nvSpPr>
        <p:spPr>
          <a:xfrm>
            <a:off x="1155557" y="637761"/>
            <a:ext cx="4284398" cy="5576772"/>
          </a:xfrm>
          <a:prstGeom prst="rect">
            <a:avLst/>
          </a:prstGeom>
        </p:spPr>
        <p:txBody>
          <a:bodyPr anchor="ctr"/>
          <a:lstStyle>
            <a:lvl1pPr algn="l">
              <a:defRPr sz="6600">
                <a:solidFill>
                  <a:srgbClr val="FFFFFF"/>
                </a:solidFill>
              </a:defRPr>
            </a:lvl1pPr>
          </a:lstStyle>
          <a:p>
            <a:pPr/>
            <a:r>
              <a:t>Thank you</a:t>
            </a:r>
          </a:p>
        </p:txBody>
      </p:sp>
      <p:sp>
        <p:nvSpPr>
          <p:cNvPr id="313" name="Rectangle 5"/>
          <p:cNvSpPr/>
          <p:nvPr/>
        </p:nvSpPr>
        <p:spPr>
          <a:xfrm>
            <a:off x="6096000" y="0"/>
            <a:ext cx="6095990" cy="6858001"/>
          </a:xfrm>
          <a:prstGeom prst="rect">
            <a:avLst/>
          </a:prstGeom>
          <a:solidFill>
            <a:srgbClr val="F2F2F2"/>
          </a:solidFill>
          <a:ln w="12700">
            <a:miter lim="400000"/>
          </a:ln>
        </p:spPr>
        <p:txBody>
          <a:bodyPr lIns="45719" rIns="45719" anchor="ctr"/>
          <a:lstStyle/>
          <a:p>
            <a:pPr algn="ctr">
              <a:defRPr>
                <a:solidFill>
                  <a:srgbClr val="FFFFFF"/>
                </a:solidFill>
              </a:defRPr>
            </a:pPr>
          </a:p>
        </p:txBody>
      </p:sp>
      <p:sp>
        <p:nvSpPr>
          <p:cNvPr id="314" name="Subtitle 2"/>
          <p:cNvSpPr txBox="1"/>
          <p:nvPr>
            <p:ph type="subTitle" sz="half" idx="1"/>
          </p:nvPr>
        </p:nvSpPr>
        <p:spPr>
          <a:xfrm>
            <a:off x="6739463" y="637761"/>
            <a:ext cx="4305882" cy="5860948"/>
          </a:xfrm>
          <a:prstGeom prst="rect">
            <a:avLst/>
          </a:prstGeom>
        </p:spPr>
        <p:txBody>
          <a:bodyPr anchor="ctr"/>
          <a:lstStyle>
            <a:lvl1pPr algn="l">
              <a:defRPr sz="4000"/>
            </a:lvl1pPr>
          </a:lstStyle>
          <a:p>
            <a:pPr/>
            <a:r>
              <a:t>Any questions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